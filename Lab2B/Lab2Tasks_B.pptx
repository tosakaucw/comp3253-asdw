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70" r:id="rId3"/>
    <p:sldId id="269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44678B-75F3-4AD9-8A23-B1F5D130569D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8D179-E749-4173-900A-1FE6FD905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07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8D179-E749-4173-900A-1FE6FD9055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362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indicate which section of the SRS each question helps</a:t>
            </a:r>
            <a:r>
              <a:rPr lang="en-US" baseline="0" dirty="0"/>
              <a:t> to determine.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8D179-E749-4173-900A-1FE6FD9055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59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CC2B-EE3F-4562-A88A-4D0DE3F39FD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2847-A4CE-47CA-866B-E8BAE6E3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8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CC2B-EE3F-4562-A88A-4D0DE3F39FD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2847-A4CE-47CA-866B-E8BAE6E3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086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CC2B-EE3F-4562-A88A-4D0DE3F39FD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2847-A4CE-47CA-866B-E8BAE6E3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980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CC2B-EE3F-4562-A88A-4D0DE3F39FD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2847-A4CE-47CA-866B-E8BAE6E3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109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CC2B-EE3F-4562-A88A-4D0DE3F39FD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2847-A4CE-47CA-866B-E8BAE6E3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48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CC2B-EE3F-4562-A88A-4D0DE3F39FD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2847-A4CE-47CA-866B-E8BAE6E3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64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CC2B-EE3F-4562-A88A-4D0DE3F39FD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2847-A4CE-47CA-866B-E8BAE6E3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2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CC2B-EE3F-4562-A88A-4D0DE3F39FD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2847-A4CE-47CA-866B-E8BAE6E3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45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CC2B-EE3F-4562-A88A-4D0DE3F39FD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2847-A4CE-47CA-866B-E8BAE6E3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41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CC2B-EE3F-4562-A88A-4D0DE3F39FD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2847-A4CE-47CA-866B-E8BAE6E3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07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CC2B-EE3F-4562-A88A-4D0DE3F39FD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2847-A4CE-47CA-866B-E8BAE6E3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71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FCC2B-EE3F-4562-A88A-4D0DE3F39FD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392847-A4CE-47CA-866B-E8BAE6E3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14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eplearning.ai/short-courses/jupyter-ai-coding-in-notebooks/?utm_campaign=The%20Batch&amp;utm_source=hs_email&amp;utm_medium=email&amp;utm_content=395926826&amp;_hsenc=p2ANqtz--6BbRERY2VI34M3ZT_9z7K8pNYHdxrZmzVyABXb7zHxjktQA_QhTphecXEv130pEsbP9BGfnsAkNKGuqTSj8cFu81Gvg" TargetMode="External"/><Relationship Id="rId2" Type="http://schemas.openxmlformats.org/officeDocument/2006/relationships/hyperlink" Target="https://www.deeplearning.ai/short-courses/claude-code-a-highly-agentic-coding-assistant/?utm_campaign=The%20Batch&amp;utm_source=hs_email&amp;utm_medium=email&amp;utm_content=395926826&amp;_hsenc=p2ANqtz--6BbRERY2VI34M3ZT_9z7K8pNYHdxrZmzVyABXb7zHxjktQA_QhTphecXEv130pEsbP9BGfnsAkNKGuqTSj8cFu81Gv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2 Tasks</a:t>
            </a:r>
            <a:br>
              <a:rPr lang="en-US" dirty="0"/>
            </a:br>
            <a:r>
              <a:rPr lang="en-US" sz="4400" dirty="0"/>
              <a:t>part 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Advanced Software Development Workshop</a:t>
            </a:r>
          </a:p>
          <a:p>
            <a:r>
              <a:rPr lang="en-US" dirty="0"/>
              <a:t>2026 Spring</a:t>
            </a:r>
          </a:p>
        </p:txBody>
      </p:sp>
    </p:spTree>
    <p:extLst>
      <p:ext uri="{BB962C8B-B14F-4D97-AF65-F5344CB8AC3E}">
        <p14:creationId xmlns:p14="http://schemas.microsoft.com/office/powerpoint/2010/main" val="1687456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Main Tasks, part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L</a:t>
            </a:r>
            <a:r>
              <a:rPr lang="en-US" b="0" i="0" u="none" strike="noStrike" dirty="0">
                <a:solidFill>
                  <a:srgbClr val="000000"/>
                </a:solidFill>
                <a:latin typeface="Calibri" panose="020F0502020204030204" pitchFamily="34" charset="0"/>
              </a:rPr>
              <a:t>ast chance for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team leader</a:t>
            </a:r>
            <a:r>
              <a:rPr lang="en-US" b="0" i="0" u="none" strike="noStrike" dirty="0">
                <a:solidFill>
                  <a:srgbClr val="000000"/>
                </a:solidFill>
                <a:latin typeface="Calibri" panose="020F0502020204030204" pitchFamily="34" charset="0"/>
              </a:rPr>
              <a:t> to submit Question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L</a:t>
            </a:r>
            <a:r>
              <a:rPr lang="en-US" b="0" i="0" u="none" strike="noStrike" dirty="0">
                <a:solidFill>
                  <a:srgbClr val="000000"/>
                </a:solidFill>
                <a:latin typeface="Calibri" panose="020F0502020204030204" pitchFamily="34" charset="0"/>
              </a:rPr>
              <a:t>ist 1 to iSpace before the link closes.</a:t>
            </a:r>
          </a:p>
          <a:p>
            <a:pPr marL="0" indent="0">
              <a:buNone/>
            </a:pPr>
            <a:endParaRPr lang="en-US" sz="800" b="0" i="0" u="none" strike="noStrike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Second half of Hour 2, and Hour 3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Teacher gives “feed back” on Question List 1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Of course, we haven’t graded your Q list 1 yet.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This “feed back” is from common errors made in past years.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Interview skills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SRS template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Prepare Q list 2</a:t>
            </a:r>
            <a:endParaRPr lang="en-US" b="0" i="0" u="none" strike="noStrike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563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6424"/>
          </a:xfrm>
        </p:spPr>
        <p:txBody>
          <a:bodyPr/>
          <a:lstStyle/>
          <a:p>
            <a:r>
              <a:rPr lang="en-US" dirty="0"/>
              <a:t>Task 1: Feed back: Common Errors in Q list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4901"/>
            <a:ext cx="10515600" cy="4662063"/>
          </a:xfrm>
        </p:spPr>
        <p:txBody>
          <a:bodyPr>
            <a:normAutofit/>
          </a:bodyPr>
          <a:lstStyle/>
          <a:p>
            <a:r>
              <a:rPr lang="en-US" dirty="0"/>
              <a:t>Some questions are too vague; should ask </a:t>
            </a:r>
            <a:r>
              <a:rPr lang="en-US" dirty="0">
                <a:solidFill>
                  <a:srgbClr val="C00000"/>
                </a:solidFill>
              </a:rPr>
              <a:t>simple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precise questions</a:t>
            </a:r>
            <a:r>
              <a:rPr lang="en-US" dirty="0"/>
              <a:t>. E.g.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B05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✔</a:t>
            </a:r>
            <a:r>
              <a:rPr lang="en-US" dirty="0"/>
              <a:t> What sort of things can the various users do? </a:t>
            </a:r>
          </a:p>
          <a:p>
            <a:pPr lvl="2"/>
            <a:endParaRPr lang="en-US" dirty="0"/>
          </a:p>
          <a:p>
            <a:pPr marL="457200" lvl="1" indent="0">
              <a:buNone/>
            </a:pPr>
            <a:r>
              <a:rPr lang="en-US" dirty="0">
                <a:solidFill>
                  <a:srgbClr val="00B05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✔</a:t>
            </a:r>
            <a:r>
              <a:rPr lang="en-US" dirty="0">
                <a:latin typeface="Segoe UI Symbol" panose="020B0502040204020203" pitchFamily="34" charset="0"/>
                <a:ea typeface="Segoe UI Symbol" panose="020B0502040204020203" pitchFamily="34" charset="0"/>
              </a:rPr>
              <a:t> In</a:t>
            </a:r>
            <a:r>
              <a:rPr lang="en-US" dirty="0"/>
              <a:t> what type of computers will the software run?</a:t>
            </a:r>
          </a:p>
          <a:p>
            <a:pPr lvl="2"/>
            <a:r>
              <a:rPr lang="en-US" dirty="0"/>
              <a:t>Issues on system adaptability</a:t>
            </a:r>
          </a:p>
        </p:txBody>
      </p:sp>
    </p:spTree>
    <p:extLst>
      <p:ext uri="{BB962C8B-B14F-4D97-AF65-F5344CB8AC3E}">
        <p14:creationId xmlns:p14="http://schemas.microsoft.com/office/powerpoint/2010/main" val="766733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6424"/>
          </a:xfrm>
        </p:spPr>
        <p:txBody>
          <a:bodyPr/>
          <a:lstStyle/>
          <a:p>
            <a:r>
              <a:rPr lang="en-US" dirty="0"/>
              <a:t>Task 1: Feed back: Common Errors in Q list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4901"/>
            <a:ext cx="10515600" cy="4662063"/>
          </a:xfrm>
        </p:spPr>
        <p:txBody>
          <a:bodyPr>
            <a:normAutofit/>
          </a:bodyPr>
          <a:lstStyle/>
          <a:p>
            <a:r>
              <a:rPr lang="en-US" dirty="0"/>
              <a:t>Improper questions: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✖</a:t>
            </a:r>
            <a:r>
              <a:rPr lang="en-US" dirty="0"/>
              <a:t> ﻿Do we need to construct a database to store the result?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✖</a:t>
            </a:r>
            <a:r>
              <a:rPr lang="en-US" dirty="0">
                <a:latin typeface="Segoe UI Symbol" panose="020B0502040204020203" pitchFamily="34" charset="0"/>
                <a:ea typeface="Segoe UI Symbol" panose="020B0502040204020203" pitchFamily="34" charset="0"/>
              </a:rPr>
              <a:t> </a:t>
            </a:r>
            <a:r>
              <a:rPr lang="en-US" dirty="0"/>
              <a:t>When should this software be delivered?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✖</a:t>
            </a:r>
            <a:r>
              <a:rPr lang="en-US" dirty="0">
                <a:latin typeface="Segoe UI Symbol" panose="020B0502040204020203" pitchFamily="34" charset="0"/>
                <a:ea typeface="Segoe UI Symbol" panose="020B0502040204020203" pitchFamily="34" charset="0"/>
              </a:rPr>
              <a:t> </a:t>
            </a:r>
            <a:r>
              <a:rPr lang="en-US" dirty="0"/>
              <a:t>What is limitation of memory size when the software is running?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✖</a:t>
            </a:r>
            <a:r>
              <a:rPr lang="en-US" dirty="0">
                <a:latin typeface="Segoe UI Symbol" panose="020B0502040204020203" pitchFamily="34" charset="0"/>
                <a:ea typeface="Segoe UI Symbol" panose="020B0502040204020203" pitchFamily="34" charset="0"/>
              </a:rPr>
              <a:t> </a:t>
            </a:r>
            <a:r>
              <a:rPr lang="en-US" dirty="0"/>
              <a:t>How many bits should the software size be restricted to?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✖</a:t>
            </a:r>
            <a:r>
              <a:rPr lang="en-US" dirty="0">
                <a:latin typeface="Segoe UI Symbol" panose="020B0502040204020203" pitchFamily="34" charset="0"/>
                <a:ea typeface="Segoe UI Symbol" panose="020B0502040204020203" pitchFamily="34" charset="0"/>
              </a:rPr>
              <a:t> </a:t>
            </a:r>
            <a:r>
              <a:rPr lang="en-US" dirty="0"/>
              <a:t>Which language is used in the software?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✖</a:t>
            </a:r>
            <a:r>
              <a:rPr lang="en-US" dirty="0">
                <a:latin typeface="Segoe UI Symbol" panose="020B0502040204020203" pitchFamily="34" charset="0"/>
                <a:ea typeface="Segoe UI Symbol" panose="020B0502040204020203" pitchFamily="34" charset="0"/>
              </a:rPr>
              <a:t> </a:t>
            </a:r>
            <a:r>
              <a:rPr lang="en-US" dirty="0"/>
              <a:t>Which IDE should we use?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197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6549"/>
            <a:ext cx="10515600" cy="920751"/>
          </a:xfrm>
        </p:spPr>
        <p:txBody>
          <a:bodyPr/>
          <a:lstStyle/>
          <a:p>
            <a:r>
              <a:rPr lang="en-US" dirty="0"/>
              <a:t>Task 2: Interview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0175"/>
            <a:ext cx="10515600" cy="4776788"/>
          </a:xfrm>
        </p:spPr>
        <p:txBody>
          <a:bodyPr/>
          <a:lstStyle/>
          <a:p>
            <a:r>
              <a:rPr lang="en-US" dirty="0"/>
              <a:t>Interview between client and developer is very important.</a:t>
            </a:r>
          </a:p>
          <a:p>
            <a:r>
              <a:rPr lang="en-US" dirty="0"/>
              <a:t>Interview methods include email, WeChat, phone and face-to-face.</a:t>
            </a:r>
          </a:p>
          <a:p>
            <a:pPr lvl="1"/>
            <a:r>
              <a:rPr lang="en-US" dirty="0"/>
              <a:t>Email and WeChat interviews can be kept as references.</a:t>
            </a:r>
          </a:p>
          <a:p>
            <a:pPr lvl="1"/>
            <a:r>
              <a:rPr lang="en-US" dirty="0"/>
              <a:t>Phone and face-to-face interviews require more record keeping</a:t>
            </a:r>
          </a:p>
          <a:p>
            <a:pPr lvl="2"/>
            <a:r>
              <a:rPr lang="en-US" dirty="0"/>
              <a:t>After the meeting, write a short summary of the questions and answers and send that to the client as verification. </a:t>
            </a:r>
            <a:endParaRPr lang="en-US" sz="2000" dirty="0"/>
          </a:p>
          <a:p>
            <a:r>
              <a:rPr lang="en-US" dirty="0"/>
              <a:t>Interview techniques include:</a:t>
            </a:r>
          </a:p>
          <a:p>
            <a:pPr lvl="1"/>
            <a:r>
              <a:rPr lang="en-US" dirty="0"/>
              <a:t>Ask questions based on some standard template, e.g. </a:t>
            </a:r>
            <a:r>
              <a:rPr lang="en-US" dirty="0">
                <a:solidFill>
                  <a:srgbClr val="FF0000"/>
                </a:solidFill>
              </a:rPr>
              <a:t>SRS template</a:t>
            </a:r>
          </a:p>
          <a:p>
            <a:pPr lvl="1"/>
            <a:r>
              <a:rPr lang="en-US" dirty="0"/>
              <a:t>Show customers some diagrams or prototypes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Avoid</a:t>
            </a:r>
            <a:r>
              <a:rPr lang="en-US" dirty="0"/>
              <a:t> using </a:t>
            </a:r>
            <a:r>
              <a:rPr lang="en-US" dirty="0">
                <a:solidFill>
                  <a:srgbClr val="FF0000"/>
                </a:solidFill>
              </a:rPr>
              <a:t>technical terms </a:t>
            </a:r>
            <a:r>
              <a:rPr lang="en-US" dirty="0"/>
              <a:t>and computer </a:t>
            </a:r>
            <a:r>
              <a:rPr lang="en-US" dirty="0">
                <a:solidFill>
                  <a:srgbClr val="FF0000"/>
                </a:solidFill>
              </a:rPr>
              <a:t>jargons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236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6549"/>
            <a:ext cx="10515600" cy="920751"/>
          </a:xfrm>
        </p:spPr>
        <p:txBody>
          <a:bodyPr/>
          <a:lstStyle/>
          <a:p>
            <a:r>
              <a:rPr lang="en-US" dirty="0"/>
              <a:t>Task 3: SRS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0175"/>
            <a:ext cx="10515600" cy="4776788"/>
          </a:xfrm>
        </p:spPr>
        <p:txBody>
          <a:bodyPr/>
          <a:lstStyle/>
          <a:p>
            <a:r>
              <a:rPr lang="en-US" dirty="0"/>
              <a:t>Software Requirement Specification (SRS) template is in </a:t>
            </a:r>
            <a:r>
              <a:rPr lang="en-US" dirty="0" err="1"/>
              <a:t>iSpace</a:t>
            </a:r>
            <a:r>
              <a:rPr lang="en-US" dirty="0"/>
              <a:t>.</a:t>
            </a:r>
          </a:p>
          <a:p>
            <a:r>
              <a:rPr lang="en-US" dirty="0"/>
              <a:t>The text in </a:t>
            </a:r>
            <a:r>
              <a:rPr lang="en-US" i="1" dirty="0"/>
              <a:t>italics</a:t>
            </a:r>
            <a:r>
              <a:rPr lang="en-US" dirty="0"/>
              <a:t> inside &lt; &gt; explains what students should enter.</a:t>
            </a:r>
          </a:p>
          <a:p>
            <a:pPr lvl="1"/>
            <a:r>
              <a:rPr lang="en-US" dirty="0"/>
              <a:t>Students need to replace  &lt;</a:t>
            </a:r>
            <a:r>
              <a:rPr lang="en-US" i="1" dirty="0"/>
              <a:t>italic text</a:t>
            </a:r>
            <a:r>
              <a:rPr lang="en-US" dirty="0"/>
              <a:t>&gt; with the actual text.</a:t>
            </a:r>
          </a:p>
          <a:p>
            <a:r>
              <a:rPr lang="en-US" dirty="0"/>
              <a:t>Teacher explains </a:t>
            </a:r>
            <a:r>
              <a:rPr lang="en-US" dirty="0">
                <a:solidFill>
                  <a:srgbClr val="FF0000"/>
                </a:solidFill>
              </a:rPr>
              <a:t>sections 2, 4 and 5</a:t>
            </a:r>
          </a:p>
          <a:p>
            <a:pPr lvl="1"/>
            <a:r>
              <a:rPr lang="en-US" dirty="0"/>
              <a:t>These sections </a:t>
            </a:r>
            <a:r>
              <a:rPr lang="en-US" dirty="0">
                <a:solidFill>
                  <a:srgbClr val="FF0000"/>
                </a:solidFill>
              </a:rPr>
              <a:t>describes the product</a:t>
            </a:r>
            <a:r>
              <a:rPr lang="en-US" dirty="0"/>
              <a:t>:  what it is for, how it is uses, who uses it, etc.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87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6549"/>
            <a:ext cx="10515600" cy="920751"/>
          </a:xfrm>
        </p:spPr>
        <p:txBody>
          <a:bodyPr/>
          <a:lstStyle/>
          <a:p>
            <a:r>
              <a:rPr lang="en-US" dirty="0"/>
              <a:t>Task 4: Prepare Questions List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0175"/>
            <a:ext cx="10515600" cy="4776788"/>
          </a:xfrm>
        </p:spPr>
        <p:txBody>
          <a:bodyPr>
            <a:normAutofit/>
          </a:bodyPr>
          <a:lstStyle/>
          <a:p>
            <a:r>
              <a:rPr lang="en-US" dirty="0"/>
              <a:t>Students prepare </a:t>
            </a:r>
            <a:r>
              <a:rPr lang="en-US" dirty="0">
                <a:solidFill>
                  <a:srgbClr val="FF0000"/>
                </a:solidFill>
              </a:rPr>
              <a:t>Questions List 2</a:t>
            </a:r>
            <a:r>
              <a:rPr lang="en-US" dirty="0"/>
              <a:t>, according to </a:t>
            </a:r>
            <a:r>
              <a:rPr lang="en-US" dirty="0">
                <a:solidFill>
                  <a:srgbClr val="FF0000"/>
                </a:solidFill>
              </a:rPr>
              <a:t>Sections 2, 4 and 5 </a:t>
            </a:r>
            <a:r>
              <a:rPr lang="en-US" dirty="0"/>
              <a:t>of the SRS template,</a:t>
            </a:r>
          </a:p>
          <a:p>
            <a:pPr lvl="1"/>
            <a:r>
              <a:rPr lang="en-US" dirty="0"/>
              <a:t>The goal is to fill in these sections of the SRS from the answers obtained from the client using Q list 2.</a:t>
            </a:r>
          </a:p>
          <a:p>
            <a:pPr lvl="1"/>
            <a:r>
              <a:rPr lang="en-US" dirty="0"/>
              <a:t>I.e. ask questions that would help you to fill in Sections 2, 4 and 5. </a:t>
            </a:r>
          </a:p>
          <a:p>
            <a:r>
              <a:rPr lang="en-US" dirty="0"/>
              <a:t>After finishing Q list 2, compare that with your Q list 1.</a:t>
            </a:r>
          </a:p>
          <a:p>
            <a:pPr lvl="1"/>
            <a:r>
              <a:rPr lang="en-US" dirty="0"/>
              <a:t>Is Q list 2 better in helping you to fill out the SRS?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591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6549"/>
            <a:ext cx="10515600" cy="920751"/>
          </a:xfrm>
        </p:spPr>
        <p:txBody>
          <a:bodyPr/>
          <a:lstStyle/>
          <a:p>
            <a:r>
              <a:rPr lang="en-US" dirty="0"/>
              <a:t>Task 4: Prepare Questions List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0175"/>
            <a:ext cx="10515600" cy="4776788"/>
          </a:xfrm>
        </p:spPr>
        <p:txBody>
          <a:bodyPr>
            <a:normAutofit/>
          </a:bodyPr>
          <a:lstStyle/>
          <a:p>
            <a:r>
              <a:rPr lang="en-US" dirty="0"/>
              <a:t>In</a:t>
            </a:r>
            <a:r>
              <a:rPr lang="en-US" dirty="0">
                <a:solidFill>
                  <a:srgbClr val="FF0000"/>
                </a:solidFill>
              </a:rPr>
              <a:t> each question</a:t>
            </a:r>
            <a:r>
              <a:rPr lang="en-US" dirty="0"/>
              <a:t> in List 2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/>
              <a:t>indicate the </a:t>
            </a:r>
            <a:r>
              <a:rPr lang="en-US" dirty="0">
                <a:solidFill>
                  <a:srgbClr val="FF0000"/>
                </a:solidFill>
              </a:rPr>
              <a:t>person(s) </a:t>
            </a:r>
            <a:r>
              <a:rPr lang="en-US" dirty="0"/>
              <a:t>who</a:t>
            </a:r>
            <a:r>
              <a:rPr lang="en-US" dirty="0">
                <a:solidFill>
                  <a:srgbClr val="FF0000"/>
                </a:solidFill>
              </a:rPr>
              <a:t> came up with that question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Each question </a:t>
            </a:r>
            <a:r>
              <a:rPr lang="en-US" dirty="0"/>
              <a:t>can have </a:t>
            </a:r>
            <a:r>
              <a:rPr lang="en-US" dirty="0">
                <a:solidFill>
                  <a:srgbClr val="FF0000"/>
                </a:solidFill>
              </a:rPr>
              <a:t>at most two names. </a:t>
            </a:r>
            <a:endParaRPr lang="en-US" sz="900" dirty="0"/>
          </a:p>
          <a:p>
            <a:pPr lvl="1"/>
            <a:r>
              <a:rPr lang="en-US" dirty="0"/>
              <a:t>We do this to make sure everyone in the team is participating.</a:t>
            </a:r>
          </a:p>
          <a:p>
            <a:pPr lvl="1"/>
            <a:endParaRPr lang="en-US" dirty="0"/>
          </a:p>
          <a:p>
            <a:r>
              <a:rPr lang="en-US" dirty="0"/>
              <a:t>Team leader submits (one copy of) Questions List 2 to iSpace</a:t>
            </a:r>
          </a:p>
          <a:p>
            <a:pPr lvl="1"/>
            <a:r>
              <a:rPr lang="en-US" dirty="0"/>
              <a:t>Secretary submits List 1 and 2 to GitLab.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215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6549"/>
            <a:ext cx="10515600" cy="920751"/>
          </a:xfrm>
        </p:spPr>
        <p:txBody>
          <a:bodyPr/>
          <a:lstStyle/>
          <a:p>
            <a:r>
              <a:rPr lang="en-US" dirty="0"/>
              <a:t>Update the Meeting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0175"/>
            <a:ext cx="10515600" cy="4776788"/>
          </a:xfrm>
        </p:spPr>
        <p:txBody>
          <a:bodyPr>
            <a:normAutofit/>
          </a:bodyPr>
          <a:lstStyle/>
          <a:p>
            <a:r>
              <a:rPr lang="en-US" dirty="0"/>
              <a:t>Update the meeting minutes to include the lists of questions.</a:t>
            </a:r>
          </a:p>
          <a:p>
            <a:pPr lvl="1"/>
            <a:r>
              <a:rPr lang="en-US" dirty="0"/>
              <a:t>Do not put the lists of questions in the minutes.</a:t>
            </a:r>
          </a:p>
          <a:p>
            <a:pPr lvl="1"/>
            <a:r>
              <a:rPr lang="en-US" dirty="0"/>
              <a:t>In the minutes, mention only the lists were create and submitted to iSpace and </a:t>
            </a:r>
            <a:r>
              <a:rPr lang="en-US" dirty="0" err="1"/>
              <a:t>GitLab</a:t>
            </a:r>
            <a:r>
              <a:rPr lang="en-US" dirty="0"/>
              <a:t> by the specific person.</a:t>
            </a:r>
          </a:p>
          <a:p>
            <a:pPr marL="0" indent="0">
              <a:buNone/>
            </a:pPr>
            <a:endParaRPr lang="en-US" sz="800" dirty="0"/>
          </a:p>
          <a:p>
            <a:r>
              <a:rPr lang="en-US" dirty="0"/>
              <a:t>Finish the GitLab tutorial if you haven’t done so.</a:t>
            </a:r>
          </a:p>
          <a:p>
            <a:pPr marL="0" indent="0">
              <a:buNone/>
            </a:pPr>
            <a:endParaRPr lang="en-US" sz="800" dirty="0"/>
          </a:p>
          <a:p>
            <a:r>
              <a:rPr lang="en-US" dirty="0"/>
              <a:t>If you have time, carefully read Sections 2, 4 and 5 of the SRS again. </a:t>
            </a:r>
          </a:p>
          <a:p>
            <a:pPr lvl="1"/>
            <a:r>
              <a:rPr lang="en-US" dirty="0"/>
              <a:t>You will be filling in these sections starting next week.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160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6549"/>
            <a:ext cx="10515600" cy="920751"/>
          </a:xfrm>
        </p:spPr>
        <p:txBody>
          <a:bodyPr/>
          <a:lstStyle/>
          <a:p>
            <a:r>
              <a:rPr lang="en-US" dirty="0"/>
              <a:t>Submissions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0175"/>
            <a:ext cx="10515600" cy="47767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Submit to </a:t>
            </a:r>
            <a:r>
              <a:rPr lang="en-US" dirty="0">
                <a:solidFill>
                  <a:srgbClr val="FF0000"/>
                </a:solidFill>
              </a:rPr>
              <a:t>iSpace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Questions List 2 (</a:t>
            </a:r>
            <a:r>
              <a:rPr lang="en-US" dirty="0">
                <a:solidFill>
                  <a:srgbClr val="FF0000"/>
                </a:solidFill>
              </a:rPr>
              <a:t>team leader </a:t>
            </a:r>
            <a:r>
              <a:rPr lang="en-US" dirty="0"/>
              <a:t>submits)</a:t>
            </a:r>
          </a:p>
          <a:p>
            <a:pPr lvl="1"/>
            <a:r>
              <a:rPr lang="en-US" dirty="0"/>
              <a:t>Updated meeting minutes (</a:t>
            </a:r>
            <a:r>
              <a:rPr lang="en-US" dirty="0">
                <a:solidFill>
                  <a:srgbClr val="FF0000"/>
                </a:solidFill>
              </a:rPr>
              <a:t>everyone</a:t>
            </a:r>
            <a:r>
              <a:rPr lang="en-US" dirty="0"/>
              <a:t> submits his or her version this week)</a:t>
            </a:r>
          </a:p>
          <a:p>
            <a:pPr lvl="1"/>
            <a:endParaRPr lang="en-US" dirty="0"/>
          </a:p>
          <a:p>
            <a:r>
              <a:rPr lang="en-US" dirty="0"/>
              <a:t>Submit to </a:t>
            </a:r>
            <a:r>
              <a:rPr lang="en-US" dirty="0" err="1">
                <a:solidFill>
                  <a:srgbClr val="FF0000"/>
                </a:solidFill>
              </a:rPr>
              <a:t>GitLab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secretary</a:t>
            </a:r>
            <a:r>
              <a:rPr lang="en-US" dirty="0"/>
              <a:t> submits)</a:t>
            </a:r>
          </a:p>
          <a:p>
            <a:pPr lvl="1"/>
            <a:r>
              <a:rPr lang="en-US" dirty="0"/>
              <a:t>Questions List 1 and 2</a:t>
            </a:r>
          </a:p>
          <a:p>
            <a:pPr lvl="1"/>
            <a:r>
              <a:rPr lang="en-US" dirty="0"/>
              <a:t>Updated meeting minutes </a:t>
            </a:r>
          </a:p>
          <a:p>
            <a:pPr lvl="1"/>
            <a:endParaRPr lang="en-US" dirty="0"/>
          </a:p>
          <a:p>
            <a:r>
              <a:rPr lang="en-US" dirty="0"/>
              <a:t>Submission deadline*: </a:t>
            </a:r>
            <a:r>
              <a:rPr lang="en-US" dirty="0">
                <a:solidFill>
                  <a:srgbClr val="FF0000"/>
                </a:solidFill>
              </a:rPr>
              <a:t>Friday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6 Mar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11:59 pm.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700" dirty="0">
                <a:solidFill>
                  <a:prstClr val="black"/>
                </a:solidFill>
              </a:rPr>
              <a:t>* Usually we give a few more minutes (say 60 minute?) of grace period, in case of any network or unusual problems. But please respect the deadline; the length of the grace period is NOT guaranteed.</a:t>
            </a:r>
            <a:endParaRPr lang="en-US" sz="17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662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0331F-E19F-7061-449B-64D845D57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2907"/>
          </a:xfrm>
        </p:spPr>
        <p:txBody>
          <a:bodyPr/>
          <a:lstStyle/>
          <a:p>
            <a:r>
              <a:rPr lang="en-US" dirty="0"/>
              <a:t>Optional – Learn some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ACAEA-B53A-F50F-C87B-CB6DC90DF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9243"/>
            <a:ext cx="10515600" cy="4662416"/>
          </a:xfrm>
        </p:spPr>
        <p:txBody>
          <a:bodyPr>
            <a:normAutofit/>
          </a:bodyPr>
          <a:lstStyle/>
          <a:p>
            <a:r>
              <a:rPr lang="en-US" dirty="0"/>
              <a:t>If you’ve finished everything mentioned previously, you can learn some AI that’s currently causing a revolution in SE and CS.</a:t>
            </a:r>
          </a:p>
          <a:p>
            <a:r>
              <a:rPr lang="en-US" dirty="0"/>
              <a:t>Read about the most important recent advances in AI.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Batch_2025Dec_TopStories.pdf</a:t>
            </a:r>
            <a:r>
              <a:rPr lang="en-US" dirty="0"/>
              <a:t>; this newsletter is in the Reference section of iSpace; the articles are very readable, and they provide links to references if you want more information.</a:t>
            </a:r>
          </a:p>
          <a:p>
            <a:r>
              <a:rPr lang="en-US" dirty="0"/>
              <a:t>Watch these videos or enroll the free course</a:t>
            </a:r>
          </a:p>
          <a:p>
            <a:pPr lvl="1"/>
            <a:r>
              <a:rPr lang="en-US" dirty="0">
                <a:hlinkClick r:id="rId2"/>
              </a:rPr>
              <a:t>Claude Code: A Highly Agentic Coding Assistant - DeepLearning.AI</a:t>
            </a:r>
            <a:endParaRPr lang="en-US" dirty="0"/>
          </a:p>
          <a:p>
            <a:pPr lvl="1"/>
            <a:r>
              <a:rPr lang="en-US" dirty="0" err="1">
                <a:hlinkClick r:id="rId3"/>
              </a:rPr>
              <a:t>Jupyter</a:t>
            </a:r>
            <a:r>
              <a:rPr lang="en-US" dirty="0">
                <a:hlinkClick r:id="rId3"/>
              </a:rPr>
              <a:t> AI: AI Coding in Notebooks - DeepLearning.AI</a:t>
            </a:r>
            <a:r>
              <a:rPr lang="en-US" dirty="0"/>
              <a:t> *</a:t>
            </a:r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400" dirty="0"/>
              <a:t>*I’ve developed my Neural Network and Deep Learning class from the previous videos from DeepLearning.AI, which was at the cutting edge 6 or 7 years ago; these new videos provide the latest advances in AI.</a:t>
            </a:r>
          </a:p>
        </p:txBody>
      </p:sp>
    </p:spTree>
    <p:extLst>
      <p:ext uri="{BB962C8B-B14F-4D97-AF65-F5344CB8AC3E}">
        <p14:creationId xmlns:p14="http://schemas.microsoft.com/office/powerpoint/2010/main" val="2464015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</TotalTime>
  <Words>895</Words>
  <Application>Microsoft Office PowerPoint</Application>
  <PresentationFormat>Widescreen</PresentationFormat>
  <Paragraphs>90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Segoe UI Symbol</vt:lpstr>
      <vt:lpstr>Office Theme</vt:lpstr>
      <vt:lpstr>Lab 2 Tasks part B</vt:lpstr>
      <vt:lpstr>Main Tasks, part B</vt:lpstr>
      <vt:lpstr>Task 1: Feed back: Common Errors in Q list 1</vt:lpstr>
      <vt:lpstr>Task 1: Feed back: Common Errors in Q list 1</vt:lpstr>
      <vt:lpstr>Task 2: Interview Skills</vt:lpstr>
      <vt:lpstr>Task 3: SRS template</vt:lpstr>
      <vt:lpstr>Task 4: Prepare Questions List 2</vt:lpstr>
      <vt:lpstr>Task 4: Prepare Questions List 2</vt:lpstr>
      <vt:lpstr>Update the Meeting Minutes</vt:lpstr>
      <vt:lpstr>Submissions</vt:lpstr>
      <vt:lpstr>Optional – Learn some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Tasks</dc:title>
  <dc:creator>j f</dc:creator>
  <cp:lastModifiedBy>UIC</cp:lastModifiedBy>
  <cp:revision>116</cp:revision>
  <dcterms:created xsi:type="dcterms:W3CDTF">2022-02-10T09:18:32Z</dcterms:created>
  <dcterms:modified xsi:type="dcterms:W3CDTF">2026-03-03T00:34:15Z</dcterms:modified>
</cp:coreProperties>
</file>