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9" r:id="rId2"/>
  </p:sldMasterIdLst>
  <p:notesMasterIdLst>
    <p:notesMasterId r:id="rId19"/>
  </p:notesMasterIdLst>
  <p:sldIdLst>
    <p:sldId id="397" r:id="rId3"/>
    <p:sldId id="418" r:id="rId4"/>
    <p:sldId id="398" r:id="rId5"/>
    <p:sldId id="401" r:id="rId6"/>
    <p:sldId id="413" r:id="rId7"/>
    <p:sldId id="411" r:id="rId8"/>
    <p:sldId id="420" r:id="rId9"/>
    <p:sldId id="414" r:id="rId10"/>
    <p:sldId id="427" r:id="rId11"/>
    <p:sldId id="428" r:id="rId12"/>
    <p:sldId id="429" r:id="rId13"/>
    <p:sldId id="423" r:id="rId14"/>
    <p:sldId id="320" r:id="rId15"/>
    <p:sldId id="430" r:id="rId16"/>
    <p:sldId id="431" r:id="rId17"/>
    <p:sldId id="419" r:id="rId18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7AFA"/>
    <a:srgbClr val="4A1A1D"/>
    <a:srgbClr val="481C3C"/>
    <a:srgbClr val="FF3300"/>
    <a:srgbClr val="A5CFFD"/>
    <a:srgbClr val="09C7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605" autoAdjust="0"/>
    <p:restoredTop sz="94270" autoAdjust="0"/>
  </p:normalViewPr>
  <p:slideViewPr>
    <p:cSldViewPr showGuides="1">
      <p:cViewPr varScale="1">
        <p:scale>
          <a:sx n="96" d="100"/>
          <a:sy n="96" d="100"/>
        </p:scale>
        <p:origin x="42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Header Placeholder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t" anchorCtr="0" compatLnSpc="1"/>
          <a:lstStyle>
            <a:lvl1pPr defTabSz="955675" eaLnBrk="1" hangingPunct="1">
              <a:buFont typeface="Arial" panose="020B0604020202090204" pitchFamily="34" charset="0"/>
              <a:buNone/>
              <a:defRPr sz="1300">
                <a:latin typeface="Calibri" pitchFamily="34" charset="0"/>
                <a:cs typeface="Arial" panose="020B060402020209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2763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t" anchorCtr="0" compatLnSpc="1"/>
          <a:lstStyle>
            <a:lvl1pPr algn="r" defTabSz="955675" eaLnBrk="1" hangingPunct="1">
              <a:buFont typeface="Arial" panose="020B0604020202090204" pitchFamily="34" charset="0"/>
              <a:buNone/>
              <a:defRPr sz="1300">
                <a:latin typeface="Calibri" pitchFamily="34" charset="0"/>
                <a:cs typeface="Arial" panose="020B0604020202090204" pitchFamily="34" charset="0"/>
              </a:defRPr>
            </a:lvl1pPr>
          </a:lstStyle>
          <a:p>
            <a:pPr>
              <a:defRPr/>
            </a:pPr>
            <a:fld id="{ADB238D3-D6DA-4FB6-B3F8-F044B33B7666}" type="datetimeFigureOut">
              <a:rPr lang="en-US" altLang="zh-CN"/>
              <a:t>5/13/2026</a:t>
            </a:fld>
            <a:endParaRPr lang="en-US" altLang="zh-CN"/>
          </a:p>
        </p:txBody>
      </p:sp>
      <p:sp>
        <p:nvSpPr>
          <p:cNvPr id="10244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Notes Placeholder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ctr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054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4988" cy="512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b" anchorCtr="0" compatLnSpc="1"/>
          <a:lstStyle>
            <a:lvl1pPr defTabSz="955675" eaLnBrk="1" hangingPunct="1">
              <a:buFont typeface="Arial" panose="020B0604020202090204" pitchFamily="34" charset="0"/>
              <a:buNone/>
              <a:defRPr sz="1300">
                <a:latin typeface="Calibri" pitchFamily="34" charset="0"/>
                <a:cs typeface="Arial" panose="020B060402020209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0263"/>
            <a:ext cx="3074988" cy="512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b" anchorCtr="0" compatLnSpc="1"/>
          <a:lstStyle>
            <a:lvl1pPr algn="r" defTabSz="955675" eaLnBrk="1" hangingPunct="1">
              <a:buFont typeface="Arial" panose="020B0604020202090204" pitchFamily="34" charset="0"/>
              <a:buNone/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E42D7670-EF48-403E-91DF-51E16157E49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04862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备注占位符 104862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2292" name="文本框 1048623"/>
          <p:cNvSpPr txBox="1">
            <a:spLocks noChangeArrowheads="1"/>
          </p:cNvSpPr>
          <p:nvPr/>
        </p:nvSpPr>
        <p:spPr bwMode="auto">
          <a:xfrm>
            <a:off x="4022725" y="9720263"/>
            <a:ext cx="3074988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3" tIns="47741" rIns="95483" bIns="47741" anchor="b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algn="r" eaLnBrk="1" latinLnBrk="1" hangingPunct="1">
              <a:buFont typeface="Arial" panose="020B0604020202090204" pitchFamily="34" charset="0"/>
              <a:buNone/>
            </a:pPr>
            <a:fld id="{CEAC3199-8ED1-4683-978A-9B402C6614C4}" type="slidenum">
              <a:rPr lang="en-US" altLang="zh-CN" sz="1300">
                <a:latin typeface="Calibri" pitchFamily="34" charset="0"/>
              </a:rPr>
              <a:t>1</a:t>
            </a:fld>
            <a:endParaRPr lang="en-US" altLang="zh-CN" sz="13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29DFC0-8F17-4C19-8188-8E40BFA87BB6}" type="slidenum">
              <a:rPr lang="en-US" altLang="zh-CN" sz="1300" smtClean="0"/>
              <a:t>3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AC42FE-6EFF-4143-91E3-0A1AD2F19394}" type="slidenum">
              <a:rPr lang="en-US" altLang="zh-CN" sz="1300" smtClean="0"/>
              <a:t>4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9D4248-500D-4156-9B59-DE8D4832C5DF}" type="slidenum">
              <a:rPr lang="en-US" altLang="zh-CN" sz="1300" smtClean="0"/>
              <a:t>5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55F305-52AF-4F0F-B641-EB5F274E4806}" type="slidenum">
              <a:rPr lang="en-US" altLang="zh-CN" sz="1300" smtClean="0"/>
              <a:t>6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55F305-52AF-4F0F-B641-EB5F274E4806}" type="slidenum">
              <a:rPr lang="en-US" altLang="zh-CN" sz="1300" smtClean="0"/>
              <a:t>7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55F305-52AF-4F0F-B641-EB5F274E4806}" type="slidenum">
              <a:rPr lang="en-US" altLang="zh-CN" sz="1300" smtClean="0"/>
              <a:t>9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4105616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55F305-52AF-4F0F-B641-EB5F274E4806}" type="slidenum">
              <a:rPr lang="en-US" altLang="zh-CN" sz="1300" smtClean="0"/>
              <a:t>10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805744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55F305-52AF-4F0F-B641-EB5F274E4806}" type="slidenum">
              <a:rPr lang="en-US" altLang="zh-CN" sz="1300" smtClean="0"/>
              <a:t>11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830586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1ADB701D-4DD2-4C2F-90C2-1147FB3ED4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F5AA934C-6A97-4729-B505-96DAB9E60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CA7243B0-F4BD-48AD-B5C1-5FD88274A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DFE261-EA02-452D-98BA-03B27422DBEE}" type="slidenum">
              <a:rPr lang="en-US" altLang="zh-CN" sz="13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393327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1ADB701D-4DD2-4C2F-90C2-1147FB3ED4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F5AA934C-6A97-4729-B505-96DAB9E60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CA7243B0-F4BD-48AD-B5C1-5FD88274A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DFE261-EA02-452D-98BA-03B27422DBEE}" type="slidenum">
              <a:rPr lang="en-US" altLang="zh-CN" sz="13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887813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DFE261-EA02-452D-98BA-03B27422DBEE}" type="slidenum">
              <a:rPr lang="en-US" altLang="zh-CN" sz="1300" smtClean="0"/>
              <a:t>16</a:t>
            </a:fld>
            <a:endParaRPr lang="en-US" altLang="zh-CN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5AB7E-6779-409B-8312-581E22D2F22D}" type="datetime1">
              <a:rPr lang="en-US" altLang="zh-CN"/>
              <a:t>5/13/2026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897E60-EAB5-4ED6-82F4-BD713A6E886C}" type="datetime1">
              <a:rPr lang="en-US" altLang="zh-CN"/>
              <a:t>5/13/2026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83BAA5-7235-4895-868C-6BAC917C48B7}" type="datetime1">
              <a:rPr lang="en-US" altLang="zh-CN"/>
              <a:t>5/13/2026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30CCD3-1C24-4168-9511-F166979FE946}" type="datetime1">
              <a:rPr lang="en-US" altLang="zh-CN"/>
              <a:t>5/13/2026</a:t>
            </a:fld>
            <a:endParaRPr lang="en-US" altLang="zh-CN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34841-0C80-45D4-B5DC-DDB50C5EE336}" type="datetime1">
              <a:rPr lang="en-US" altLang="zh-CN"/>
              <a:t>5/13/2026</a:t>
            </a:fld>
            <a:endParaRPr lang="en-US" altLang="zh-CN"/>
          </a:p>
        </p:txBody>
      </p:sp>
      <p:sp>
        <p:nvSpPr>
          <p:cNvPr id="8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75973-3820-4B1D-BDE3-5ABBD8E92813}" type="datetime1">
              <a:rPr lang="en-US" altLang="zh-CN"/>
              <a:t>5/13/2026</a:t>
            </a:fld>
            <a:endParaRPr lang="en-US" altLang="zh-CN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B7BEC-DCD7-44DB-BB9B-07F0055C3422}" type="datetime1">
              <a:rPr lang="en-US" altLang="zh-CN"/>
              <a:t>5/13/2026</a:t>
            </a:fld>
            <a:endParaRPr lang="en-US" altLang="zh-CN"/>
          </a:p>
        </p:txBody>
      </p:sp>
      <p:sp>
        <p:nvSpPr>
          <p:cNvPr id="3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8E975-FEFB-408E-8B99-67390D3F7B39}" type="datetime1">
              <a:rPr lang="en-US" altLang="zh-CN"/>
              <a:t>5/13/2026</a:t>
            </a:fld>
            <a:endParaRPr lang="en-US" altLang="zh-CN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30E28-1408-4CAD-9AE1-65976258FB55}" type="datetime1">
              <a:rPr lang="en-US" altLang="zh-CN"/>
              <a:t>5/13/2026</a:t>
            </a:fld>
            <a:endParaRPr lang="en-US" altLang="zh-CN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3CA9B1-F89D-4EE9-927D-57975309E554}" type="datetime1">
              <a:rPr lang="en-US" altLang="zh-CN"/>
              <a:t>5/13/2026</a:t>
            </a:fld>
            <a:endParaRPr lang="en-US" altLang="zh-CN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26960-AFCC-4C9C-B5A4-144115871C0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A260AB-B6B9-4C36-B36F-543AADD7B9B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9BFC0-57F8-4E6F-97A3-DE7CDF24181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t>2026/5/13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EC7743-1B29-4DAA-9DAF-0D303349935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t>2026/5/13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D8DD5-DAEF-4214-9FD3-12D19459908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t>2026/5/13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750772-67A7-4802-9FB6-1D7447D036D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t>2026/5/13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F50C4-694C-43A2-ABF1-846E1BF1E1C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t>2026/5/13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9D338-2AF2-4D2F-8BDD-8BA8784491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t>2026/5/13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F26C7-B8CD-45F2-9A02-7D12BBED027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605E09-4B6D-4467-B5E0-E5F66BCA1E1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B41716-33DB-4B83-85CF-842BB479812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Slides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90204" pitchFamily="34" charset="0"/>
              <a:buNone/>
              <a:defRPr sz="1200">
                <a:solidFill>
                  <a:srgbClr val="898989"/>
                </a:solidFill>
                <a:latin typeface="Calibri" pitchFamily="34" charset="0"/>
                <a:ea typeface="宋体" pitchFamily="2" charset="-122"/>
                <a:cs typeface="Arial" panose="020B0604020202090204" pitchFamily="34" charset="0"/>
              </a:defRPr>
            </a:lvl1pPr>
          </a:lstStyle>
          <a:p>
            <a:pPr>
              <a:defRPr/>
            </a:pPr>
            <a:fld id="{630AEB93-6FBA-4CF1-9E02-FB0CF8E4B70D}" type="datetime1">
              <a:rPr lang="en-US" altLang="zh-CN"/>
              <a:t>5/13/2026</a:t>
            </a:fld>
            <a:endParaRPr lang="en-US" altLang="zh-CN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90204" pitchFamily="34" charset="0"/>
              <a:buNone/>
              <a:defRPr sz="1200">
                <a:solidFill>
                  <a:srgbClr val="898989"/>
                </a:solidFill>
                <a:latin typeface="+mn-lt"/>
                <a:ea typeface="宋体" pitchFamily="2" charset="-122"/>
                <a:cs typeface="Arial" panose="020B060402020209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00800" y="62484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90204" pitchFamily="34" charset="0"/>
              <a:buNone/>
              <a:defRPr sz="1200">
                <a:solidFill>
                  <a:srgbClr val="898989"/>
                </a:solidFill>
                <a:latin typeface="+mn-lt"/>
                <a:ea typeface="宋体" pitchFamily="2" charset="-122"/>
                <a:cs typeface="Arial" panose="020B060402020209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4968432-E14B-4E04-962F-38A019181F35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focus.com/en-us/products/loadrunner-professional/download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04862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4800" dirty="0">
                <a:solidFill>
                  <a:srgbClr val="953735"/>
                </a:solidFill>
                <a:ea typeface="宋体" pitchFamily="2" charset="-122"/>
              </a:rPr>
              <a:t>Lab 11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Announcement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17638"/>
            <a:ext cx="8568951" cy="4819674"/>
          </a:xfrm>
        </p:spPr>
        <p:txBody>
          <a:bodyPr/>
          <a:lstStyle/>
          <a:p>
            <a:r>
              <a:rPr lang="en-US" sz="2800" kern="1200" dirty="0"/>
              <a:t>SE Assignment 5 will be released soon. </a:t>
            </a:r>
          </a:p>
          <a:p>
            <a:pPr lvl="1"/>
            <a:r>
              <a:rPr lang="en-US" sz="2400" kern="1200" dirty="0"/>
              <a:t>Review Lecture 16 before the 10 minutes online assignment.</a:t>
            </a:r>
          </a:p>
          <a:p>
            <a:r>
              <a:rPr lang="en-US" sz="2800" dirty="0"/>
              <a:t>Next lab, </a:t>
            </a:r>
            <a:r>
              <a:rPr lang="en-US" sz="2800" b="1" dirty="0">
                <a:solidFill>
                  <a:srgbClr val="FF0000"/>
                </a:solidFill>
              </a:rPr>
              <a:t>Thu May 21</a:t>
            </a:r>
            <a:r>
              <a:rPr lang="en-US" sz="2800" dirty="0"/>
              <a:t> – Very important survey</a:t>
            </a:r>
          </a:p>
          <a:p>
            <a:pPr lvl="1"/>
            <a:r>
              <a:rPr lang="en-US" sz="2400" dirty="0"/>
              <a:t>Every student must arrive on time at </a:t>
            </a:r>
            <a:r>
              <a:rPr lang="en-US" sz="2400" b="1" dirty="0">
                <a:solidFill>
                  <a:srgbClr val="FF0000"/>
                </a:solidFill>
              </a:rPr>
              <a:t>9 am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Please bring a pen.</a:t>
            </a:r>
          </a:p>
          <a:p>
            <a:pPr lvl="1"/>
            <a:r>
              <a:rPr lang="en-US" sz="2400" dirty="0"/>
              <a:t>If you cannot attend, you must have an </a:t>
            </a:r>
            <a:r>
              <a:rPr lang="en-US" sz="2400" dirty="0">
                <a:solidFill>
                  <a:srgbClr val="FF0000"/>
                </a:solidFill>
              </a:rPr>
              <a:t>official excuse</a:t>
            </a:r>
            <a:r>
              <a:rPr lang="en-US" sz="2400" dirty="0"/>
              <a:t>; otherwise </a:t>
            </a:r>
            <a:r>
              <a:rPr lang="en-US" sz="2400" dirty="0">
                <a:solidFill>
                  <a:srgbClr val="FF0000"/>
                </a:solidFill>
              </a:rPr>
              <a:t>points will be deducted</a:t>
            </a:r>
            <a:r>
              <a:rPr lang="en-US" sz="2400" dirty="0"/>
              <a:t> from your grade.</a:t>
            </a:r>
            <a:endParaRPr lang="en-US" sz="800" dirty="0"/>
          </a:p>
          <a:p>
            <a:pPr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FF0000"/>
                </a:solidFill>
              </a:rPr>
              <a:t>Presentations </a:t>
            </a:r>
            <a:r>
              <a:rPr lang="en-US" sz="2800" kern="1200" dirty="0"/>
              <a:t>will be held on</a:t>
            </a:r>
            <a:r>
              <a:rPr lang="en-US" sz="2800" b="1" kern="1200" dirty="0">
                <a:solidFill>
                  <a:srgbClr val="FF0000"/>
                </a:solidFill>
              </a:rPr>
              <a:t> May 26 to 28 </a:t>
            </a:r>
          </a:p>
          <a:p>
            <a:pPr lvl="1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kern="1200" dirty="0"/>
              <a:t>Take place during the lab and SE class time.</a:t>
            </a:r>
          </a:p>
          <a:p>
            <a:pPr lvl="1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kern="1200" dirty="0"/>
              <a:t>Sign up with your teacher.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ea typeface="宋体" pitchFamily="2" charset="-122"/>
              </a:rPr>
              <a:t>Tasks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1488" y="1525588"/>
            <a:ext cx="8229600" cy="4495700"/>
          </a:xfrm>
        </p:spPr>
        <p:txBody>
          <a:bodyPr/>
          <a:lstStyle/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Font typeface="Calibri" pitchFamily="34" charset="0"/>
              <a:buAutoNum type="arabicPeriod"/>
            </a:pPr>
            <a:r>
              <a:rPr lang="en-US" altLang="zh-CN" sz="2800" dirty="0">
                <a:ea typeface="宋体" pitchFamily="2" charset="-122"/>
              </a:rPr>
              <a:t>Teachers</a:t>
            </a:r>
            <a:endParaRPr lang="en-US" altLang="zh-CN" sz="2400" dirty="0">
              <a:ea typeface="宋体" pitchFamily="2" charset="-122"/>
            </a:endParaRPr>
          </a:p>
          <a:p>
            <a:pPr marL="857250" lvl="1" indent="-457200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itchFamily="2" charset="-122"/>
              </a:rPr>
              <a:t>Explain Test Plan Template</a:t>
            </a:r>
          </a:p>
          <a:p>
            <a:pPr marL="857250" lvl="1" indent="-457200">
              <a:lnSpc>
                <a:spcPct val="120000"/>
              </a:lnSpc>
              <a:spcBef>
                <a:spcPct val="0"/>
              </a:spcBef>
              <a:buFont typeface="Calibri" pitchFamily="34" charset="0"/>
              <a:buAutoNum type="alphaUcPeriod"/>
            </a:pPr>
            <a:r>
              <a:rPr lang="en-US" altLang="zh-CN" sz="2400" dirty="0">
                <a:ea typeface="宋体" pitchFamily="2" charset="-122"/>
              </a:rPr>
              <a:t>Explain Test Report Template 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0"/>
              </a:spcBef>
              <a:buFont typeface="Calibri" pitchFamily="34" charset="0"/>
              <a:buAutoNum type="arabicPeriod"/>
            </a:pPr>
            <a:r>
              <a:rPr lang="en-US" altLang="zh-CN" sz="2800" dirty="0">
                <a:ea typeface="宋体" pitchFamily="2" charset="-122"/>
              </a:rPr>
              <a:t>Students</a:t>
            </a:r>
            <a:r>
              <a:rPr lang="en-US" altLang="zh-CN" sz="2400" dirty="0">
                <a:ea typeface="宋体" pitchFamily="2" charset="-122"/>
              </a:rPr>
              <a:t> (after your code is running)</a:t>
            </a:r>
          </a:p>
          <a:p>
            <a:pPr marL="857250" lvl="1" indent="-457200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itchFamily="2" charset="-122"/>
              </a:rPr>
              <a:t>Prepare test plan</a:t>
            </a:r>
          </a:p>
          <a:p>
            <a:pPr marL="857250" lvl="1" indent="-457200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en-US" altLang="zh-CN" sz="2400" dirty="0">
                <a:ea typeface="宋体" pitchFamily="2" charset="-122"/>
              </a:rPr>
              <a:t>Prepare test report</a:t>
            </a:r>
          </a:p>
          <a:p>
            <a:pPr marL="857250" lvl="1" indent="-457200">
              <a:lnSpc>
                <a:spcPct val="120000"/>
              </a:lnSpc>
              <a:spcBef>
                <a:spcPct val="0"/>
              </a:spcBef>
              <a:buFont typeface="+mj-lt"/>
              <a:buAutoNum type="alphaUcPeriod"/>
            </a:pPr>
            <a:endParaRPr lang="en-US" altLang="zh-CN" sz="2400" dirty="0">
              <a:ea typeface="宋体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2800" dirty="0">
              <a:ea typeface="宋体" pitchFamily="2" charset="-122"/>
            </a:endParaRPr>
          </a:p>
        </p:txBody>
      </p:sp>
      <p:sp>
        <p:nvSpPr>
          <p:cNvPr id="13316" name="Date Placeholder 3"/>
          <p:cNvSpPr txBox="1">
            <a:spLocks noGrp="1" noChangeArrowheads="1"/>
          </p:cNvSpPr>
          <p:nvPr/>
        </p:nvSpPr>
        <p:spPr bwMode="auto">
          <a:xfrm>
            <a:off x="471488" y="63309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483895DB-1D9D-42F0-BF2E-8EEB9707FBA6}" type="datetime1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5/13/2026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13317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DE79ED89-9F84-4856-830C-BB87C10E9704}" type="slidenum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3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536" y="540222"/>
            <a:ext cx="8291265" cy="944562"/>
          </a:xfrm>
        </p:spPr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  <a:ea typeface="宋体" pitchFamily="2" charset="-122"/>
              </a:rPr>
              <a:t>Teachers Issue 1A:</a:t>
            </a:r>
            <a:r>
              <a:rPr lang="zh-CN" altLang="en-US" sz="3600" dirty="0">
                <a:solidFill>
                  <a:srgbClr val="FF0000"/>
                </a:solidFill>
                <a:ea typeface="宋体" pitchFamily="2" charset="-122"/>
              </a:rPr>
              <a:t> </a:t>
            </a:r>
            <a:br>
              <a:rPr lang="en-US" altLang="zh-CN" sz="3600" dirty="0">
                <a:solidFill>
                  <a:srgbClr val="FF0000"/>
                </a:solidFill>
                <a:ea typeface="宋体" pitchFamily="2" charset="-122"/>
              </a:rPr>
            </a:br>
            <a:r>
              <a:rPr lang="en-US" altLang="zh-CN" sz="3600" dirty="0">
                <a:solidFill>
                  <a:srgbClr val="FF0000"/>
                </a:solidFill>
                <a:ea typeface="宋体" pitchFamily="2" charset="-122"/>
              </a:rPr>
              <a:t>Explain Test Plan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3075" y="1972816"/>
            <a:ext cx="8229600" cy="404847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ea typeface="宋体" pitchFamily="2" charset="-122"/>
              </a:rPr>
              <a:t>Test plan template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000000"/>
                </a:solidFill>
                <a:ea typeface="宋体" pitchFamily="2" charset="-122"/>
                <a:cs typeface="Arial" panose="020B0604020202090204" pitchFamily="34" charset="0"/>
              </a:rPr>
              <a:t>Available on iSpace</a:t>
            </a:r>
          </a:p>
          <a:p>
            <a:pPr marL="457200" lvl="1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endParaRPr lang="en-US" altLang="zh-CN" sz="2400" dirty="0">
              <a:solidFill>
                <a:srgbClr val="000000"/>
              </a:solidFill>
              <a:ea typeface="宋体" pitchFamily="2" charset="-122"/>
              <a:cs typeface="Arial" panose="020B0604020202090204" pitchFamily="34" charset="0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br>
              <a:rPr lang="en-US" altLang="zh-CN" sz="2400" dirty="0">
                <a:solidFill>
                  <a:srgbClr val="000000"/>
                </a:solidFill>
                <a:ea typeface="宋体" pitchFamily="2" charset="-122"/>
                <a:cs typeface="Arial" panose="020B0604020202090204" pitchFamily="34" charset="0"/>
              </a:rPr>
            </a:br>
            <a:br>
              <a:rPr lang="en-US" altLang="zh-CN" sz="2400" dirty="0">
                <a:solidFill>
                  <a:srgbClr val="000000"/>
                </a:solidFill>
                <a:ea typeface="inherit"/>
                <a:cs typeface="inherit"/>
              </a:rPr>
            </a:b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15364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25793C1E-7C41-42C3-BFFA-6B105AC6986E}" type="datetime1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5/13/2026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1536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F3318B1A-1636-4F32-930D-EF83CB450095}" type="slidenum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4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439738"/>
            <a:ext cx="8229600" cy="973038"/>
          </a:xfrm>
        </p:spPr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  <a:ea typeface="宋体" pitchFamily="2" charset="-122"/>
              </a:rPr>
              <a:t>Teachers Issue 1B:</a:t>
            </a:r>
            <a:r>
              <a:rPr lang="zh-CN" altLang="en-US" sz="3600" dirty="0">
                <a:solidFill>
                  <a:srgbClr val="FF0000"/>
                </a:solidFill>
                <a:ea typeface="宋体" pitchFamily="2" charset="-122"/>
              </a:rPr>
              <a:t> </a:t>
            </a:r>
            <a:br>
              <a:rPr lang="en-US" altLang="zh-CN" sz="3600" dirty="0">
                <a:solidFill>
                  <a:srgbClr val="FF0000"/>
                </a:solidFill>
                <a:ea typeface="宋体" pitchFamily="2" charset="-122"/>
              </a:rPr>
            </a:br>
            <a:r>
              <a:rPr lang="en-US" altLang="zh-CN" sz="3600" dirty="0">
                <a:solidFill>
                  <a:srgbClr val="FF0000"/>
                </a:solidFill>
                <a:ea typeface="宋体" pitchFamily="2" charset="-122"/>
              </a:rPr>
              <a:t>Explain Test Report Template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8613" y="1994520"/>
            <a:ext cx="8229600" cy="388275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Test Report Template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Available on iSpace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Report only test cases that contain bugs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If no test cases have bugs, write down NONE.</a:t>
            </a:r>
          </a:p>
          <a:p>
            <a:pPr marL="457200" lvl="1" indent="0" eaLnBrk="1" hangingPunct="1">
              <a:buNone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9460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03A4E0BC-0AE5-4130-A156-DDDC7E15EB57}" type="datetime1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5/13/2026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19461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D8C7253B-3C7F-4539-AF6D-37CB846BB0E2}" type="slidenum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32656"/>
            <a:ext cx="8229600" cy="1008112"/>
          </a:xfrm>
        </p:spPr>
        <p:txBody>
          <a:bodyPr/>
          <a:lstStyle/>
          <a:p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  <a:t>Student Task 2A:</a:t>
            </a:r>
            <a:r>
              <a:rPr lang="zh-CN" altLang="en-US" sz="3200" dirty="0">
                <a:solidFill>
                  <a:srgbClr val="FF0000"/>
                </a:solidFill>
                <a:ea typeface="宋体" pitchFamily="2" charset="-122"/>
              </a:rPr>
              <a:t> </a:t>
            </a:r>
            <a:b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</a:b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  <a:t>Prepare Test Plan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8613" y="1340768"/>
            <a:ext cx="8229600" cy="4752528"/>
          </a:xfrm>
        </p:spPr>
        <p:txBody>
          <a:bodyPr/>
          <a:lstStyle/>
          <a:p>
            <a:r>
              <a:rPr lang="en-US" altLang="zh-CN" sz="2800" dirty="0">
                <a:solidFill>
                  <a:srgbClr val="481C3C"/>
                </a:solidFill>
                <a:ea typeface="宋体" pitchFamily="2" charset="-122"/>
              </a:rPr>
              <a:t>Use black-box testing on these use cases.  Use one table for each use case.</a:t>
            </a:r>
          </a:p>
          <a:p>
            <a:pPr lvl="1"/>
            <a:r>
              <a:rPr lang="en-US" altLang="zh-CN" sz="2400" dirty="0">
                <a:solidFill>
                  <a:srgbClr val="481C3C"/>
                </a:solidFill>
                <a:ea typeface="宋体" pitchFamily="2" charset="-122"/>
              </a:rPr>
              <a:t>Search Student’s Info (by Mentor and Coordinator)</a:t>
            </a:r>
          </a:p>
          <a:p>
            <a:pPr lvl="1"/>
            <a:r>
              <a:rPr lang="en-US" altLang="zh-CN" sz="2400" dirty="0">
                <a:solidFill>
                  <a:srgbClr val="481C3C"/>
                </a:solidFill>
                <a:ea typeface="宋体" pitchFamily="2" charset="-122"/>
              </a:rPr>
              <a:t>Edit Interview Record (by Mentor)</a:t>
            </a:r>
          </a:p>
          <a:p>
            <a:pPr lvl="1"/>
            <a:r>
              <a:rPr lang="en-US" altLang="zh-CN" sz="2400" dirty="0">
                <a:solidFill>
                  <a:srgbClr val="481C3C"/>
                </a:solidFill>
                <a:ea typeface="宋体" pitchFamily="2" charset="-122"/>
              </a:rPr>
              <a:t>Search Mentor Info (by Faculty Consultant and Coordinator)</a:t>
            </a:r>
          </a:p>
          <a:p>
            <a:r>
              <a:rPr lang="en-US" altLang="zh-CN" sz="2800" dirty="0">
                <a:solidFill>
                  <a:srgbClr val="481C3C"/>
                </a:solidFill>
                <a:ea typeface="宋体" pitchFamily="2" charset="-122"/>
              </a:rPr>
              <a:t>In Lab 4, you’ve made transition diagrams for these use cases.  </a:t>
            </a:r>
          </a:p>
          <a:p>
            <a:pPr lvl="1"/>
            <a:r>
              <a:rPr lang="en-US" altLang="zh-CN" sz="2400" dirty="0">
                <a:solidFill>
                  <a:srgbClr val="481C3C"/>
                </a:solidFill>
                <a:ea typeface="宋体" pitchFamily="2" charset="-122"/>
              </a:rPr>
              <a:t>See Lecture 14 around slide 8 on how to generate test cases in a transition diagram.</a:t>
            </a:r>
          </a:p>
        </p:txBody>
      </p:sp>
      <p:sp>
        <p:nvSpPr>
          <p:cNvPr id="21508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26C9C3FF-2298-4AC0-BFBE-AF20A4E41196}" type="datetime1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5/13/2026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21509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DA058B1D-3DBC-414B-8C62-9DD42E413AB1}" type="slidenum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32656"/>
            <a:ext cx="8229600" cy="1008112"/>
          </a:xfrm>
        </p:spPr>
        <p:txBody>
          <a:bodyPr/>
          <a:lstStyle/>
          <a:p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  <a:t>Student Task 2A:</a:t>
            </a:r>
            <a:r>
              <a:rPr lang="zh-CN" altLang="en-US" sz="3200" dirty="0">
                <a:solidFill>
                  <a:srgbClr val="FF0000"/>
                </a:solidFill>
                <a:ea typeface="宋体" pitchFamily="2" charset="-122"/>
              </a:rPr>
              <a:t> </a:t>
            </a:r>
            <a:b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</a:b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  <a:t>Prepare Test Plan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8613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>
                <a:solidFill>
                  <a:srgbClr val="481C3C"/>
                </a:solidFill>
                <a:ea typeface="宋体" pitchFamily="2" charset="-122"/>
              </a:rPr>
              <a:t>Remark</a:t>
            </a:r>
          </a:p>
          <a:p>
            <a:r>
              <a:rPr lang="en-US" altLang="zh-CN" sz="2800" dirty="0">
                <a:solidFill>
                  <a:srgbClr val="481C3C"/>
                </a:solidFill>
                <a:ea typeface="宋体" pitchFamily="2" charset="-122"/>
              </a:rPr>
              <a:t>In unit testing, we tested a class and the methods in that class.</a:t>
            </a:r>
          </a:p>
          <a:p>
            <a:r>
              <a:rPr lang="en-US" altLang="zh-CN" sz="2800" dirty="0">
                <a:solidFill>
                  <a:srgbClr val="481C3C"/>
                </a:solidFill>
                <a:ea typeface="宋体" pitchFamily="2" charset="-122"/>
              </a:rPr>
              <a:t>In system testing, we test use cases.</a:t>
            </a:r>
          </a:p>
          <a:p>
            <a:pPr lvl="1"/>
            <a:r>
              <a:rPr lang="en-US" altLang="zh-CN" sz="2400" dirty="0">
                <a:solidFill>
                  <a:srgbClr val="481C3C"/>
                </a:solidFill>
                <a:ea typeface="宋体" pitchFamily="2" charset="-122"/>
              </a:rPr>
              <a:t>Each use case may involve several classes.</a:t>
            </a:r>
          </a:p>
          <a:p>
            <a:endParaRPr lang="en-US" altLang="zh-CN" sz="2800" dirty="0">
              <a:solidFill>
                <a:srgbClr val="481C3C"/>
              </a:solidFill>
              <a:ea typeface="宋体" pitchFamily="2" charset="-122"/>
            </a:endParaRPr>
          </a:p>
          <a:p>
            <a:pPr marL="228600" lvl="1" indent="-284480">
              <a:tabLst>
                <a:tab pos="344170" algn="l"/>
              </a:tabLst>
            </a:pPr>
            <a:endParaRPr lang="en-US" altLang="zh-CN" dirty="0">
              <a:solidFill>
                <a:srgbClr val="481C3C"/>
              </a:solidFill>
              <a:ea typeface="宋体" pitchFamily="2" charset="-122"/>
            </a:endParaRPr>
          </a:p>
        </p:txBody>
      </p:sp>
      <p:sp>
        <p:nvSpPr>
          <p:cNvPr id="21508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26C9C3FF-2298-4AC0-BFBE-AF20A4E41196}" type="datetime1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5/13/2026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21509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DA058B1D-3DBC-414B-8C62-9DD42E413AB1}" type="slidenum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7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Date Placeholder 3"/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4D7428E-3823-4E03-981F-6D807B4B739F}" type="datetime1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5/13/2026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24580" name="Footer Placeholder 4"/>
          <p:cNvSpPr txBox="1">
            <a:spLocks noGrp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Discrete Structure</a:t>
            </a:r>
          </a:p>
        </p:txBody>
      </p:sp>
      <p:sp>
        <p:nvSpPr>
          <p:cNvPr id="24581" name="Slide Number Placeholder 5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3A5DE6D-EEEC-4063-9365-5A63334C00E4}" type="slidenum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8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24582" name="Rectangle 3"/>
          <p:cNvSpPr txBox="1">
            <a:spLocks noChangeArrowheads="1"/>
          </p:cNvSpPr>
          <p:nvPr/>
        </p:nvSpPr>
        <p:spPr bwMode="auto">
          <a:xfrm>
            <a:off x="251520" y="1166898"/>
            <a:ext cx="8784976" cy="4998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357505" indent="-357505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 algn="just" eaLnBrk="1" hangingPunct="1">
              <a:buNone/>
            </a:pPr>
            <a:r>
              <a:rPr lang="en-US" altLang="zh-CN" dirty="0">
                <a:ea typeface="宋体" pitchFamily="2" charset="-122"/>
              </a:rPr>
              <a:t>Load testing tool: </a:t>
            </a:r>
            <a:r>
              <a:rPr lang="en-US" altLang="zh-CN" i="1" dirty="0" err="1">
                <a:solidFill>
                  <a:srgbClr val="FF0000"/>
                </a:solidFill>
                <a:ea typeface="宋体" pitchFamily="2" charset="-122"/>
              </a:rPr>
              <a:t>LoadRunner</a:t>
            </a:r>
            <a:r>
              <a:rPr lang="en-US" altLang="zh-CN" dirty="0">
                <a:ea typeface="宋体" pitchFamily="2" charset="-122"/>
              </a:rPr>
              <a:t> </a:t>
            </a:r>
          </a:p>
          <a:p>
            <a:pPr lvl="1" algn="just" eaLnBrk="1" hangingPunct="1">
              <a:buFont typeface="Arial" panose="020B0604020202090204" pitchFamily="34" charset="0"/>
              <a:buChar char="•"/>
            </a:pPr>
            <a:r>
              <a:rPr lang="en-US" altLang="zh-CN" dirty="0">
                <a:ea typeface="宋体" pitchFamily="2" charset="-122"/>
              </a:rPr>
              <a:t>Do the use case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Edit Interview Record</a:t>
            </a:r>
            <a:r>
              <a:rPr lang="en-US" altLang="zh-CN" dirty="0">
                <a:solidFill>
                  <a:srgbClr val="481C3C"/>
                </a:solidFill>
                <a:ea typeface="宋体" pitchFamily="2" charset="-122"/>
              </a:rPr>
              <a:t>. </a:t>
            </a:r>
            <a:endParaRPr lang="en-US" altLang="zh-CN" dirty="0">
              <a:ea typeface="宋体" pitchFamily="2" charset="-122"/>
            </a:endParaRPr>
          </a:p>
          <a:p>
            <a:pPr lvl="1" algn="just" eaLnBrk="1" hangingPunct="1">
              <a:buFont typeface="Arial" panose="020B0604020202090204" pitchFamily="34" charset="0"/>
              <a:buChar char="•"/>
            </a:pPr>
            <a:r>
              <a:rPr lang="en-US" altLang="zh-CN" dirty="0">
                <a:ea typeface="宋体" pitchFamily="2" charset="-122"/>
              </a:rPr>
              <a:t>Choose one of the following versions:</a:t>
            </a:r>
          </a:p>
          <a:p>
            <a:pPr marL="859155" lvl="2" indent="-342900" algn="just" eaLnBrk="1" hangingPunct="1">
              <a:buFont typeface="Wingdings" panose="05000000000000000000" pitchFamily="2" charset="2"/>
              <a:buChar char="§"/>
            </a:pPr>
            <a:r>
              <a:rPr lang="en-US" altLang="zh-CN" dirty="0">
                <a:ea typeface="宋体" pitchFamily="2" charset="-122"/>
              </a:rPr>
              <a:t>Version 12.02 (Installed in computer room for workshop III)</a:t>
            </a:r>
          </a:p>
          <a:p>
            <a:pPr marL="1259205" lvl="4" indent="-285750" algn="just" eaLnBrk="1" hangingPunct="1"/>
            <a:r>
              <a:rPr lang="en-US" altLang="zh-CN" dirty="0">
                <a:ea typeface="宋体" pitchFamily="2" charset="-122"/>
              </a:rPr>
              <a:t>Tutorial available in </a:t>
            </a:r>
            <a:r>
              <a:rPr lang="en-US" altLang="zh-CN" dirty="0" err="1">
                <a:ea typeface="宋体" pitchFamily="2" charset="-122"/>
              </a:rPr>
              <a:t>iSpace</a:t>
            </a:r>
            <a:endParaRPr lang="en-US" altLang="zh-CN" dirty="0">
              <a:ea typeface="宋体" pitchFamily="2" charset="-122"/>
            </a:endParaRPr>
          </a:p>
          <a:p>
            <a:pPr marL="859155" lvl="2" indent="-342900" algn="just">
              <a:buFont typeface="Wingdings" panose="05000000000000000000" pitchFamily="2" charset="2"/>
              <a:buChar char="§"/>
            </a:pPr>
            <a:r>
              <a:rPr lang="en-US" altLang="zh-CN" dirty="0">
                <a:ea typeface="宋体" pitchFamily="2" charset="-122"/>
              </a:rPr>
              <a:t>Version 2021 (can be downloaded in your own computer)</a:t>
            </a:r>
          </a:p>
          <a:p>
            <a:pPr marL="1259205" lvl="4" indent="-285750" algn="just"/>
            <a:r>
              <a:rPr lang="en-US" altLang="zh-CN" dirty="0">
                <a:ea typeface="宋体" pitchFamily="2" charset="-122"/>
                <a:hlinkClick r:id="rId2"/>
              </a:rPr>
              <a:t>https://www.microfocus.com/en-us/products/loadrunner-professional/download</a:t>
            </a:r>
            <a:endParaRPr lang="en-US" altLang="zh-CN" dirty="0">
              <a:ea typeface="宋体" pitchFamily="2" charset="-122"/>
            </a:endParaRPr>
          </a:p>
          <a:p>
            <a:pPr marL="344805" lvl="2" indent="-285750" algn="just"/>
            <a:r>
              <a:rPr lang="en-US" altLang="zh-CN" sz="2800" dirty="0">
                <a:ea typeface="宋体" pitchFamily="2" charset="-122"/>
              </a:rPr>
              <a:t>Each student reads the document “Reading instructions and questions.pdf”. </a:t>
            </a:r>
          </a:p>
          <a:p>
            <a:pPr marL="344805" lvl="2" indent="-285750" algn="just"/>
            <a:r>
              <a:rPr lang="en-US" altLang="zh-CN" sz="2800" dirty="0">
                <a:ea typeface="宋体" pitchFamily="2" charset="-122"/>
              </a:rPr>
              <a:t>Answer the questions, and submit the answers in iSpace.</a:t>
            </a:r>
          </a:p>
          <a:p>
            <a:pPr lvl="3" algn="just"/>
            <a:endParaRPr lang="en-US" altLang="zh-CN" dirty="0">
              <a:ea typeface="宋体" pitchFamily="2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77170" y="2389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zh-CN" sz="3600" kern="0" dirty="0">
                <a:solidFill>
                  <a:srgbClr val="FF0000"/>
                </a:solidFill>
                <a:ea typeface="宋体" pitchFamily="2" charset="-122"/>
              </a:rPr>
              <a:t>Student Task 2A:</a:t>
            </a:r>
            <a:r>
              <a:rPr lang="zh-CN" altLang="en-US" sz="3600" kern="0" dirty="0">
                <a:solidFill>
                  <a:srgbClr val="FF0000"/>
                </a:solidFill>
                <a:ea typeface="宋体" pitchFamily="2" charset="-122"/>
              </a:rPr>
              <a:t> </a:t>
            </a:r>
            <a:endParaRPr lang="en-US" altLang="zh-CN" sz="3600" kern="0" dirty="0">
              <a:solidFill>
                <a:srgbClr val="FF0000"/>
              </a:solidFill>
              <a:ea typeface="宋体" pitchFamily="2" charset="-122"/>
            </a:endParaRPr>
          </a:p>
          <a:p>
            <a:r>
              <a:rPr lang="en-US" altLang="zh-CN" sz="3600" kern="0" dirty="0">
                <a:solidFill>
                  <a:srgbClr val="FF0000"/>
                </a:solidFill>
                <a:ea typeface="宋体" pitchFamily="2" charset="-122"/>
              </a:rPr>
              <a:t>Prepare Test Plan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32656"/>
            <a:ext cx="8229600" cy="1008112"/>
          </a:xfrm>
        </p:spPr>
        <p:txBody>
          <a:bodyPr/>
          <a:lstStyle/>
          <a:p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  <a:t>Student Task 2A:</a:t>
            </a:r>
            <a:r>
              <a:rPr lang="zh-CN" altLang="en-US" sz="3200" dirty="0">
                <a:solidFill>
                  <a:srgbClr val="FF0000"/>
                </a:solidFill>
                <a:ea typeface="宋体" pitchFamily="2" charset="-122"/>
              </a:rPr>
              <a:t> </a:t>
            </a:r>
            <a:b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</a:b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  <a:t>Prepare Test Plan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8613" y="1340768"/>
            <a:ext cx="8229600" cy="4752528"/>
          </a:xfrm>
        </p:spPr>
        <p:txBody>
          <a:bodyPr/>
          <a:lstStyle/>
          <a:p>
            <a:r>
              <a:rPr lang="en-US" altLang="zh-CN" sz="2800" dirty="0">
                <a:solidFill>
                  <a:srgbClr val="481C3C"/>
                </a:solidFill>
                <a:ea typeface="宋体" pitchFamily="2" charset="-122"/>
              </a:rPr>
              <a:t>Testing tool: </a:t>
            </a:r>
            <a:r>
              <a:rPr lang="en-US" altLang="zh-CN" sz="2800" i="1" dirty="0" err="1">
                <a:solidFill>
                  <a:srgbClr val="FF0000"/>
                </a:solidFill>
                <a:ea typeface="宋体" pitchFamily="2" charset="-122"/>
              </a:rPr>
              <a:t>TestComplete</a:t>
            </a:r>
            <a:r>
              <a:rPr lang="en-US" altLang="zh-CN" sz="2800" dirty="0">
                <a:solidFill>
                  <a:srgbClr val="481C3C"/>
                </a:solidFill>
                <a:ea typeface="宋体" pitchFamily="2" charset="-122"/>
              </a:rPr>
              <a:t> by </a:t>
            </a:r>
            <a:r>
              <a:rPr lang="en-US" altLang="zh-CN" sz="2800" dirty="0" err="1">
                <a:solidFill>
                  <a:srgbClr val="481C3C"/>
                </a:solidFill>
                <a:ea typeface="宋体" pitchFamily="2" charset="-122"/>
              </a:rPr>
              <a:t>SmartBear</a:t>
            </a:r>
            <a:endParaRPr lang="en-US" altLang="zh-CN" sz="2800" dirty="0">
              <a:solidFill>
                <a:srgbClr val="481C3C"/>
              </a:solidFill>
              <a:ea typeface="宋体" pitchFamily="2" charset="-122"/>
            </a:endParaRPr>
          </a:p>
          <a:p>
            <a:r>
              <a:rPr lang="en-US" altLang="zh-CN" sz="2800" dirty="0">
                <a:solidFill>
                  <a:srgbClr val="481C3C"/>
                </a:solidFill>
                <a:ea typeface="宋体" pitchFamily="2" charset="-122"/>
              </a:rPr>
              <a:t>Do the use case: </a:t>
            </a:r>
            <a:r>
              <a:rPr lang="en-US" altLang="zh-CN" sz="2800" dirty="0">
                <a:solidFill>
                  <a:srgbClr val="FF0000"/>
                </a:solidFill>
                <a:ea typeface="宋体" pitchFamily="2" charset="-122"/>
              </a:rPr>
              <a:t>Search Student's Info</a:t>
            </a:r>
          </a:p>
          <a:p>
            <a:r>
              <a:rPr lang="en-US" altLang="zh-CN" sz="2800" dirty="0">
                <a:solidFill>
                  <a:srgbClr val="481C3C"/>
                </a:solidFill>
                <a:ea typeface="宋体" pitchFamily="2" charset="-122"/>
              </a:rPr>
              <a:t>Purpose:</a:t>
            </a:r>
          </a:p>
          <a:p>
            <a:pPr lvl="1"/>
            <a:r>
              <a:rPr lang="en-US" altLang="zh-CN" sz="2400" dirty="0">
                <a:solidFill>
                  <a:srgbClr val="481C3C"/>
                </a:solidFill>
                <a:ea typeface="宋体" pitchFamily="2" charset="-122"/>
              </a:rPr>
              <a:t>Students design black-box test cases.</a:t>
            </a:r>
          </a:p>
          <a:p>
            <a:pPr lvl="2"/>
            <a:r>
              <a:rPr lang="en-US" altLang="zh-CN" sz="2000" dirty="0">
                <a:solidFill>
                  <a:srgbClr val="481C3C"/>
                </a:solidFill>
                <a:ea typeface="宋体" pitchFamily="2" charset="-122"/>
              </a:rPr>
              <a:t>As noted in 3 slides back.</a:t>
            </a:r>
          </a:p>
          <a:p>
            <a:pPr lvl="1"/>
            <a:r>
              <a:rPr lang="en-US" altLang="zh-CN" sz="2400" dirty="0" err="1">
                <a:solidFill>
                  <a:srgbClr val="481C3C"/>
                </a:solidFill>
                <a:ea typeface="宋体" pitchFamily="2" charset="-122"/>
              </a:rPr>
              <a:t>TestComplete</a:t>
            </a:r>
            <a:r>
              <a:rPr lang="en-US" altLang="zh-CN" sz="2400" dirty="0">
                <a:solidFill>
                  <a:srgbClr val="481C3C"/>
                </a:solidFill>
                <a:ea typeface="宋体" pitchFamily="2" charset="-122"/>
              </a:rPr>
              <a:t> records and repeats the same GUI tests after bug fixes or code changes.</a:t>
            </a:r>
          </a:p>
          <a:p>
            <a:pPr marL="228600" lvl="1" indent="-284480">
              <a:tabLst>
                <a:tab pos="344170" algn="l"/>
              </a:tabLst>
            </a:pPr>
            <a:endParaRPr lang="en-US" altLang="zh-CN" dirty="0">
              <a:solidFill>
                <a:srgbClr val="481C3C"/>
              </a:solidFill>
              <a:ea typeface="宋体" pitchFamily="2" charset="-122"/>
            </a:endParaRPr>
          </a:p>
        </p:txBody>
      </p:sp>
      <p:sp>
        <p:nvSpPr>
          <p:cNvPr id="21508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26C9C3FF-2298-4AC0-BFBE-AF20A4E41196}" type="datetime1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5/13/2026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21509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DA058B1D-3DBC-414B-8C62-9DD42E413AB1}" type="slidenum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9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804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32656"/>
            <a:ext cx="8229600" cy="1008112"/>
          </a:xfrm>
        </p:spPr>
        <p:txBody>
          <a:bodyPr/>
          <a:lstStyle/>
          <a:p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  <a:t>Student Task 2A:</a:t>
            </a:r>
            <a:r>
              <a:rPr lang="zh-CN" altLang="en-US" sz="3200" dirty="0">
                <a:solidFill>
                  <a:srgbClr val="FF0000"/>
                </a:solidFill>
                <a:ea typeface="宋体" pitchFamily="2" charset="-122"/>
              </a:rPr>
              <a:t> </a:t>
            </a:r>
            <a:b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</a:b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  <a:t>Prepare Test Plan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1340768"/>
            <a:ext cx="8784976" cy="4752528"/>
          </a:xfrm>
        </p:spPr>
        <p:txBody>
          <a:bodyPr/>
          <a:lstStyle/>
          <a:p>
            <a:pPr marL="0" lvl="0" indent="0" eaLnBrk="0" hangingPunct="0">
              <a:spcBef>
                <a:spcPts val="672"/>
              </a:spcBef>
              <a:spcAft>
                <a:spcPts val="0"/>
              </a:spcAft>
              <a:buNone/>
            </a:pPr>
            <a:r>
              <a:rPr lang="en-US" sz="24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Read / watch these 6 short </a:t>
            </a:r>
            <a:r>
              <a:rPr lang="en-US" sz="2400" kern="1200" dirty="0">
                <a:solidFill>
                  <a:srgbClr val="FF0000"/>
                </a:solidFill>
                <a:latin typeface="Arial" panose="020B0604020202090204"/>
                <a:cs typeface="Arial" panose="020B0604020202090204" pitchFamily="34" charset="0"/>
              </a:rPr>
              <a:t>tutorials</a:t>
            </a:r>
            <a:r>
              <a:rPr lang="en-US" sz="24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 before doing the use case.</a:t>
            </a:r>
          </a:p>
          <a:p>
            <a:pPr eaLnBrk="0" hangingPunct="0">
              <a:spcBef>
                <a:spcPts val="672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We listed the doc files, but videos are also available.</a:t>
            </a:r>
          </a:p>
          <a:p>
            <a:pPr eaLnBrk="0" hangingPunct="0">
              <a:spcBef>
                <a:spcPts val="672"/>
              </a:spcBef>
              <a:spcAft>
                <a:spcPts val="0"/>
              </a:spcAft>
            </a:pPr>
            <a:endParaRPr lang="en-US" sz="800" kern="1200" dirty="0">
              <a:solidFill>
                <a:srgbClr val="000000"/>
              </a:solidFill>
              <a:latin typeface="Arial" panose="020B0604020202090204"/>
              <a:ea typeface="+mn-ea"/>
              <a:cs typeface="Arial" panose="020B0604020202090204" pitchFamily="34" charset="0"/>
            </a:endParaRPr>
          </a:p>
          <a:p>
            <a:pPr eaLnBrk="0" hangingPunct="0">
              <a:spcBef>
                <a:spcPts val="672"/>
              </a:spcBef>
              <a:spcAft>
                <a:spcPts val="0"/>
              </a:spcAft>
            </a:pPr>
            <a:r>
              <a:rPr lang="en-US" sz="2400" kern="1200" dirty="0">
                <a:solidFill>
                  <a:srgbClr val="000000"/>
                </a:solidFill>
                <a:latin typeface="Arial" panose="020B0604020202090204"/>
                <a:ea typeface="+mn-ea"/>
                <a:cs typeface="Arial" panose="020B0604020202090204" pitchFamily="34" charset="0"/>
              </a:rPr>
              <a:t>Keyword Tests</a:t>
            </a:r>
          </a:p>
          <a:p>
            <a:pPr marL="457200" lvl="1" indent="0" eaLnBrk="0" hangingPunct="0">
              <a:spcBef>
                <a:spcPts val="672"/>
              </a:spcBef>
              <a:spcAft>
                <a:spcPts val="0"/>
              </a:spcAft>
              <a:buNone/>
            </a:pPr>
            <a:r>
              <a:rPr lang="en-US" sz="20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https://support.smartbear.com/testcomplete/docs/keyword-testing/</a:t>
            </a:r>
          </a:p>
          <a:p>
            <a:pPr eaLnBrk="0" hangingPunct="0">
              <a:spcBef>
                <a:spcPts val="672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Create / Record a Test</a:t>
            </a:r>
          </a:p>
          <a:p>
            <a:pPr marL="400050" lvl="1" indent="0" eaLnBrk="0" hangingPunct="0">
              <a:spcBef>
                <a:spcPts val="672"/>
              </a:spcBef>
              <a:spcAft>
                <a:spcPts val="0"/>
              </a:spcAft>
              <a:buNone/>
            </a:pPr>
            <a:r>
              <a:rPr lang="en-US" sz="20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https://support.smartbear.com/testcomplete/docs/tutorials/getting-started/first-test/web/creating-test.html</a:t>
            </a:r>
          </a:p>
          <a:p>
            <a:pPr eaLnBrk="0" hangingPunct="0">
              <a:spcBef>
                <a:spcPts val="672"/>
              </a:spcBef>
              <a:spcAft>
                <a:spcPts val="0"/>
              </a:spcAft>
            </a:pPr>
            <a:r>
              <a:rPr lang="en-US" sz="24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Analyze the Recorded Test</a:t>
            </a:r>
          </a:p>
          <a:p>
            <a:pPr marL="400050" lvl="1" indent="0" eaLnBrk="0" hangingPunct="0">
              <a:spcBef>
                <a:spcPts val="672"/>
              </a:spcBef>
              <a:spcAft>
                <a:spcPts val="0"/>
              </a:spcAft>
              <a:buNone/>
            </a:pPr>
            <a:r>
              <a:rPr lang="en-US" sz="20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https://support.smartbear.com/testcomplete/docs/tutorials/getting-started/first-test/web/analyzing-recorded-test.html</a:t>
            </a:r>
          </a:p>
          <a:p>
            <a:pPr marL="0" lvl="1" indent="0">
              <a:buNone/>
              <a:tabLst>
                <a:tab pos="344170" algn="l"/>
              </a:tabLst>
            </a:pPr>
            <a:endParaRPr lang="en-US" altLang="zh-CN" sz="2400" dirty="0">
              <a:solidFill>
                <a:srgbClr val="481C3C"/>
              </a:solidFill>
              <a:ea typeface="宋体" pitchFamily="2" charset="-122"/>
            </a:endParaRPr>
          </a:p>
        </p:txBody>
      </p:sp>
      <p:sp>
        <p:nvSpPr>
          <p:cNvPr id="21508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26C9C3FF-2298-4AC0-BFBE-AF20A4E41196}" type="datetime1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5/13/2026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21509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DA058B1D-3DBC-414B-8C62-9DD42E413AB1}" type="slidenum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10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0673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32656"/>
            <a:ext cx="8229600" cy="1008112"/>
          </a:xfrm>
        </p:spPr>
        <p:txBody>
          <a:bodyPr/>
          <a:lstStyle/>
          <a:p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  <a:t>Student Task 2A:</a:t>
            </a:r>
            <a:r>
              <a:rPr lang="zh-CN" altLang="en-US" sz="3200" dirty="0">
                <a:solidFill>
                  <a:srgbClr val="FF0000"/>
                </a:solidFill>
                <a:ea typeface="宋体" pitchFamily="2" charset="-122"/>
              </a:rPr>
              <a:t> </a:t>
            </a:r>
            <a:b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</a:b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  <a:t>Prepare Test Plan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8612" y="1340768"/>
            <a:ext cx="8510587" cy="4953670"/>
          </a:xfrm>
        </p:spPr>
        <p:txBody>
          <a:bodyPr/>
          <a:lstStyle/>
          <a:p>
            <a:pPr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Run the Recorded Test </a:t>
            </a:r>
          </a:p>
          <a:p>
            <a:pPr marL="400050" lvl="1" indent="0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https://support.smartbear.com/testcomplete/docs/tutorials/getting-started/first-test/web/running-recorded-test.html</a:t>
            </a:r>
          </a:p>
          <a:p>
            <a:pPr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Analyze Test Results</a:t>
            </a:r>
          </a:p>
          <a:p>
            <a:pPr marL="400050" lvl="1" indent="0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https://support.smartbear.com/testcomplete/docs/tutorials/getting-started/first-test/web/analyzing-test-results.html</a:t>
            </a:r>
          </a:p>
          <a:p>
            <a:pPr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Checkpoints</a:t>
            </a:r>
          </a:p>
          <a:p>
            <a:pPr marL="400050" lvl="1" indent="0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kern="1200" dirty="0">
                <a:solidFill>
                  <a:srgbClr val="000000"/>
                </a:solidFill>
                <a:latin typeface="Arial" panose="020B0604020202090204"/>
                <a:cs typeface="Arial" panose="020B0604020202090204" pitchFamily="34" charset="0"/>
              </a:rPr>
              <a:t>https://support.smartbear.com/testcomplete/docs/testing-with/checkpoints/</a:t>
            </a:r>
          </a:p>
          <a:p>
            <a:pPr marL="0" lvl="1" indent="0">
              <a:buNone/>
              <a:tabLst>
                <a:tab pos="344170" algn="l"/>
              </a:tabLst>
            </a:pPr>
            <a:endParaRPr lang="en-US" altLang="zh-CN" sz="2400" dirty="0">
              <a:solidFill>
                <a:srgbClr val="481C3C"/>
              </a:solidFill>
              <a:ea typeface="宋体" pitchFamily="2" charset="-122"/>
            </a:endParaRPr>
          </a:p>
        </p:txBody>
      </p:sp>
      <p:sp>
        <p:nvSpPr>
          <p:cNvPr id="21508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26C9C3FF-2298-4AC0-BFBE-AF20A4E41196}" type="datetime1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5/13/2026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21509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DA058B1D-3DBC-414B-8C62-9DD42E413AB1}" type="slidenum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11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5598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Date Placeholder 3"/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4D7428E-3823-4E03-981F-6D807B4B739F}" type="datetime1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5/13/2026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24580" name="Footer Placeholder 4"/>
          <p:cNvSpPr txBox="1">
            <a:spLocks noGrp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Discrete Structure</a:t>
            </a:r>
          </a:p>
        </p:txBody>
      </p:sp>
      <p:sp>
        <p:nvSpPr>
          <p:cNvPr id="24581" name="Slide Number Placeholder 5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3A5DE6D-EEEC-4063-9365-5A63334C00E4}" type="slidenum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12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24582" name="Rectangle 3"/>
          <p:cNvSpPr txBox="1">
            <a:spLocks noChangeArrowheads="1"/>
          </p:cNvSpPr>
          <p:nvPr/>
        </p:nvSpPr>
        <p:spPr bwMode="auto">
          <a:xfrm>
            <a:off x="251520" y="1166898"/>
            <a:ext cx="8784976" cy="4813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/>
          <a:lstStyle>
            <a:lvl1pPr marL="342900" indent="-342900"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357505" indent="-357505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dirty="0">
                <a:solidFill>
                  <a:srgbClr val="000000"/>
                </a:solidFill>
                <a:latin typeface="Arial" panose="020B0604020202090204"/>
              </a:rPr>
              <a:t>Practice steps: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1. Create a </a:t>
            </a:r>
            <a:r>
              <a:rPr sz="2000" b="0" dirty="0" err="1">
                <a:solidFill>
                  <a:srgbClr val="000000"/>
                </a:solidFill>
                <a:latin typeface="Arial" panose="020B0604020202090204"/>
              </a:rPr>
              <a:t>TestComplete</a:t>
            </a: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 project for the web application.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2. Record a Keyword Test for</a:t>
            </a:r>
            <a:r>
              <a:rPr lang="en-US" sz="2000" b="0" dirty="0">
                <a:solidFill>
                  <a:srgbClr val="000000"/>
                </a:solidFill>
                <a:latin typeface="Arial" panose="020B0604020202090204"/>
              </a:rPr>
              <a:t> the use case</a:t>
            </a: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 Search Student's Info.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3. Add Checkpoint 1: valid Student ID -&gt; student information is displayed.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4. Add Checkpoint 2: empty/invalid Student ID -&gt; warning message is displayed.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5. Run the test and view the test log.</a:t>
            </a:r>
            <a:endParaRPr lang="en-US" sz="2000" b="0" dirty="0">
              <a:solidFill>
                <a:srgbClr val="000000"/>
              </a:solidFill>
              <a:latin typeface="Arial" panose="020B0604020202090204"/>
            </a:endParaRP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sz="2000" b="0" dirty="0">
              <a:solidFill>
                <a:srgbClr val="000000"/>
              </a:solidFill>
              <a:latin typeface="Arial" panose="020B0604020202090204"/>
            </a:endParaRP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dirty="0">
                <a:solidFill>
                  <a:srgbClr val="000000"/>
                </a:solidFill>
                <a:latin typeface="Arial" panose="020B0604020202090204"/>
              </a:rPr>
              <a:t>Submission: take three whole-screen screenshots, with one sentence explanation </a:t>
            </a:r>
            <a:r>
              <a:rPr lang="en-US" sz="2400" b="1" dirty="0">
                <a:solidFill>
                  <a:srgbClr val="000000"/>
                </a:solidFill>
                <a:latin typeface="Arial" panose="020B0604020202090204"/>
              </a:rPr>
              <a:t>in ea</a:t>
            </a:r>
            <a:r>
              <a:rPr sz="2400" b="1" dirty="0">
                <a:solidFill>
                  <a:srgbClr val="000000"/>
                </a:solidFill>
                <a:latin typeface="Arial" panose="020B0604020202090204"/>
              </a:rPr>
              <a:t>ch: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A. </a:t>
            </a:r>
            <a:r>
              <a:rPr lang="en-US" sz="2000" b="0" dirty="0">
                <a:solidFill>
                  <a:srgbClr val="000000"/>
                </a:solidFill>
                <a:latin typeface="Arial" panose="020B0604020202090204"/>
              </a:rPr>
              <a:t>T</a:t>
            </a: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he recorded Keyword Test steps</a:t>
            </a:r>
            <a:r>
              <a:rPr lang="en-US" sz="2000" b="0" dirty="0">
                <a:solidFill>
                  <a:srgbClr val="000000"/>
                </a:solidFill>
                <a:latin typeface="Arial" panose="020B0604020202090204"/>
              </a:rPr>
              <a:t>,</a:t>
            </a:r>
            <a:endParaRPr sz="2000" b="0" dirty="0">
              <a:solidFill>
                <a:srgbClr val="000000"/>
              </a:solidFill>
              <a:latin typeface="Arial" panose="020B0604020202090204"/>
            </a:endParaRP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B. </a:t>
            </a:r>
            <a:r>
              <a:rPr lang="en-US" sz="2000" b="0" dirty="0">
                <a:solidFill>
                  <a:srgbClr val="000000"/>
                </a:solidFill>
                <a:latin typeface="Arial" panose="020B0604020202090204"/>
              </a:rPr>
              <a:t>T</a:t>
            </a: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he added checkpoint steps/settings for the two expected results;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C. </a:t>
            </a:r>
            <a:r>
              <a:rPr lang="en-US" sz="2000" b="0" dirty="0">
                <a:solidFill>
                  <a:srgbClr val="000000"/>
                </a:solidFill>
                <a:latin typeface="Arial" panose="020B0604020202090204"/>
              </a:rPr>
              <a:t>T</a:t>
            </a:r>
            <a:r>
              <a:rPr sz="2000" b="0" dirty="0">
                <a:solidFill>
                  <a:srgbClr val="000000"/>
                </a:solidFill>
                <a:latin typeface="Arial" panose="020B0604020202090204"/>
              </a:rPr>
              <a:t>he test log after running the test, showing pass/fail result.</a:t>
            </a:r>
            <a:endParaRPr lang="en-US" sz="2000" b="0" dirty="0">
              <a:solidFill>
                <a:srgbClr val="000000"/>
              </a:solidFill>
              <a:latin typeface="Arial" panose="020B0604020202090204"/>
            </a:endParaRP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sz="800" b="0" dirty="0">
              <a:solidFill>
                <a:srgbClr val="000000"/>
              </a:solidFill>
              <a:latin typeface="Arial" panose="020B0604020202090204"/>
            </a:endParaRP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dirty="0">
                <a:solidFill>
                  <a:srgbClr val="000000"/>
                </a:solidFill>
                <a:latin typeface="Arial" panose="020B0604020202090204"/>
              </a:rPr>
              <a:t>Use an installed copy of </a:t>
            </a:r>
            <a:r>
              <a:rPr sz="1800" b="0" dirty="0" err="1">
                <a:solidFill>
                  <a:srgbClr val="000000"/>
                </a:solidFill>
                <a:latin typeface="Arial" panose="020B0604020202090204"/>
              </a:rPr>
              <a:t>TestComplete</a:t>
            </a:r>
            <a:r>
              <a:rPr sz="1800" b="0" dirty="0">
                <a:solidFill>
                  <a:srgbClr val="000000"/>
                </a:solidFill>
                <a:latin typeface="Arial" panose="020B0604020202090204"/>
              </a:rPr>
              <a:t>. See </a:t>
            </a:r>
            <a:r>
              <a:rPr lang="en-US" sz="1800" dirty="0">
                <a:solidFill>
                  <a:srgbClr val="000000"/>
                </a:solidFill>
                <a:latin typeface="Arial" panose="020B0604020202090204"/>
              </a:rPr>
              <a:t>previous</a:t>
            </a:r>
            <a:r>
              <a:rPr sz="1800" b="0" dirty="0">
                <a:solidFill>
                  <a:srgbClr val="000000"/>
                </a:solidFill>
                <a:latin typeface="Arial" panose="020B0604020202090204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Arial" panose="020B0604020202090204"/>
              </a:rPr>
              <a:t>2 </a:t>
            </a:r>
            <a:r>
              <a:rPr sz="1800" b="0" dirty="0">
                <a:solidFill>
                  <a:srgbClr val="000000"/>
                </a:solidFill>
                <a:latin typeface="Arial" panose="020B0604020202090204"/>
              </a:rPr>
              <a:t>slide</a:t>
            </a:r>
            <a:r>
              <a:rPr lang="en-US" sz="1800" b="0" dirty="0">
                <a:solidFill>
                  <a:srgbClr val="000000"/>
                </a:solidFill>
                <a:latin typeface="Arial" panose="020B0604020202090204"/>
              </a:rPr>
              <a:t>s</a:t>
            </a:r>
            <a:r>
              <a:rPr sz="1800" b="0" dirty="0">
                <a:solidFill>
                  <a:srgbClr val="000000"/>
                </a:solidFill>
                <a:latin typeface="Arial" panose="020B0604020202090204"/>
              </a:rPr>
              <a:t> for</a:t>
            </a:r>
            <a:r>
              <a:rPr lang="en-US" sz="1800" b="0" dirty="0">
                <a:solidFill>
                  <a:srgbClr val="000000"/>
                </a:solidFill>
                <a:latin typeface="Arial" panose="020B0604020202090204"/>
              </a:rPr>
              <a:t> </a:t>
            </a:r>
            <a:r>
              <a:rPr sz="1800" b="0" dirty="0">
                <a:solidFill>
                  <a:srgbClr val="000000"/>
                </a:solidFill>
                <a:latin typeface="Arial" panose="020B0604020202090204"/>
              </a:rPr>
              <a:t>instruction</a:t>
            </a:r>
            <a:r>
              <a:rPr lang="en-US" sz="1800" dirty="0">
                <a:solidFill>
                  <a:srgbClr val="000000"/>
                </a:solidFill>
                <a:latin typeface="Arial" panose="020B0604020202090204"/>
              </a:rPr>
              <a:t> pages</a:t>
            </a:r>
            <a:r>
              <a:rPr sz="1800" b="0" dirty="0">
                <a:solidFill>
                  <a:srgbClr val="000000"/>
                </a:solidFill>
                <a:latin typeface="Arial" panose="020B0604020202090204"/>
              </a:rPr>
              <a:t>.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77170" y="2389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zh-CN" sz="3600" kern="0" dirty="0">
                <a:solidFill>
                  <a:srgbClr val="FF0000"/>
                </a:solidFill>
                <a:ea typeface="宋体" pitchFamily="2" charset="-122"/>
              </a:rPr>
              <a:t>Student Task 2A:</a:t>
            </a:r>
            <a:r>
              <a:rPr lang="zh-CN" altLang="en-US" sz="3600" kern="0" dirty="0">
                <a:solidFill>
                  <a:srgbClr val="FF0000"/>
                </a:solidFill>
                <a:ea typeface="宋体" pitchFamily="2" charset="-122"/>
              </a:rPr>
              <a:t> </a:t>
            </a:r>
            <a:endParaRPr lang="en-US" altLang="zh-CN" sz="3600" kern="0" dirty="0">
              <a:solidFill>
                <a:srgbClr val="FF0000"/>
              </a:solidFill>
              <a:ea typeface="宋体" pitchFamily="2" charset="-122"/>
            </a:endParaRPr>
          </a:p>
          <a:p>
            <a:r>
              <a:rPr lang="en-US" altLang="zh-CN" sz="3600" kern="0" dirty="0">
                <a:solidFill>
                  <a:srgbClr val="FF0000"/>
                </a:solidFill>
                <a:ea typeface="宋体" pitchFamily="2" charset="-122"/>
              </a:rPr>
              <a:t>Prepare Test Plan </a:t>
            </a:r>
          </a:p>
        </p:txBody>
      </p:sp>
    </p:spTree>
    <p:extLst>
      <p:ext uri="{BB962C8B-B14F-4D97-AF65-F5344CB8AC3E}">
        <p14:creationId xmlns:p14="http://schemas.microsoft.com/office/powerpoint/2010/main" val="3232982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6550"/>
            <a:ext cx="8229600" cy="1143000"/>
          </a:xfrm>
        </p:spPr>
        <p:txBody>
          <a:bodyPr/>
          <a:lstStyle/>
          <a:p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  <a:t>Student Task 2B:</a:t>
            </a:r>
            <a:b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</a:br>
            <a:r>
              <a:rPr lang="zh-CN" altLang="en-US" sz="3200" dirty="0">
                <a:solidFill>
                  <a:srgbClr val="FF0000"/>
                </a:solidFill>
                <a:ea typeface="宋体" pitchFamily="2" charset="-12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</a:rPr>
              <a:t>Prepare Test Report</a:t>
            </a:r>
          </a:p>
        </p:txBody>
      </p:sp>
      <p:sp>
        <p:nvSpPr>
          <p:cNvPr id="23555" name="Date Placeholder 3"/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0F038B1-4027-429E-AD41-781BF0E32E9C}" type="datetime1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5/13/2026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Discrete Structure</a:t>
            </a:r>
          </a:p>
        </p:txBody>
      </p:sp>
      <p:sp>
        <p:nvSpPr>
          <p:cNvPr id="23557" name="Slide Number Placeholder 5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buNone/>
            </a:pPr>
            <a:r>
              <a:rPr sz="1400">
                <a:solidFill>
                  <a:srgbClr val="808080"/>
                </a:solidFill>
              </a:rPr>
              <a:t>11</a:t>
            </a:r>
          </a:p>
        </p:txBody>
      </p:sp>
      <p:sp>
        <p:nvSpPr>
          <p:cNvPr id="23558" name="Rectangle 3"/>
          <p:cNvSpPr txBox="1">
            <a:spLocks noChangeArrowheads="1"/>
          </p:cNvSpPr>
          <p:nvPr/>
        </p:nvSpPr>
        <p:spPr bwMode="auto">
          <a:xfrm>
            <a:off x="457200" y="1556792"/>
            <a:ext cx="8229600" cy="4393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357505" indent="-357505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1" algn="just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ea typeface="宋体" pitchFamily="2" charset="-122"/>
              </a:rPr>
              <a:t>Students prepare the test report for the use cases specified.</a:t>
            </a:r>
          </a:p>
          <a:p>
            <a:pPr lvl="1" algn="just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ea typeface="宋体" pitchFamily="2" charset="-122"/>
              </a:rPr>
              <a:t>In the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Appendix of Test Report</a:t>
            </a:r>
            <a:r>
              <a:rPr lang="en-US" altLang="zh-CN" dirty="0">
                <a:ea typeface="宋体" pitchFamily="2" charset="-122"/>
              </a:rPr>
              <a:t>, please include</a:t>
            </a:r>
          </a:p>
          <a:p>
            <a:pPr marL="688975" lvl="2" indent="-285750" algn="just" eaLnBrk="1" hangingPunct="1">
              <a:lnSpc>
                <a:spcPct val="120000"/>
              </a:lnSpc>
            </a:pPr>
            <a:r>
              <a:rPr lang="en-US" altLang="zh-CN" dirty="0">
                <a:ea typeface="宋体" pitchFamily="2" charset="-122"/>
              </a:rPr>
              <a:t>One </a:t>
            </a:r>
            <a:r>
              <a:rPr lang="en-US" altLang="zh-CN" dirty="0" err="1">
                <a:ea typeface="宋体" pitchFamily="2" charset="-122"/>
              </a:rPr>
              <a:t>Vuser</a:t>
            </a:r>
            <a:r>
              <a:rPr lang="en-US" altLang="zh-CN" dirty="0">
                <a:ea typeface="宋体" pitchFamily="2" charset="-122"/>
              </a:rPr>
              <a:t> script copy (icon-based view of script or text-based view of script) from the use of </a:t>
            </a:r>
            <a:r>
              <a:rPr lang="en-US" altLang="zh-CN" i="1" dirty="0">
                <a:ea typeface="宋体" pitchFamily="2" charset="-122"/>
              </a:rPr>
              <a:t>LoadRunner</a:t>
            </a:r>
            <a:r>
              <a:rPr lang="en-US" altLang="zh-CN" dirty="0">
                <a:ea typeface="宋体" pitchFamily="2" charset="-122"/>
              </a:rPr>
              <a:t> (similar to pages 17, 18 in the tutorial)</a:t>
            </a:r>
          </a:p>
          <a:p>
            <a:pPr marL="688975" lvl="2" indent="-285750" algn="just" eaLnBrk="1" hangingPunct="1">
              <a:lnSpc>
                <a:spcPct val="120000"/>
              </a:lnSpc>
            </a:pPr>
            <a:endParaRPr lang="en-US" altLang="zh-CN" dirty="0">
              <a:ea typeface="宋体" pitchFamily="2" charset="-122"/>
            </a:endParaRPr>
          </a:p>
          <a:p>
            <a:pPr lvl="2" algn="just" eaLnBrk="1" hangingPunct="1">
              <a:lnSpc>
                <a:spcPct val="120000"/>
              </a:lnSpc>
            </a:pPr>
            <a:endParaRPr lang="en-US" altLang="zh-CN" sz="2000" dirty="0">
              <a:ea typeface="宋体" pitchFamily="2" charset="-122"/>
            </a:endParaRPr>
          </a:p>
          <a:p>
            <a:pPr lvl="2" algn="just" eaLnBrk="1" hangingPunct="1">
              <a:lnSpc>
                <a:spcPct val="120000"/>
              </a:lnSpc>
            </a:pPr>
            <a:endParaRPr lang="en-US" altLang="zh-CN" sz="2000" dirty="0">
              <a:ea typeface="宋体" pitchFamily="2" charset="-122"/>
            </a:endParaRPr>
          </a:p>
          <a:p>
            <a:pPr lvl="1" algn="just" eaLnBrk="1" hangingPunct="1"/>
            <a:endParaRPr lang="en-US" altLang="zh-CN" sz="2000" dirty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995ECEE-2391-4A3A-8CF6-8C24E3D238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22275"/>
            <a:ext cx="8229600" cy="796925"/>
          </a:xfrm>
        </p:spPr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Submission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D9DC982-9812-4AE2-A1AC-187F888333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3550" y="1219200"/>
            <a:ext cx="8229600" cy="4826000"/>
          </a:xfrm>
        </p:spPr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Group</a:t>
            </a:r>
            <a:r>
              <a:rPr lang="en-US" altLang="zh-CN" sz="2800" dirty="0">
                <a:ea typeface="宋体" panose="02010600030101010101" pitchFamily="2" charset="-122"/>
              </a:rPr>
              <a:t>: </a:t>
            </a:r>
          </a:p>
          <a:p>
            <a:pPr lvl="1">
              <a:spcBef>
                <a:spcPts val="600"/>
              </a:spcBef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Each group submit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ONE</a:t>
            </a:r>
            <a:r>
              <a:rPr lang="en-US" altLang="zh-CN" sz="2400" dirty="0">
                <a:ea typeface="宋体" panose="02010600030101010101" pitchFamily="2" charset="-122"/>
              </a:rPr>
              <a:t> copy of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test plan </a:t>
            </a:r>
            <a:r>
              <a:rPr lang="en-US" altLang="zh-CN" sz="2400" dirty="0">
                <a:ea typeface="宋体" panose="02010600030101010101" pitchFamily="2" charset="-122"/>
              </a:rPr>
              <a:t>and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ONE</a:t>
            </a:r>
            <a:r>
              <a:rPr lang="en-US" altLang="zh-CN" sz="2400" dirty="0">
                <a:ea typeface="宋体" panose="02010600030101010101" pitchFamily="2" charset="-122"/>
              </a:rPr>
              <a:t> copy of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test report </a:t>
            </a:r>
            <a:r>
              <a:rPr lang="en-US" altLang="zh-CN" sz="2400" dirty="0">
                <a:ea typeface="宋体" panose="02010600030101010101" pitchFamily="2" charset="-122"/>
              </a:rPr>
              <a:t>to iSpace and GitLab.</a:t>
            </a:r>
          </a:p>
          <a:p>
            <a:pPr lvl="1">
              <a:spcBef>
                <a:spcPts val="600"/>
              </a:spcBef>
              <a:defRPr/>
            </a:pPr>
            <a:r>
              <a:rPr lang="en-US" sz="2400" dirty="0">
                <a:solidFill>
                  <a:srgbClr val="000000"/>
                </a:solidFill>
              </a:rPr>
              <a:t>Follow </a:t>
            </a:r>
            <a:r>
              <a:rPr lang="en-US" sz="2400" dirty="0" err="1">
                <a:solidFill>
                  <a:srgbClr val="000000"/>
                </a:solidFill>
              </a:rPr>
              <a:t>TestComplete</a:t>
            </a:r>
            <a:r>
              <a:rPr lang="en-US" sz="2400" dirty="0">
                <a:solidFill>
                  <a:srgbClr val="000000"/>
                </a:solidFill>
              </a:rPr>
              <a:t> tutorial on slides 9-12. Submit three whole-screen screenshots, each with one sentence explanation in the </a:t>
            </a:r>
            <a:r>
              <a:rPr lang="en-US" sz="2400" dirty="0">
                <a:solidFill>
                  <a:srgbClr val="FF0000"/>
                </a:solidFill>
              </a:rPr>
              <a:t>appendix</a:t>
            </a:r>
            <a:r>
              <a:rPr lang="en-US" sz="2400" dirty="0">
                <a:solidFill>
                  <a:srgbClr val="000000"/>
                </a:solidFill>
              </a:rPr>
              <a:t> of the </a:t>
            </a:r>
            <a:r>
              <a:rPr lang="en-US" sz="2400" dirty="0">
                <a:solidFill>
                  <a:srgbClr val="FF0000"/>
                </a:solidFill>
              </a:rPr>
              <a:t>test report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pPr lvl="2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2000" dirty="0">
                <a:solidFill>
                  <a:srgbClr val="000000"/>
                </a:solidFill>
              </a:rPr>
              <a:t>1. recorded Keyword Test steps;</a:t>
            </a:r>
          </a:p>
          <a:p>
            <a:pPr lvl="2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</a:rPr>
              <a:t>  2. added checkpoint steps/settings;</a:t>
            </a:r>
          </a:p>
          <a:p>
            <a:pPr lvl="2">
              <a:lnSpc>
                <a:spcPct val="9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00"/>
                </a:solidFill>
              </a:rPr>
              <a:t>  3. test log after running the test.</a:t>
            </a:r>
            <a:endParaRPr lang="en-US" altLang="zh-CN" sz="2000" b="1" dirty="0">
              <a:solidFill>
                <a:schemeClr val="accent6">
                  <a:lumMod val="75000"/>
                </a:schemeClr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US" altLang="zh-CN" sz="2800" dirty="0">
                <a:ea typeface="宋体" panose="02010600030101010101" pitchFamily="2" charset="-122"/>
              </a:rPr>
              <a:t>Deadline: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Sat 11:55 pm, 16 May 2026</a:t>
            </a:r>
          </a:p>
        </p:txBody>
      </p:sp>
      <p:sp>
        <p:nvSpPr>
          <p:cNvPr id="25604" name="Date Placeholder 3">
            <a:extLst>
              <a:ext uri="{FF2B5EF4-FFF2-40B4-BE49-F238E27FC236}">
                <a16:creationId xmlns:a16="http://schemas.microsoft.com/office/drawing/2014/main" id="{5F3DAC4C-B2FD-4491-AD68-8B151CB1325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D527DE5B-7B31-4139-A832-4D1C13665C0A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5/13/2026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>
            <a:extLst>
              <a:ext uri="{FF2B5EF4-FFF2-40B4-BE49-F238E27FC236}">
                <a16:creationId xmlns:a16="http://schemas.microsoft.com/office/drawing/2014/main" id="{30E38702-4B40-47A9-81F1-0E36DB2FD38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BDEAE318-72C1-48BA-BC55-07DF7D7B4305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14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1680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995ECEE-2391-4A3A-8CF6-8C24E3D238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22275"/>
            <a:ext cx="8229600" cy="796925"/>
          </a:xfrm>
        </p:spPr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Submission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D9DC982-9812-4AE2-A1AC-187F888333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3550" y="1219200"/>
            <a:ext cx="8229600" cy="4826000"/>
          </a:xfrm>
        </p:spPr>
        <p:txBody>
          <a:bodyPr/>
          <a:lstStyle/>
          <a:p>
            <a:pPr marL="357188" indent="-357188">
              <a:spcBef>
                <a:spcPts val="600"/>
              </a:spcBef>
              <a:defRPr/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Each Student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: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</a:p>
          <a:p>
            <a:pPr marL="757238" lvl="1" indent="-357188">
              <a:spcBef>
                <a:spcPts val="600"/>
              </a:spcBef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Practice according to the </a:t>
            </a:r>
            <a:r>
              <a:rPr lang="en-US" altLang="zh-CN" sz="2400" i="1" dirty="0">
                <a:ea typeface="宋体" panose="02010600030101010101" pitchFamily="2" charset="-122"/>
              </a:rPr>
              <a:t>LoadRunner</a:t>
            </a:r>
            <a:r>
              <a:rPr lang="en-US" altLang="zh-CN" sz="2400" dirty="0">
                <a:ea typeface="宋体" panose="02010600030101010101" pitchFamily="2" charset="-122"/>
              </a:rPr>
              <a:t> tutorial and answer the questions in the document </a:t>
            </a:r>
            <a:r>
              <a:rPr lang="en-US" altLang="zh-CN" sz="2400" i="1" dirty="0">
                <a:ea typeface="宋体" panose="02010600030101010101" pitchFamily="2" charset="-122"/>
              </a:rPr>
              <a:t>“</a:t>
            </a:r>
            <a:r>
              <a:rPr lang="en-US" altLang="zh-CN" sz="2400" i="1" dirty="0">
                <a:solidFill>
                  <a:srgbClr val="067AFA"/>
                </a:solidFill>
                <a:ea typeface="宋体" panose="02010600030101010101" pitchFamily="2" charset="-122"/>
              </a:rPr>
              <a:t>Reading instructions and questions.pdf</a:t>
            </a:r>
            <a:r>
              <a:rPr lang="en-US" altLang="zh-CN" sz="2400" i="1" dirty="0">
                <a:solidFill>
                  <a:srgbClr val="0070C0"/>
                </a:solidFill>
                <a:ea typeface="宋体" panose="02010600030101010101" pitchFamily="2" charset="-122"/>
              </a:rPr>
              <a:t>”</a:t>
            </a:r>
            <a:r>
              <a:rPr lang="en-US" altLang="zh-CN" sz="2400" i="1" dirty="0">
                <a:ea typeface="宋体" panose="02010600030101010101" pitchFamily="2" charset="-122"/>
              </a:rPr>
              <a:t>.</a:t>
            </a:r>
            <a:r>
              <a:rPr lang="fr-FR" altLang="zh-CN" sz="2400" i="1" dirty="0">
                <a:solidFill>
                  <a:srgbClr val="0070C0"/>
                </a:solidFill>
                <a:ea typeface="宋体" panose="02010600030101010101" pitchFamily="2" charset="-122"/>
              </a:rPr>
              <a:t> </a:t>
            </a:r>
          </a:p>
          <a:p>
            <a:pPr lvl="1">
              <a:spcBef>
                <a:spcPts val="600"/>
              </a:spcBef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Submit your answers to iSpace only.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US" altLang="zh-CN" sz="2800" dirty="0">
                <a:ea typeface="宋体" panose="02010600030101010101" pitchFamily="2" charset="-122"/>
              </a:rPr>
              <a:t>Deadline: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Sat 11:55 pm, 16 May 2026</a:t>
            </a:r>
          </a:p>
        </p:txBody>
      </p:sp>
      <p:sp>
        <p:nvSpPr>
          <p:cNvPr id="25604" name="Date Placeholder 3">
            <a:extLst>
              <a:ext uri="{FF2B5EF4-FFF2-40B4-BE49-F238E27FC236}">
                <a16:creationId xmlns:a16="http://schemas.microsoft.com/office/drawing/2014/main" id="{5F3DAC4C-B2FD-4491-AD68-8B151CB1325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D527DE5B-7B31-4139-A832-4D1C13665C0A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5/13/2026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>
            <a:extLst>
              <a:ext uri="{FF2B5EF4-FFF2-40B4-BE49-F238E27FC236}">
                <a16:creationId xmlns:a16="http://schemas.microsoft.com/office/drawing/2014/main" id="{30E38702-4B40-47A9-81F1-0E36DB2FD38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BDEAE318-72C1-48BA-BC55-07DF7D7B4305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15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3858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22275"/>
            <a:ext cx="8229600" cy="796925"/>
          </a:xfrm>
        </p:spPr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  <a:ea typeface="宋体" pitchFamily="2" charset="-122"/>
              </a:rPr>
              <a:t>Submission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3550" y="1219200"/>
            <a:ext cx="8229600" cy="48260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ea typeface="宋体" pitchFamily="2" charset="-122"/>
              </a:rPr>
              <a:t>Five grades will be given</a:t>
            </a:r>
          </a:p>
          <a:p>
            <a:pPr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宋体" pitchFamily="2" charset="-122"/>
              </a:rPr>
              <a:t>Test Plan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a typeface="宋体" pitchFamily="2" charset="-122"/>
              </a:rPr>
              <a:t>Text (Workshop rubric)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a typeface="宋体" pitchFamily="2" charset="-122"/>
              </a:rPr>
              <a:t>Test cases (SE rubric)</a:t>
            </a:r>
          </a:p>
          <a:p>
            <a:pPr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宋体" pitchFamily="2" charset="-122"/>
              </a:rPr>
              <a:t>Test Report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a typeface="宋体" pitchFamily="2" charset="-122"/>
              </a:rPr>
              <a:t>Text (Workshop rubric)</a:t>
            </a:r>
          </a:p>
          <a:p>
            <a:pPr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2800" dirty="0">
                <a:ea typeface="宋体" pitchFamily="2" charset="-122"/>
              </a:rPr>
              <a:t>Testing Tool</a:t>
            </a:r>
          </a:p>
          <a:p>
            <a:pPr lvl="1" indent="-342900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2400" dirty="0" err="1">
                <a:solidFill>
                  <a:schemeClr val="accent6">
                    <a:lumMod val="75000"/>
                  </a:schemeClr>
                </a:solidFill>
                <a:ea typeface="宋体" pitchFamily="2" charset="-122"/>
              </a:rPr>
              <a:t>Loadrunner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a typeface="宋体" pitchFamily="2" charset="-122"/>
              </a:rPr>
              <a:t> (Workshop rubric)</a:t>
            </a:r>
          </a:p>
          <a:p>
            <a:pPr lvl="1" indent="-342900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a typeface="宋体" pitchFamily="2" charset="-122"/>
              </a:rPr>
              <a:t>Test </a:t>
            </a:r>
            <a:r>
              <a:rPr lang="en-US" altLang="zh-CN" sz="2400">
                <a:solidFill>
                  <a:schemeClr val="accent6">
                    <a:lumMod val="75000"/>
                  </a:schemeClr>
                </a:solidFill>
                <a:ea typeface="宋体" pitchFamily="2" charset="-122"/>
              </a:rPr>
              <a:t>Complete (Workshop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a typeface="宋体" pitchFamily="2" charset="-122"/>
              </a:rPr>
              <a:t>rubric)</a:t>
            </a:r>
          </a:p>
          <a:p>
            <a:pPr marL="400050" lvl="1" indent="0">
              <a:lnSpc>
                <a:spcPct val="12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fld id="{D527DE5B-7B31-4139-A832-4D1C13665C0A}" type="datetime1">
              <a:rPr lang="en-US" altLang="zh-CN" sz="1200">
                <a:solidFill>
                  <a:srgbClr val="898989"/>
                </a:solidFill>
                <a:ea typeface="宋体" pitchFamily="2" charset="-122"/>
              </a:rPr>
              <a:t>5/13/2026</a:t>
            </a:fld>
            <a:endParaRPr lang="en-US" altLang="zh-CN" sz="1200">
              <a:solidFill>
                <a:srgbClr val="898989"/>
              </a:solidFill>
              <a:ea typeface="宋体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buNone/>
            </a:pPr>
            <a:r>
              <a:rPr sz="1400">
                <a:solidFill>
                  <a:srgbClr val="808080"/>
                </a:solidFill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cs typeface="Arial" panose="020B060402020209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cs typeface="Arial" panose="020B060402020209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Task-Week 12</Template>
  <TotalTime>211</TotalTime>
  <Words>4191</Words>
  <Application>Microsoft Office PowerPoint</Application>
  <PresentationFormat>On-screen Show (4:3)</PresentationFormat>
  <Paragraphs>332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等线</vt:lpstr>
      <vt:lpstr>等线 Light</vt:lpstr>
      <vt:lpstr>inherit</vt:lpstr>
      <vt:lpstr>宋体</vt:lpstr>
      <vt:lpstr>Arial</vt:lpstr>
      <vt:lpstr>Calibri</vt:lpstr>
      <vt:lpstr>Wingdings</vt:lpstr>
      <vt:lpstr>Office 主题​​</vt:lpstr>
      <vt:lpstr>自定义设计方案</vt:lpstr>
      <vt:lpstr>Lab 11</vt:lpstr>
      <vt:lpstr>Announcement</vt:lpstr>
      <vt:lpstr>Tasks</vt:lpstr>
      <vt:lpstr>Teachers Issue 1A:  Explain Test Plan</vt:lpstr>
      <vt:lpstr>Teachers Issue 1B:  Explain Test Report Template</vt:lpstr>
      <vt:lpstr>Student Task 2A:  Prepare Test Plan</vt:lpstr>
      <vt:lpstr>Student Task 2A:  Prepare Test Plan</vt:lpstr>
      <vt:lpstr>PowerPoint Presentation</vt:lpstr>
      <vt:lpstr>Student Task 2A:  Prepare Test Plan</vt:lpstr>
      <vt:lpstr>Student Task 2A:  Prepare Test Plan</vt:lpstr>
      <vt:lpstr>Student Task 2A:  Prepare Test Plan</vt:lpstr>
      <vt:lpstr>PowerPoint Presentation</vt:lpstr>
      <vt:lpstr>Student Task 2B:  Prepare Test Report</vt:lpstr>
      <vt:lpstr>Submission</vt:lpstr>
      <vt:lpstr>Submission</vt:lpstr>
      <vt:lpstr>Submission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</dc:title>
  <dc:creator>Xin Feng</dc:creator>
  <cp:lastModifiedBy>j f</cp:lastModifiedBy>
  <cp:revision>141</cp:revision>
  <cp:lastPrinted>2026-05-13T02:25:18Z</cp:lastPrinted>
  <dcterms:created xsi:type="dcterms:W3CDTF">2026-05-13T02:25:18Z</dcterms:created>
  <dcterms:modified xsi:type="dcterms:W3CDTF">2026-05-13T14:30:45Z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D1E90DFDDCAD40180EE1036A0FF7ED1A_42</vt:lpwstr>
  </property>
</Properties>
</file>