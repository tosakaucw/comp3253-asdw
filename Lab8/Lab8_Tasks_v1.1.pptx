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7"/>
  </p:notesMasterIdLst>
  <p:sldIdLst>
    <p:sldId id="397" r:id="rId3"/>
    <p:sldId id="398" r:id="rId4"/>
    <p:sldId id="401" r:id="rId5"/>
    <p:sldId id="455" r:id="rId6"/>
    <p:sldId id="436" r:id="rId7"/>
    <p:sldId id="428" r:id="rId8"/>
    <p:sldId id="435" r:id="rId9"/>
    <p:sldId id="439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463" r:id="rId18"/>
    <p:sldId id="465" r:id="rId19"/>
    <p:sldId id="416" r:id="rId20"/>
    <p:sldId id="417" r:id="rId21"/>
    <p:sldId id="258" r:id="rId22"/>
    <p:sldId id="256" r:id="rId23"/>
    <p:sldId id="419" r:id="rId24"/>
    <p:sldId id="453" r:id="rId25"/>
    <p:sldId id="418" r:id="rId2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481C3C"/>
    <a:srgbClr val="FF3300"/>
    <a:srgbClr val="067AFA"/>
    <a:srgbClr val="A5CFFD"/>
    <a:srgbClr val="09C709"/>
    <a:srgbClr val="4A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16" autoAdjust="0"/>
    <p:restoredTop sz="94270" autoAdjust="0"/>
  </p:normalViewPr>
  <p:slideViewPr>
    <p:cSldViewPr>
      <p:cViewPr varScale="1">
        <p:scale>
          <a:sx n="88" d="100"/>
          <a:sy n="88" d="100"/>
        </p:scale>
        <p:origin x="28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B26999E1-40BB-49FA-8A2E-2547CD2619B7}" type="datetimeFigureOut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10244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buFont typeface="Arial" panose="020B0604020202020204" pitchFamily="34" charset="0"/>
              <a:buNone/>
              <a:defRPr sz="1300">
                <a:latin typeface="Calibri" panose="020F0502020204030204" pitchFamily="34" charset="0"/>
              </a:defRPr>
            </a:lvl1pPr>
          </a:lstStyle>
          <a:p>
            <a:fld id="{F8B551A3-3F34-4D1D-AC3A-CC465D2D40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18627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04862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备注占位符 104862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292" name="文本框 1048623"/>
          <p:cNvSpPr txBox="1">
            <a:spLocks noChangeArrowheads="1"/>
          </p:cNvSpPr>
          <p:nvPr/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3" tIns="47741" rIns="95483" bIns="47741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latinLnBrk="1" hangingPunct="1">
              <a:buFont typeface="Arial" panose="020B0604020202020204" pitchFamily="34" charset="0"/>
              <a:buNone/>
            </a:pPr>
            <a:fld id="{06C0BE92-42DB-44EC-89DB-49DCAF1F899F}" type="slidenum">
              <a:rPr lang="en-US" altLang="zh-CN" sz="1300">
                <a:latin typeface="Calibri" panose="020F0502020204030204" pitchFamily="34" charset="0"/>
              </a:rPr>
              <a:pPr algn="r" eaLnBrk="1" latinLnBrk="1" hangingPunct="1">
                <a:buFont typeface="Arial" panose="020B0604020202020204" pitchFamily="34" charset="0"/>
                <a:buNone/>
              </a:pPr>
              <a:t>1</a:t>
            </a:fld>
            <a:endParaRPr lang="en-US" altLang="zh-CN" sz="13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57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984A46-F444-46DD-B9D0-213C26B5D1BD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6950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A5F567-9BF6-4C55-8B2F-8CF8C3D6A17E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044213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C563-97BF-C1AD-9090-DD204A39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04AB330B-1F29-774E-D2BE-E22F6624FB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4A6B9C84-61A3-FC72-3299-71387A23E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1FC834E8-0FCB-C72C-9AC9-D5B648179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A5F567-9BF6-4C55-8B2F-8CF8C3D6A17E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511001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A5F567-9BF6-4C55-8B2F-8CF8C3D6A17E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386711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A5F567-9BF6-4C55-8B2F-8CF8C3D6A17E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55143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5A79-8813-F534-5660-1562FBC9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3B464975-8EB4-0EED-D406-3C4D700FB4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AA445470-688B-599D-169B-B5B73DA12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F907E00C-8D68-3873-EEE8-8ABF159F8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1AD246-8F25-4037-B9ED-371E24F03812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997121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1DE187-54B8-4593-B0AC-27AF81F2DA81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399825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8F2AE7-1D8E-4FCA-A3CE-812F8E36A526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220533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52071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984A46-F444-46DD-B9D0-213C26B5D1BD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258665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17592-20FA-4DE2-ACB3-9D990E71AD3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533675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8453A-2512-43D0-B288-A977D068550B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9228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1D044-CF7B-424F-9D1B-3E3056B96186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85773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467EF-FA41-48BF-AA90-297C80FCB958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54264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32841-F8A5-4AC5-8F5B-ADE287122687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90477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DB5BD-9643-433D-8E6B-25A080C5FB3F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8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40574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96CDF-25DB-4D4E-9892-50F310AEEDB2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59669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0AAB0-2927-4E2D-B620-23E2FACC051C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3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09254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F6A0C-9BB0-4131-A81E-8D65BDC18B3E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5710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C0D26-3D8A-47D8-BC88-3D5DA12C9071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52940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4FB03-C442-4DEF-BD8B-352A59A03239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93706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C38F67-FD70-45A8-9DB2-E6E9B1A9B85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144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508D9-0414-4685-BBEB-B481FFC1CF3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789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18C4F2-B109-4846-8669-9C90860AC02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28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A7435-D40B-467D-A69B-73C04B2C967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251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23B4B-5E9F-42EC-8B30-B0207F839A0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178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3A2183-67EE-4051-9A76-88EC6D19348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443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9B2AC-25D4-401E-AD09-3DDF5B19323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8883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2A46C-D3A4-4BE6-8048-402DEAF957E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529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738361-E90A-4166-9BC8-D2C44648759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6146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7731EB-EFB6-4FEF-835F-4730D0D0E74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695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44DE6-6B1C-49CC-9A8D-4755F02CA7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35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Slides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solidFill>
                  <a:srgbClr val="898989"/>
                </a:solidFill>
                <a:latin typeface="Calibri" pitchFamily="34" charset="0"/>
                <a:ea typeface="宋体" charset="-122"/>
                <a:cs typeface="Arial" charset="0"/>
              </a:defRPr>
            </a:lvl1pPr>
          </a:lstStyle>
          <a:p>
            <a:pPr>
              <a:defRPr/>
            </a:pPr>
            <a:fld id="{8E2E6525-5464-41DE-956A-801BFCD4CE26}" type="datetime1">
              <a:rPr lang="en-US" altLang="zh-CN"/>
              <a:pPr>
                <a:defRPr/>
              </a:pPr>
              <a:t>4/22/2026</a:t>
            </a:fld>
            <a:endParaRPr lang="en-US" altLang="zh-CN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00800" y="62484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3" r:id="rId1"/>
    <p:sldLayoutId id="2147484254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39" r:id="rId8"/>
    <p:sldLayoutId id="2147484240" r:id="rId9"/>
    <p:sldLayoutId id="21474842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4B670E3-D5FB-480B-AD7B-F454014591B6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  <p:sldLayoutId id="2147484243" r:id="rId2"/>
    <p:sldLayoutId id="2147484244" r:id="rId3"/>
    <p:sldLayoutId id="2147484245" r:id="rId4"/>
    <p:sldLayoutId id="2147484246" r:id="rId5"/>
    <p:sldLayoutId id="2147484247" r:id="rId6"/>
    <p:sldLayoutId id="2147484248" r:id="rId7"/>
    <p:sldLayoutId id="2147484249" r:id="rId8"/>
    <p:sldLayoutId id="2147484250" r:id="rId9"/>
    <p:sldLayoutId id="2147484251" r:id="rId10"/>
    <p:sldLayoutId id="214748425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048620"/>
          <p:cNvSpPr>
            <a:spLocks noGrp="1" noChangeArrowheads="1"/>
          </p:cNvSpPr>
          <p:nvPr>
            <p:ph type="ctrTitle"/>
          </p:nvPr>
        </p:nvSpPr>
        <p:spPr>
          <a:xfrm>
            <a:off x="685800" y="1447853"/>
            <a:ext cx="7772400" cy="2152598"/>
          </a:xfrm>
        </p:spPr>
        <p:txBody>
          <a:bodyPr/>
          <a:lstStyle/>
          <a:p>
            <a:r>
              <a:rPr lang="en-US" altLang="en-US" sz="4800" dirty="0"/>
              <a:t>Lab 8</a:t>
            </a:r>
            <a:br>
              <a:rPr lang="en-US" altLang="en-US" sz="4800" dirty="0"/>
            </a:br>
            <a:r>
              <a:rPr lang="en-US" altLang="en-US" sz="4800" dirty="0"/>
              <a:t>Detailed Design</a:t>
            </a:r>
            <a:br>
              <a:rPr lang="en-US" altLang="en-US" sz="4800" dirty="0"/>
            </a:br>
            <a:r>
              <a:rPr lang="en-US" altLang="en-US" sz="4800" dirty="0"/>
              <a:t>Tasks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Issues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1488" y="1828842"/>
            <a:ext cx="8229600" cy="4038494"/>
          </a:xfrm>
        </p:spPr>
        <p:txBody>
          <a:bodyPr/>
          <a:lstStyle/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n-US" altLang="zh-CN" sz="2400" dirty="0">
                <a:ea typeface="宋体" panose="02010600030101010101" pitchFamily="2" charset="-122"/>
              </a:rPr>
              <a:t>Teachers</a:t>
            </a:r>
          </a:p>
          <a:p>
            <a:pPr marL="400050" lvl="1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Issue 1: Architecture Design Diagram Review</a:t>
            </a:r>
          </a:p>
          <a:p>
            <a:pPr marL="400050" lvl="1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Issue 2: Teacher explains the Detailed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Design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template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Calibri" panose="020F0502020204030204" pitchFamily="34" charset="0"/>
              <a:buAutoNum type="arabicPeriod"/>
            </a:pPr>
            <a:r>
              <a:rPr lang="en-US" altLang="zh-CN" sz="2400" dirty="0">
                <a:ea typeface="宋体" panose="02010600030101010101" pitchFamily="2" charset="-122"/>
              </a:rPr>
              <a:t>Students</a:t>
            </a:r>
          </a:p>
          <a:p>
            <a:pPr marL="400050" lvl="1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Task 1: Students prepare Detailed Design document</a:t>
            </a:r>
          </a:p>
        </p:txBody>
      </p:sp>
      <p:sp>
        <p:nvSpPr>
          <p:cNvPr id="13316" name="Date Placeholder 3"/>
          <p:cNvSpPr txBox="1">
            <a:spLocks noGrp="1" noChangeArrowheads="1"/>
          </p:cNvSpPr>
          <p:nvPr/>
        </p:nvSpPr>
        <p:spPr bwMode="auto">
          <a:xfrm>
            <a:off x="471488" y="63309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409FE01A-6DA0-446A-A63A-4DFEA46E5845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3317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3E86C64C-224F-45E7-9319-BACA74178C2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9067800" cy="822310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Issue 1:</a:t>
            </a:r>
            <a:r>
              <a:rPr lang="zh-CN" altLang="en-US" sz="3600" dirty="0"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ea typeface="宋体" panose="02010600030101010101" pitchFamily="2" charset="-122"/>
              </a:rPr>
              <a:t>Architecture Diagram Review</a:t>
            </a:r>
            <a:endParaRPr lang="en-US" altLang="zh-CN" sz="36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6812" y="1188302"/>
            <a:ext cx="8534176" cy="495287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Feedback: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1.3 Purpose of architecture design: divide the system into subsystems, so they can be developed individually. 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2.1 Use case diagram and class diagram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Change the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class diagram </a:t>
            </a:r>
            <a:r>
              <a:rPr lang="en-US" altLang="zh-CN" sz="2000" dirty="0">
                <a:ea typeface="宋体" panose="02010600030101010101" pitchFamily="2" charset="-122"/>
              </a:rPr>
              <a:t>into architectural design.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Some teams made changes to the class diagram we gave you or even ignored it altogether.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Consider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which subsystem </a:t>
            </a:r>
            <a:r>
              <a:rPr lang="en-US" altLang="zh-CN" sz="2000" dirty="0">
                <a:ea typeface="宋体" panose="02010600030101010101" pitchFamily="2" charset="-122"/>
              </a:rPr>
              <a:t>each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use cases </a:t>
            </a:r>
            <a:r>
              <a:rPr lang="en-US" altLang="zh-CN" sz="2000" dirty="0">
                <a:ea typeface="宋体" panose="02010600030101010101" pitchFamily="2" charset="-122"/>
              </a:rPr>
              <a:t>belongs.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Many teams didn’t follow the given use cases and create their own in the UI.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2.2 Design model includes both MVC and three-layered models</a:t>
            </a:r>
          </a:p>
        </p:txBody>
      </p:sp>
      <p:sp>
        <p:nvSpPr>
          <p:cNvPr id="15364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BB4E614F-156F-4D31-B914-F1429142E41C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536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676E7A6-043B-4BC9-B6DE-9D85D3A37192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9F52-4C23-5D9B-BAA8-C015FA66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B506291-4C91-AB22-6838-EC74327BCF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9067800" cy="684200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Issue 1:</a:t>
            </a:r>
            <a:r>
              <a:rPr lang="zh-CN" altLang="en-US" sz="3600" dirty="0"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ea typeface="宋体" panose="02010600030101010101" pitchFamily="2" charset="-122"/>
              </a:rPr>
              <a:t>Architecture Diagram Review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CD09B43-CCFB-5F9B-B218-3BAF8228AF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516" y="1066862"/>
            <a:ext cx="8534176" cy="5227576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Feedback – 2.3 whole system architecture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Whole system architecture diagram is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missing </a:t>
            </a:r>
            <a:r>
              <a:rPr lang="en-US" altLang="zh-CN" sz="2400" dirty="0">
                <a:ea typeface="宋体" panose="02010600030101010101" pitchFamily="2" charset="-122"/>
              </a:rPr>
              <a:t>in some teams.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Whole system architecture must be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consistent</a:t>
            </a:r>
            <a:r>
              <a:rPr lang="en-US" altLang="zh-CN" sz="2400" dirty="0">
                <a:ea typeface="宋体" panose="02010600030101010101" pitchFamily="2" charset="-122"/>
              </a:rPr>
              <a:t> with the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class diagram </a:t>
            </a:r>
            <a:r>
              <a:rPr lang="en-US" altLang="zh-CN" sz="2400" dirty="0">
                <a:ea typeface="宋体" panose="02010600030101010101" pitchFamily="2" charset="-122"/>
              </a:rPr>
              <a:t>in 2.1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Every class in 2.1 must appear in diagram in 2.3.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Every class in 2.3 must appear in diagram in 2.1.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The whole system architecture in 2.3 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Shows how the system is divided into subsystems,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Shows how the subsystems are coupled with each other,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Contains class names, but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no attributes, operations, UI </a:t>
            </a:r>
            <a:r>
              <a:rPr lang="en-US" altLang="zh-CN" sz="1800" dirty="0">
                <a:ea typeface="宋体" panose="02010600030101010101" pitchFamily="2" charset="-122"/>
              </a:rPr>
              <a:t>or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database,</a:t>
            </a:r>
            <a:r>
              <a:rPr lang="en-US" altLang="zh-CN" sz="1800" dirty="0">
                <a:ea typeface="宋体" panose="02010600030101010101" pitchFamily="2" charset="-122"/>
              </a:rPr>
              <a:t> those things belong to Section 3 subsections.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 class cannot appear in 2 subsystems.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Otherwise, those 2 subsystems would be highly coupled together, and cohesion is low with each subsystem. </a:t>
            </a:r>
          </a:p>
          <a:p>
            <a:pPr marL="457200" lvl="1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5364" name="Date Placeholder 3">
            <a:extLst>
              <a:ext uri="{FF2B5EF4-FFF2-40B4-BE49-F238E27FC236}">
                <a16:creationId xmlns:a16="http://schemas.microsoft.com/office/drawing/2014/main" id="{5A0559CC-CA53-940C-9E58-0E41DA052E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BB4E614F-156F-4D31-B914-F1429142E41C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5365" name="Slide Number Placeholder 5">
            <a:extLst>
              <a:ext uri="{FF2B5EF4-FFF2-40B4-BE49-F238E27FC236}">
                <a16:creationId xmlns:a16="http://schemas.microsoft.com/office/drawing/2014/main" id="{C8950D6C-063A-0201-155E-4AB3FC77B15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676E7A6-043B-4BC9-B6DE-9D85D3A37192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60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9067800" cy="1143000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Issue 1:</a:t>
            </a:r>
            <a:r>
              <a:rPr lang="zh-CN" altLang="en-US" sz="3600" dirty="0"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ea typeface="宋体" panose="02010600030101010101" pitchFamily="2" charset="-122"/>
              </a:rPr>
              <a:t>Architecture Diagram Review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3550" y="1295456"/>
            <a:ext cx="8229600" cy="487667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Feedback – 3.X Subsystems UI 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Subsystems’ UI must be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consistent</a:t>
            </a:r>
            <a:r>
              <a:rPr lang="en-US" altLang="zh-CN" sz="2400" dirty="0">
                <a:ea typeface="宋体" panose="02010600030101010101" pitchFamily="2" charset="-122"/>
              </a:rPr>
              <a:t> with the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use case diagram i</a:t>
            </a:r>
            <a:r>
              <a:rPr lang="en-US" altLang="zh-CN" sz="2400" dirty="0">
                <a:ea typeface="宋体" panose="02010600030101010101" pitchFamily="2" charset="-122"/>
              </a:rPr>
              <a:t>n 2.1.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All UIs in subsystems must be from the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use case diagram </a:t>
            </a:r>
            <a:r>
              <a:rPr lang="en-US" altLang="zh-CN" sz="2000" dirty="0">
                <a:ea typeface="宋体" panose="02010600030101010101" pitchFamily="2" charset="-122"/>
              </a:rPr>
              <a:t>in 2.1.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Except for </a:t>
            </a:r>
            <a:r>
              <a:rPr lang="en-US" altLang="zh-CN" sz="1600" dirty="0" err="1">
                <a:ea typeface="宋体" panose="02010600030101010101" pitchFamily="2" charset="-122"/>
              </a:rPr>
              <a:t>HomeUI</a:t>
            </a:r>
            <a:r>
              <a:rPr lang="en-US" altLang="zh-CN" sz="1600" dirty="0">
                <a:ea typeface="宋体" panose="02010600030101010101" pitchFamily="2" charset="-122"/>
              </a:rPr>
              <a:t> or </a:t>
            </a:r>
            <a:r>
              <a:rPr lang="en-US" altLang="zh-CN" sz="1600" dirty="0" err="1">
                <a:ea typeface="宋体" panose="02010600030101010101" pitchFamily="2" charset="-122"/>
              </a:rPr>
              <a:t>MainUI</a:t>
            </a:r>
            <a:r>
              <a:rPr lang="en-US" altLang="zh-CN" sz="1600" dirty="0">
                <a:ea typeface="宋体" panose="02010600030101010101" pitchFamily="2" charset="-122"/>
              </a:rPr>
              <a:t>, which are links to home pages.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Every use case </a:t>
            </a:r>
            <a:r>
              <a:rPr lang="en-US" altLang="zh-CN" sz="2000" dirty="0">
                <a:ea typeface="宋体" panose="02010600030101010101" pitchFamily="2" charset="-122"/>
              </a:rPr>
              <a:t>in the use case diagram must appear in the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UI layer </a:t>
            </a:r>
            <a:r>
              <a:rPr lang="en-US" altLang="zh-CN" sz="2000" dirty="0">
                <a:ea typeface="宋体" panose="02010600030101010101" pitchFamily="2" charset="-122"/>
              </a:rPr>
              <a:t>of a subsystem.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 use case cannot appear in 2 different subsystems.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Otherwise, the 2 subsystems are highly coupled together, and cohesion is low with each subsystem. 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15364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BB4E614F-156F-4D31-B914-F1429142E41C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536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676E7A6-043B-4BC9-B6DE-9D85D3A37192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79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9067800" cy="836596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Issue 1:</a:t>
            </a:r>
            <a:r>
              <a:rPr lang="zh-CN" altLang="en-US" sz="3600" dirty="0"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ea typeface="宋体" panose="02010600030101010101" pitchFamily="2" charset="-122"/>
              </a:rPr>
              <a:t>Architecture Diagram Review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6267" y="1111234"/>
            <a:ext cx="8229600" cy="518320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Feedback – 3.X.2 database tables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A table’s attributes must match the class’ attributes.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Especially so in the detailed design we do this week.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DBMS class thoroughly covered how to use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tables</a:t>
            </a:r>
            <a:r>
              <a:rPr lang="en-US" altLang="zh-CN" sz="2400" dirty="0">
                <a:ea typeface="宋体" panose="02010600030101010101" pitchFamily="2" charset="-122"/>
              </a:rPr>
              <a:t> to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represent associations </a:t>
            </a:r>
            <a:r>
              <a:rPr lang="en-US" altLang="zh-CN" sz="2400" dirty="0">
                <a:ea typeface="宋体" panose="02010600030101010101" pitchFamily="2" charset="-122"/>
              </a:rPr>
              <a:t>between entities.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We briefly covered this in SE Lecture 10.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Recall the 10 cases in DBMS class; following 3 are most useful.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For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1 to many </a:t>
            </a:r>
            <a:r>
              <a:rPr lang="en-US" altLang="zh-CN" sz="1800" dirty="0">
                <a:ea typeface="宋体" panose="02010600030101010101" pitchFamily="2" charset="-122"/>
              </a:rPr>
              <a:t>relation, the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foreign key </a:t>
            </a:r>
            <a:r>
              <a:rPr lang="en-US" altLang="zh-CN" sz="1800" dirty="0">
                <a:ea typeface="宋体" panose="02010600030101010101" pitchFamily="2" charset="-122"/>
              </a:rPr>
              <a:t>from the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“1” </a:t>
            </a:r>
            <a:r>
              <a:rPr lang="en-US" altLang="zh-CN" sz="1800" dirty="0">
                <a:ea typeface="宋体" panose="02010600030101010101" pitchFamily="2" charset="-122"/>
              </a:rPr>
              <a:t>table is “marked for association” in the “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many</a:t>
            </a:r>
            <a:r>
              <a:rPr lang="en-US" altLang="zh-CN" sz="1800" dirty="0">
                <a:ea typeface="宋体" panose="02010600030101010101" pitchFamily="2" charset="-122"/>
              </a:rPr>
              <a:t>” table.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For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many to many </a:t>
            </a:r>
            <a:r>
              <a:rPr lang="en-US" altLang="zh-CN" sz="1800" dirty="0">
                <a:ea typeface="宋体" panose="02010600030101010101" pitchFamily="2" charset="-122"/>
              </a:rPr>
              <a:t>relation, the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foreign keys </a:t>
            </a:r>
            <a:r>
              <a:rPr lang="en-US" altLang="zh-CN" sz="1800" dirty="0">
                <a:ea typeface="宋体" panose="02010600030101010101" pitchFamily="2" charset="-122"/>
              </a:rPr>
              <a:t>for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both tables </a:t>
            </a:r>
            <a:r>
              <a:rPr lang="en-US" altLang="zh-CN" sz="1800" dirty="0">
                <a:ea typeface="宋体" panose="02010600030101010101" pitchFamily="2" charset="-122"/>
              </a:rPr>
              <a:t>are “marked for association” in the association table.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For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inheritance</a:t>
            </a:r>
            <a:r>
              <a:rPr lang="en-US" altLang="zh-CN" sz="1800" dirty="0">
                <a:ea typeface="宋体" panose="02010600030101010101" pitchFamily="2" charset="-122"/>
              </a:rPr>
              <a:t>, we can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extend the table </a:t>
            </a:r>
            <a:r>
              <a:rPr lang="en-US" altLang="zh-CN" sz="1800" dirty="0">
                <a:ea typeface="宋体" panose="02010600030101010101" pitchFamily="2" charset="-122"/>
              </a:rPr>
              <a:t>to accommodate both  the super and sub classes.</a:t>
            </a:r>
          </a:p>
        </p:txBody>
      </p:sp>
      <p:sp>
        <p:nvSpPr>
          <p:cNvPr id="15364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BB4E614F-156F-4D31-B914-F1429142E41C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536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676E7A6-043B-4BC9-B6DE-9D85D3A37192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974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224"/>
          </a:xfrm>
        </p:spPr>
        <p:txBody>
          <a:bodyPr/>
          <a:lstStyle/>
          <a:p>
            <a:r>
              <a:rPr lang="en-US" dirty="0"/>
              <a:t>Example for struggling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52"/>
            <a:ext cx="8229600" cy="4678311"/>
          </a:xfrm>
        </p:spPr>
        <p:txBody>
          <a:bodyPr/>
          <a:lstStyle/>
          <a:p>
            <a:r>
              <a:rPr lang="en-US" sz="2800" dirty="0"/>
              <a:t>This solution is workable, courtesy of Team C08.</a:t>
            </a:r>
          </a:p>
          <a:p>
            <a:pPr lvl="1"/>
            <a:r>
              <a:rPr lang="en-US" sz="2400" dirty="0"/>
              <a:t>Beware, there are small errors in this solution.</a:t>
            </a:r>
          </a:p>
          <a:p>
            <a:pPr lvl="1"/>
            <a:r>
              <a:rPr lang="en-US" sz="2400" dirty="0"/>
              <a:t>The feedback for errors are included in the message boxes in the slides.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20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38DC69-1748-2576-B1B1-32A747CE1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50" y="60674"/>
            <a:ext cx="6291388" cy="67211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E07A37-B071-392E-9A74-9C642CA93631}"/>
              </a:ext>
            </a:extLst>
          </p:cNvPr>
          <p:cNvSpPr txBox="1"/>
          <p:nvPr/>
        </p:nvSpPr>
        <p:spPr>
          <a:xfrm>
            <a:off x="228714" y="609674"/>
            <a:ext cx="3428910" cy="380990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2.3 Overall System Architecture </a:t>
            </a:r>
          </a:p>
        </p:txBody>
      </p:sp>
    </p:spTree>
    <p:extLst>
      <p:ext uri="{BB962C8B-B14F-4D97-AF65-F5344CB8AC3E}">
        <p14:creationId xmlns:p14="http://schemas.microsoft.com/office/powerpoint/2010/main" val="2980414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A19E32-603F-4033-4048-EEB334D96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52" y="90"/>
            <a:ext cx="635973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1EEF89-9927-7767-D649-04DB38102AC4}"/>
              </a:ext>
            </a:extLst>
          </p:cNvPr>
          <p:cNvSpPr txBox="1"/>
          <p:nvPr/>
        </p:nvSpPr>
        <p:spPr>
          <a:xfrm>
            <a:off x="157934" y="533476"/>
            <a:ext cx="2285941" cy="646331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3.1 </a:t>
            </a:r>
            <a:r>
              <a:rPr lang="en-US" dirty="0" err="1"/>
              <a:t>User&amp;AllocationSub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44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ACF245-2CDA-7212-D030-56DE4E650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98" y="28034"/>
            <a:ext cx="7125365" cy="6501176"/>
          </a:xfrm>
          <a:prstGeom prst="rect">
            <a:avLst/>
          </a:prstGeom>
        </p:spPr>
      </p:pic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BD47E17-91F8-2A11-9D4C-395B5D1365EA}"/>
              </a:ext>
            </a:extLst>
          </p:cNvPr>
          <p:cNvSpPr txBox="1">
            <a:spLocks/>
          </p:cNvSpPr>
          <p:nvPr/>
        </p:nvSpPr>
        <p:spPr>
          <a:xfrm>
            <a:off x="4724396" y="4800564"/>
            <a:ext cx="4267208" cy="1523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kern="0" dirty="0"/>
              <a:t>Wrong or missing attributes for associate in a table.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kern="0" dirty="0"/>
              <a:t>For 1 to many associations, the association should be in the “many” table, with the foreign key as the association. Recall the ten cases in DBMS class.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kern="0" dirty="0"/>
              <a:t>Mentor needs to have foreign key </a:t>
            </a:r>
            <a:r>
              <a:rPr lang="en-US" sz="1200" kern="0" dirty="0" err="1"/>
              <a:t>MajorID</a:t>
            </a:r>
            <a:r>
              <a:rPr lang="en-US" sz="1200" kern="0" dirty="0"/>
              <a:t> as association.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kern="0" dirty="0"/>
              <a:t>Faculty consultant needs to have foreign key </a:t>
            </a:r>
            <a:r>
              <a:rPr lang="en-US" sz="1200" kern="0" dirty="0" err="1"/>
              <a:t>FacultyID</a:t>
            </a:r>
            <a:r>
              <a:rPr lang="en-US" sz="1200" kern="0" dirty="0"/>
              <a:t> as association.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08300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CAF99-FED6-C715-2EB7-33BD0966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0D6CC1-1157-D758-5587-78247CFDF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46" y="10160"/>
            <a:ext cx="582435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4C3C97-6914-8E2E-EAE0-C49BF085EC66}"/>
              </a:ext>
            </a:extLst>
          </p:cNvPr>
          <p:cNvSpPr txBox="1"/>
          <p:nvPr/>
        </p:nvSpPr>
        <p:spPr>
          <a:xfrm>
            <a:off x="685902" y="442834"/>
            <a:ext cx="1904950" cy="646331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3.2 </a:t>
            </a:r>
            <a:r>
              <a:rPr lang="en-US" dirty="0" err="1"/>
              <a:t>OrganizationSub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9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6852DB-F217-E183-BCEF-FDD5D7B18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70" y="457278"/>
            <a:ext cx="8089851" cy="571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55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47A51-8204-D5EC-45AC-D4D8B685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15FDB-0FA4-0DEC-275B-C90E4D7AB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12" y="747338"/>
            <a:ext cx="6402936" cy="54371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721887-6E90-D03F-EF33-6150937F9219}"/>
              </a:ext>
            </a:extLst>
          </p:cNvPr>
          <p:cNvSpPr txBox="1"/>
          <p:nvPr/>
        </p:nvSpPr>
        <p:spPr>
          <a:xfrm>
            <a:off x="3352832" y="304882"/>
            <a:ext cx="1439284" cy="369332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3.3 </a:t>
            </a:r>
            <a:r>
              <a:rPr lang="en-US" dirty="0" err="1"/>
              <a:t>MsgSub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8729590A-4366-FDDE-EA93-0F34007200AC}"/>
              </a:ext>
            </a:extLst>
          </p:cNvPr>
          <p:cNvSpPr txBox="1">
            <a:spLocks/>
          </p:cNvSpPr>
          <p:nvPr/>
        </p:nvSpPr>
        <p:spPr>
          <a:xfrm>
            <a:off x="6248356" y="1295456"/>
            <a:ext cx="2590732" cy="12277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kern="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Controls not consistent with UI’s</a:t>
            </a:r>
          </a:p>
          <a:p>
            <a:pPr marL="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kern="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Better to have </a:t>
            </a:r>
            <a:r>
              <a:rPr lang="en-US" sz="1400" kern="0" dirty="0" err="1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CommunicateCtrl</a:t>
            </a:r>
            <a:r>
              <a:rPr lang="en-US" sz="1400" kern="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rather than </a:t>
            </a:r>
            <a:r>
              <a:rPr lang="en-US" sz="1400" kern="0" dirty="0" err="1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MessageCtrl</a:t>
            </a:r>
            <a:r>
              <a:rPr lang="en-US" sz="1400" kern="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sz="1400" kern="0" dirty="0" err="1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AppointmentCtrl</a:t>
            </a:r>
            <a:endParaRPr lang="en-US" sz="1400" kern="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253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B259-8841-6457-2AE2-9976BFAA8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A3702F-C9AD-EBCD-B414-5984005C1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6" y="1102784"/>
            <a:ext cx="8701764" cy="390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34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E3AB5-2384-728C-F189-D7D9AE4E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D47C8-2130-3CAA-6C4E-C089C1E31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0" y="103700"/>
            <a:ext cx="6048588" cy="6601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66FB9B-8CA8-95DD-7E23-BD53D632DBC5}"/>
              </a:ext>
            </a:extLst>
          </p:cNvPr>
          <p:cNvSpPr txBox="1"/>
          <p:nvPr/>
        </p:nvSpPr>
        <p:spPr>
          <a:xfrm>
            <a:off x="6705544" y="914466"/>
            <a:ext cx="1820274" cy="369332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3.4 </a:t>
            </a:r>
            <a:r>
              <a:rPr lang="en-US" dirty="0" err="1"/>
              <a:t>RecordSub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229EB71E-D184-B73B-728D-1EFDAD44761D}"/>
              </a:ext>
            </a:extLst>
          </p:cNvPr>
          <p:cNvSpPr txBox="1">
            <a:spLocks/>
          </p:cNvSpPr>
          <p:nvPr/>
        </p:nvSpPr>
        <p:spPr>
          <a:xfrm>
            <a:off x="6400752" y="2133634"/>
            <a:ext cx="2590732" cy="107535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Controls not consistent with UI’s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Should have </a:t>
            </a:r>
            <a:r>
              <a:rPr lang="en-US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SearchStudentInfoCtrl</a:t>
            </a:r>
            <a:r>
              <a:rPr lang="en-US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673836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3C31-837E-DFF1-C657-DECA50E3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1E6C38-5371-CD63-27B9-25A67A15E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4" y="609674"/>
            <a:ext cx="8477711" cy="548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25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64AC-C144-95A3-CF0F-4E2BEE5D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C63710D-A9C3-CD07-33EB-C507294F7B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39738"/>
            <a:ext cx="8229600" cy="1143000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Issue 2: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Detailed Design Template Explanation</a:t>
            </a:r>
            <a:br>
              <a:rPr lang="zh-CN" altLang="en-US" sz="3600" dirty="0">
                <a:ea typeface="宋体" panose="02010600030101010101" pitchFamily="2" charset="-122"/>
              </a:rPr>
            </a:b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1443EC1-9D4F-6FC6-2C89-EE535752BB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516" y="1447800"/>
            <a:ext cx="8229600" cy="182880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Teacher explains the detailed design template. The template is available in iSpace.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Main points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Section 2.1</a:t>
            </a:r>
            <a:r>
              <a:rPr lang="en-US" altLang="zh-CN" sz="2000" dirty="0">
                <a:ea typeface="宋体" panose="02010600030101010101" pitchFamily="2" charset="-122"/>
              </a:rPr>
              <a:t>: Whole class diagram. Same as the one you put in Section 2.1 in the Architecture Design Document</a:t>
            </a:r>
          </a:p>
        </p:txBody>
      </p:sp>
      <p:sp>
        <p:nvSpPr>
          <p:cNvPr id="19460" name="Date Placeholder 3">
            <a:extLst>
              <a:ext uri="{FF2B5EF4-FFF2-40B4-BE49-F238E27FC236}">
                <a16:creationId xmlns:a16="http://schemas.microsoft.com/office/drawing/2014/main" id="{0811077F-50F6-9A94-F6E4-53C398E2A0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CEF0CD99-394C-46BD-A882-D18F0BB36D5E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9461" name="Slide Number Placeholder 5">
            <a:extLst>
              <a:ext uri="{FF2B5EF4-FFF2-40B4-BE49-F238E27FC236}">
                <a16:creationId xmlns:a16="http://schemas.microsoft.com/office/drawing/2014/main" id="{6E30BF85-9FC8-62D2-722E-3EF60FE64F9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B16BE145-F350-48EE-BC6D-476C75AB5EA4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17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4CDF64-E275-9FF2-0AB1-E1496783D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490" y="3962386"/>
            <a:ext cx="4003005" cy="20573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AD8C94-85BA-F3BC-B850-CD81EF5E8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53" y="3306751"/>
            <a:ext cx="4450947" cy="1828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kern="0" dirty="0">
                <a:solidFill>
                  <a:srgbClr val="FF0000"/>
                </a:solidFill>
                <a:ea typeface="宋体" panose="02010600030101010101" pitchFamily="2" charset="-122"/>
              </a:rPr>
              <a:t>Section 3.1</a:t>
            </a:r>
            <a:r>
              <a:rPr lang="en-US" altLang="zh-CN" sz="2000" kern="0" dirty="0">
                <a:ea typeface="宋体" panose="02010600030101010101" pitchFamily="2" charset="-122"/>
              </a:rPr>
              <a:t>: Put the class diagram restructured from Section 2.1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kern="0" dirty="0">
                <a:ea typeface="宋体" panose="02010600030101010101" pitchFamily="2" charset="-122"/>
              </a:rPr>
              <a:t>Follow the restructuring guidelines in </a:t>
            </a:r>
            <a:r>
              <a:rPr lang="en-US" altLang="zh-CN" sz="2000" kern="0" dirty="0">
                <a:solidFill>
                  <a:srgbClr val="FF0000"/>
                </a:solidFill>
                <a:ea typeface="宋体" panose="02010600030101010101" pitchFamily="2" charset="-122"/>
              </a:rPr>
              <a:t>Lecture 11</a:t>
            </a:r>
            <a:r>
              <a:rPr lang="en-US" altLang="zh-CN" sz="2000" kern="0" dirty="0">
                <a:ea typeface="宋体" panose="02010600030101010101" pitchFamily="2" charset="-122"/>
              </a:rPr>
              <a:t>, starting around</a:t>
            </a:r>
            <a:r>
              <a:rPr lang="en-US" altLang="zh-CN" sz="2000" kern="0" dirty="0">
                <a:solidFill>
                  <a:srgbClr val="FF0000"/>
                </a:solidFill>
                <a:ea typeface="宋体" panose="02010600030101010101" pitchFamily="2" charset="-122"/>
              </a:rPr>
              <a:t> slide 18. </a:t>
            </a:r>
          </a:p>
        </p:txBody>
      </p:sp>
    </p:spTree>
    <p:extLst>
      <p:ext uri="{BB962C8B-B14F-4D97-AF65-F5344CB8AC3E}">
        <p14:creationId xmlns:p14="http://schemas.microsoft.com/office/powerpoint/2010/main" val="2194028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39738"/>
            <a:ext cx="8229600" cy="1143000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Issue 2: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Detailed Design Template Explanation (Cont.)</a:t>
            </a:r>
            <a:br>
              <a:rPr lang="zh-CN" altLang="en-US" sz="2800" dirty="0">
                <a:ea typeface="宋体" panose="02010600030101010101" pitchFamily="2" charset="-122"/>
              </a:rPr>
            </a:b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6425" y="1181100"/>
            <a:ext cx="8229600" cy="4495800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Starting from 3.2, describe each class in the class diagram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Replace 3.#.1 section title with real class name to be described in this section .</a:t>
            </a:r>
          </a:p>
          <a:p>
            <a:pPr lvl="2" algn="just"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zh-CN" sz="2000" dirty="0">
                <a:ea typeface="宋体" panose="02010600030101010101" pitchFamily="2" charset="-122"/>
              </a:rPr>
              <a:t>Put the class notation with all its attributes and operations there before giving any explanation. The class should contain the finished interface design.</a:t>
            </a:r>
          </a:p>
          <a:p>
            <a:pPr lvl="3"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zh-CN" dirty="0">
                <a:ea typeface="宋体" panose="02010600030101010101" pitchFamily="2" charset="-122"/>
              </a:rPr>
              <a:t>Following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Lecture 11, </a:t>
            </a:r>
            <a:r>
              <a:rPr lang="en-US" altLang="zh-CN" dirty="0">
                <a:ea typeface="宋体" panose="02010600030101010101" pitchFamily="2" charset="-122"/>
              </a:rPr>
              <a:t>around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slides 7-17.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Explanation is optional, only needed when some new attributes or operations are added from the architecture design.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21508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45EF3591-E70A-4F0C-9539-1F0B2E0FB5FA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1509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F870A756-E58E-41D4-9677-D74E34F1F64A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18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39738"/>
            <a:ext cx="8229600" cy="1143000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Issue 2: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Detailed Design Template Explanation (Cont.)</a:t>
            </a:r>
            <a:br>
              <a:rPr lang="zh-CN" altLang="en-US" sz="2800" dirty="0">
                <a:ea typeface="宋体" panose="02010600030101010101" pitchFamily="2" charset="-122"/>
              </a:rPr>
            </a:b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0680" y="1371654"/>
            <a:ext cx="8229600" cy="4495800"/>
          </a:xfrm>
        </p:spPr>
        <p:txBody>
          <a:bodyPr/>
          <a:lstStyle/>
          <a:p>
            <a:pPr lvl="2" algn="just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Pre-, post- conditions are usually required for each operation which has pre- and post- conditions in every class. </a:t>
            </a:r>
          </a:p>
          <a:p>
            <a:pPr lvl="2" algn="just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However, as a practice in this submission, you only need to 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choose one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operation from one class </a:t>
            </a:r>
            <a:r>
              <a:rPr lang="en-US" altLang="zh-CN" sz="2000" dirty="0">
                <a:ea typeface="宋体" panose="02010600030101010101" pitchFamily="2" charset="-122"/>
              </a:rPr>
              <a:t>to give pre and post condition.</a:t>
            </a:r>
          </a:p>
          <a:p>
            <a:pPr lvl="3" algn="just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I.e., give pre and post condition to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only ONE operation </a:t>
            </a:r>
            <a:r>
              <a:rPr lang="en-US" altLang="zh-CN" sz="1800" dirty="0">
                <a:ea typeface="宋体" panose="02010600030101010101" pitchFamily="2" charset="-122"/>
              </a:rPr>
              <a:t>in the whole document.</a:t>
            </a:r>
          </a:p>
          <a:p>
            <a:pPr lvl="3" algn="just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Choose an operation that’s substantial enough to demonstration the pre and post conditions; i.e. don’t choose an operation that has NONE as the pre and post conditions.</a:t>
            </a:r>
          </a:p>
          <a:p>
            <a:pPr lvl="1" algn="just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Remember to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update </a:t>
            </a:r>
            <a:r>
              <a:rPr lang="en-US" altLang="zh-CN" sz="2000" dirty="0">
                <a:ea typeface="宋体" panose="02010600030101010101" pitchFamily="2" charset="-122"/>
              </a:rPr>
              <a:t>the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Table of Content </a:t>
            </a:r>
            <a:r>
              <a:rPr lang="en-US" altLang="zh-CN" sz="2000" dirty="0">
                <a:ea typeface="宋体" panose="02010600030101010101" pitchFamily="2" charset="-122"/>
              </a:rPr>
              <a:t>after finishing the description for all classes, </a:t>
            </a:r>
          </a:p>
          <a:p>
            <a:pPr lvl="2"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23556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5C7CD081-8201-41A1-A494-C47017205B99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3557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96F9DB86-9894-4BA4-BC1C-CB7C6D173A01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19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F3471-EA5F-44AE-A06A-4225FE92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422"/>
          </a:xfrm>
        </p:spPr>
        <p:txBody>
          <a:bodyPr/>
          <a:lstStyle/>
          <a:p>
            <a:r>
              <a:rPr lang="en-US" altLang="zh-CN" dirty="0"/>
              <a:t>Example from last year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2B6EA-460A-46E6-88D6-AAADAA229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52"/>
            <a:ext cx="8229600" cy="4678311"/>
          </a:xfrm>
        </p:spPr>
        <p:txBody>
          <a:bodyPr/>
          <a:lstStyle/>
          <a:p>
            <a:r>
              <a:rPr lang="en-US" altLang="zh-CN" sz="2400" dirty="0"/>
              <a:t>Next slide contains a restructured class diagram for Section 3.1 from a previous year.</a:t>
            </a:r>
          </a:p>
          <a:p>
            <a:r>
              <a:rPr lang="en-US" altLang="zh-CN" sz="2400" dirty="0"/>
              <a:t>If possible, try to put your entire restructured class diagram in 1 page.</a:t>
            </a:r>
          </a:p>
          <a:p>
            <a:r>
              <a:rPr lang="en-US" altLang="zh-CN" sz="2400" dirty="0"/>
              <a:t>If that’s not practical, break the diagram into 2 pages with the least amount of coupling between pages.</a:t>
            </a:r>
          </a:p>
          <a:p>
            <a:pPr lvl="1"/>
            <a:r>
              <a:rPr lang="en-US" altLang="zh-CN" sz="2000" dirty="0"/>
              <a:t>The classes near the edge of the two pages must appear on both pages, so we can see how those classes are connected to their </a:t>
            </a:r>
            <a:r>
              <a:rPr lang="en-US" altLang="zh-CN" sz="2000"/>
              <a:t>neighboring classes.</a:t>
            </a:r>
            <a:endParaRPr lang="en-US" altLang="zh-CN" sz="2000" dirty="0"/>
          </a:p>
          <a:p>
            <a:pPr lvl="1"/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9527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14416A-910D-4771-94B3-B296FF70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01" y="747576"/>
            <a:ext cx="7815738" cy="55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93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Student Task 1: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Prepare Detailed Design Document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709738"/>
            <a:ext cx="8229600" cy="4643437"/>
          </a:xfrm>
        </p:spPr>
        <p:txBody>
          <a:bodyPr/>
          <a:lstStyle/>
          <a:p>
            <a:pPr marL="457200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Students finish the Detailed Design Document according to the template.</a:t>
            </a:r>
          </a:p>
          <a:p>
            <a:pPr marL="795338" lvl="1" indent="-280988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Follow guidelines in “Issue 2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Detailed Design Template Explanation” in previous slides.</a:t>
            </a:r>
          </a:p>
          <a:p>
            <a:pPr marL="795338" lvl="1" indent="-280988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Deadline: 23:59 Saturday 25 April 2026</a:t>
            </a:r>
          </a:p>
          <a:p>
            <a:pPr marL="1195388" lvl="2" indent="-280988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You have 1 more day than usual.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Each team submits the Detailed Design document,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ONE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copy </a:t>
            </a:r>
            <a:r>
              <a:rPr lang="en-US" altLang="zh-CN" sz="2400" dirty="0">
                <a:ea typeface="宋体" panose="02010600030101010101" pitchFamily="2" charset="-122"/>
              </a:rPr>
              <a:t>into iSpace and </a:t>
            </a:r>
            <a:r>
              <a:rPr lang="en-US" altLang="zh-CN" sz="2400" dirty="0" err="1">
                <a:ea typeface="宋体" panose="02010600030101010101" pitchFamily="2" charset="-122"/>
              </a:rPr>
              <a:t>GitLab</a:t>
            </a:r>
            <a:r>
              <a:rPr lang="en-US" altLang="zh-CN" sz="2400" dirty="0">
                <a:ea typeface="宋体" panose="02010600030101010101" pitchFamily="2" charset="-122"/>
              </a:rPr>
              <a:t>.</a:t>
            </a:r>
          </a:p>
          <a:p>
            <a:pPr lvl="1"/>
            <a:r>
              <a:rPr lang="en-US" sz="2400" dirty="0"/>
              <a:t>On the cover of the documents next to the student names, leaders (with the support of most of the team) indicate how much each member contributed: Full, Fair, Little or None.</a:t>
            </a: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22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758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868422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Next Week in Lab 9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1403" y="1260570"/>
            <a:ext cx="8229600" cy="4952870"/>
          </a:xfrm>
        </p:spPr>
        <p:txBody>
          <a:bodyPr/>
          <a:lstStyle/>
          <a:p>
            <a:pPr marL="514350" indent="-457200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You will watch videos on unit testing.</a:t>
            </a:r>
          </a:p>
          <a:p>
            <a:pPr marL="514350" indent="-457200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Please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bring your earpiece to class, </a:t>
            </a:r>
            <a:r>
              <a:rPr lang="en-US" altLang="zh-CN" sz="2800" dirty="0">
                <a:ea typeface="宋体" panose="02010600030101010101" pitchFamily="2" charset="-122"/>
              </a:rPr>
              <a:t>if you don’t like the headphones in the lab. 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3316" name="Date Placeholder 3"/>
          <p:cNvSpPr txBox="1">
            <a:spLocks noGrp="1" noChangeArrowheads="1"/>
          </p:cNvSpPr>
          <p:nvPr/>
        </p:nvSpPr>
        <p:spPr bwMode="auto">
          <a:xfrm>
            <a:off x="471488" y="63309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409FE01A-6DA0-446A-A63A-4DFEA46E5845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3317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3E86C64C-224F-45E7-9319-BACA74178C2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23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339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Teachers Issue 3: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Mapping Class Diagram to Code (Can do in SE lecture.)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17638"/>
            <a:ext cx="8229600" cy="4935537"/>
          </a:xfrm>
        </p:spPr>
        <p:txBody>
          <a:bodyPr/>
          <a:lstStyle/>
          <a:p>
            <a:pPr marL="571500" indent="-45720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Next week.  Ask TA to prepare tutorial for Lab 10 Coding</a:t>
            </a:r>
          </a:p>
          <a:p>
            <a:pPr marL="571500" indent="-457200" eaLnBrk="1" hangingPunct="1">
              <a:spcBef>
                <a:spcPct val="0"/>
              </a:spcBef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marL="571500" indent="-457200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 document on “Mapping Diagram to Code” is on iSpace.</a:t>
            </a:r>
          </a:p>
          <a:p>
            <a:pPr marL="795338" lvl="1" indent="-280988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General rules are mentioned in how to mapping class diagram to code</a:t>
            </a:r>
          </a:p>
          <a:p>
            <a:pPr marL="571500" indent="-457200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Remember, besides participating classes in the class diagram, there are also control classes and boundary classes. </a:t>
            </a:r>
          </a:p>
          <a:p>
            <a:pPr marL="795338" lvl="1" indent="-280988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Fundamental rules</a:t>
            </a:r>
          </a:p>
          <a:p>
            <a:pPr marL="973138" lvl="2" indent="-177800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No participating classes in class diagram will access the control classes and boundary classes.</a:t>
            </a:r>
          </a:p>
          <a:p>
            <a:pPr marL="973138" lvl="2" indent="-177800" eaLnBrk="1" hangingPunct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All the classes in the class diagram (after restructuring) should appear in the code</a:t>
            </a:r>
          </a:p>
          <a:p>
            <a:pPr marL="457200" lvl="1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85806923-7F88-4360-BBEF-1B04B1BD53D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1B58E4F3-289C-4B2F-B483-D06F0B854C48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24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675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2826</TotalTime>
  <Pages>0</Pages>
  <Words>4118</Words>
  <Characters>0</Characters>
  <Application>Microsoft Office PowerPoint</Application>
  <DocSecurity>0</DocSecurity>
  <PresentationFormat>On-screen Show (4:3)</PresentationFormat>
  <Lines>0</Lines>
  <Paragraphs>292</Paragraphs>
  <Slides>24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等线</vt:lpstr>
      <vt:lpstr>等线 Light</vt:lpstr>
      <vt:lpstr>宋体</vt:lpstr>
      <vt:lpstr>Arial</vt:lpstr>
      <vt:lpstr>Calibri</vt:lpstr>
      <vt:lpstr>Office Theme</vt:lpstr>
      <vt:lpstr>自定义设计方案</vt:lpstr>
      <vt:lpstr>Lab 8 Detailed Design Tasks</vt:lpstr>
      <vt:lpstr>Issues</vt:lpstr>
      <vt:lpstr>Issue 1: Architecture Diagram Review</vt:lpstr>
      <vt:lpstr>Issue 1: Architecture Diagram Review</vt:lpstr>
      <vt:lpstr>Issue 1: Architecture Diagram Review</vt:lpstr>
      <vt:lpstr>Issue 1: Architecture Diagram Review</vt:lpstr>
      <vt:lpstr>Example for struggling teams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Issue 2: Detailed Design Template Explanation </vt:lpstr>
      <vt:lpstr>Issue 2: Detailed Design Template Explanation (Cont.) </vt:lpstr>
      <vt:lpstr>Issue 2: Detailed Design Template Explanation (Cont.) </vt:lpstr>
      <vt:lpstr>Example from last year</vt:lpstr>
      <vt:lpstr>PowerPoint Presentation</vt:lpstr>
      <vt:lpstr>Student Task 1: Prepare Detailed Design Document</vt:lpstr>
      <vt:lpstr>Next Week in Lab 9</vt:lpstr>
      <vt:lpstr>Teachers Issue 3: Mapping Class Diagram to Code (Can do in SE lecture.)</vt:lpstr>
    </vt:vector>
  </TitlesOfParts>
  <Company>UIC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j f</cp:lastModifiedBy>
  <cp:revision>546</cp:revision>
  <cp:lastPrinted>2019-01-21T07:39:02Z</cp:lastPrinted>
  <dcterms:created xsi:type="dcterms:W3CDTF">2008-11-17T01:56:52Z</dcterms:created>
  <dcterms:modified xsi:type="dcterms:W3CDTF">2026-04-22T14:28:27Z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2052-9.1.0.4249</vt:lpwstr>
  </property>
</Properties>
</file>