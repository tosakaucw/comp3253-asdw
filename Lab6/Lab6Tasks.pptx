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</p:sldMasterIdLst>
  <p:notesMasterIdLst>
    <p:notesMasterId r:id="rId12"/>
  </p:notesMasterIdLst>
  <p:sldIdLst>
    <p:sldId id="425" r:id="rId3"/>
    <p:sldId id="438" r:id="rId4"/>
    <p:sldId id="398" r:id="rId5"/>
    <p:sldId id="437" r:id="rId6"/>
    <p:sldId id="435" r:id="rId7"/>
    <p:sldId id="434" r:id="rId8"/>
    <p:sldId id="426" r:id="rId9"/>
    <p:sldId id="413" r:id="rId10"/>
    <p:sldId id="410" r:id="rId11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in Feng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481C3C"/>
    <a:srgbClr val="067AFA"/>
    <a:srgbClr val="A5CFFD"/>
    <a:srgbClr val="09C709"/>
    <a:srgbClr val="4A1A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833" autoAdjust="0"/>
    <p:restoredTop sz="94270" autoAdjust="0"/>
  </p:normalViewPr>
  <p:slideViewPr>
    <p:cSldViewPr>
      <p:cViewPr varScale="1">
        <p:scale>
          <a:sx n="59" d="100"/>
          <a:sy n="59" d="100"/>
        </p:scale>
        <p:origin x="320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198" cy="7619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commentAuthors" Target="commentAuthor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Header Placeholder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2763"/>
          </a:xfrm>
          <a:prstGeom prst="rect">
            <a:avLst/>
          </a:prstGeom>
          <a:noFill/>
          <a:ln>
            <a:noFill/>
          </a:ln>
        </p:spPr>
        <p:txBody>
          <a:bodyPr vert="horz" wrap="square" lIns="95483" tIns="47741" rIns="95483" bIns="47741" numCol="1" anchor="t" anchorCtr="0" compatLnSpc="1">
            <a:prstTxWarp prst="textNoShape">
              <a:avLst/>
            </a:prstTxWarp>
          </a:bodyPr>
          <a:lstStyle>
            <a:lvl1pPr defTabSz="955675" eaLnBrk="1" hangingPunct="1">
              <a:buFont typeface="Arial" charset="0"/>
              <a:buNone/>
              <a:defRPr sz="13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1" name="Date Placeholder 2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4988" cy="512763"/>
          </a:xfrm>
          <a:prstGeom prst="rect">
            <a:avLst/>
          </a:prstGeom>
          <a:noFill/>
          <a:ln>
            <a:noFill/>
          </a:ln>
        </p:spPr>
        <p:txBody>
          <a:bodyPr vert="horz" wrap="square" lIns="95483" tIns="47741" rIns="95483" bIns="47741" numCol="1" anchor="t" anchorCtr="0" compatLnSpc="1">
            <a:prstTxWarp prst="textNoShape">
              <a:avLst/>
            </a:prstTxWarp>
          </a:bodyPr>
          <a:lstStyle>
            <a:lvl1pPr algn="r" defTabSz="955675" eaLnBrk="1" hangingPunct="1">
              <a:buFont typeface="Arial" charset="0"/>
              <a:buNone/>
              <a:defRPr sz="13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fld id="{C737A495-3CC2-4D7E-B5BE-2B2C15A330D1}" type="datetimeFigureOut">
              <a:rPr lang="en-US" altLang="zh-CN"/>
              <a:pPr>
                <a:defRPr/>
              </a:pPr>
              <a:t>4/2/2026</a:t>
            </a:fld>
            <a:endParaRPr lang="en-US" altLang="zh-CN"/>
          </a:p>
        </p:txBody>
      </p:sp>
      <p:sp>
        <p:nvSpPr>
          <p:cNvPr id="10244" name="Slide Image Placeholder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Notes Placeholder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2513"/>
            <a:ext cx="5680075" cy="4605337"/>
          </a:xfrm>
          <a:prstGeom prst="rect">
            <a:avLst/>
          </a:prstGeom>
          <a:noFill/>
          <a:ln>
            <a:noFill/>
          </a:ln>
        </p:spPr>
        <p:txBody>
          <a:bodyPr vert="horz" wrap="square" lIns="95483" tIns="47741" rIns="95483" bIns="4774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2054" name="Footer Placeholder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0263"/>
            <a:ext cx="3074988" cy="512762"/>
          </a:xfrm>
          <a:prstGeom prst="rect">
            <a:avLst/>
          </a:prstGeom>
          <a:noFill/>
          <a:ln>
            <a:noFill/>
          </a:ln>
        </p:spPr>
        <p:txBody>
          <a:bodyPr vert="horz" wrap="square" lIns="95483" tIns="47741" rIns="95483" bIns="47741" numCol="1" anchor="b" anchorCtr="0" compatLnSpc="1">
            <a:prstTxWarp prst="textNoShape">
              <a:avLst/>
            </a:prstTxWarp>
          </a:bodyPr>
          <a:lstStyle>
            <a:lvl1pPr defTabSz="955675" eaLnBrk="1" hangingPunct="1">
              <a:buFont typeface="Arial" charset="0"/>
              <a:buNone/>
              <a:defRPr sz="1300">
                <a:latin typeface="Calibri" pitchFamily="34" charset="0"/>
                <a:cs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5" name="Slide Number Placeholder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0263"/>
            <a:ext cx="3074988" cy="512762"/>
          </a:xfrm>
          <a:prstGeom prst="rect">
            <a:avLst/>
          </a:prstGeom>
          <a:noFill/>
          <a:ln>
            <a:noFill/>
          </a:ln>
        </p:spPr>
        <p:txBody>
          <a:bodyPr vert="horz" wrap="square" lIns="95483" tIns="47741" rIns="95483" bIns="47741" numCol="1" anchor="b" anchorCtr="0" compatLnSpc="1">
            <a:prstTxWarp prst="textNoShape">
              <a:avLst/>
            </a:prstTxWarp>
          </a:bodyPr>
          <a:lstStyle>
            <a:lvl1pPr algn="r" defTabSz="955675" eaLnBrk="1" hangingPunct="1">
              <a:buFont typeface="Arial" panose="020B0604020202020204" pitchFamily="34" charset="0"/>
              <a:buNone/>
              <a:defRPr sz="1300">
                <a:latin typeface="Calibri" panose="020F0502020204030204" pitchFamily="34" charset="0"/>
              </a:defRPr>
            </a:lvl1pPr>
          </a:lstStyle>
          <a:p>
            <a:fld id="{9EBD3F9D-0335-49DF-A84F-12D88468DAB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64928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FED5568-AA99-4E99-A0FF-49298E0DC207}" type="slidenum">
              <a:rPr lang="en-US" altLang="zh-CN" sz="130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17838632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1. Project introduction  I simply shows the students first simple version of the project description which is on iSpace already</a:t>
            </a:r>
          </a:p>
          <a:p>
            <a:r>
              <a:rPr lang="en-US" altLang="zh-CN"/>
              <a:t>2. Interview skills introduce very common interview skills used in industry like email, phone, face to face, question list</a:t>
            </a:r>
          </a:p>
          <a:p>
            <a:r>
              <a:rPr lang="en-US" altLang="zh-CN"/>
              <a:t>3. The purpose to explain SRS is for students to further understand, before start a software development, what should be known. Students shall ask the questions so they can fill in the SRS document. So question list version 2 should be more complete and organized.  </a:t>
            </a:r>
          </a:p>
          <a:p>
            <a:r>
              <a:rPr lang="en-US" altLang="zh-CN"/>
              <a:t>4. Students should not ask the questions in the following areas. These are not issues in “Software Requirements”</a:t>
            </a:r>
          </a:p>
          <a:p>
            <a:r>
              <a:rPr lang="en-GB" altLang="zh-CN"/>
              <a:t>Cost</a:t>
            </a:r>
          </a:p>
          <a:p>
            <a:r>
              <a:rPr lang="en-GB" altLang="zh-CN"/>
              <a:t>– Delivery schedules</a:t>
            </a:r>
          </a:p>
          <a:p>
            <a:r>
              <a:rPr lang="en-GB" altLang="zh-CN"/>
              <a:t>– Reporting procedures</a:t>
            </a:r>
          </a:p>
          <a:p>
            <a:r>
              <a:rPr lang="en-GB" altLang="zh-CN"/>
              <a:t>– Software development methods</a:t>
            </a:r>
          </a:p>
          <a:p>
            <a:r>
              <a:rPr lang="en-GB" altLang="zh-CN"/>
              <a:t>– Quality assurance</a:t>
            </a:r>
          </a:p>
          <a:p>
            <a:r>
              <a:rPr lang="en-GB" altLang="zh-CN"/>
              <a:t>– Validation and verification criteria</a:t>
            </a:r>
          </a:p>
          <a:p>
            <a:r>
              <a:rPr lang="en-GB" altLang="zh-CN"/>
              <a:t>– Acceptance procedures.</a:t>
            </a:r>
          </a:p>
          <a:p>
            <a:r>
              <a:rPr lang="en-US" altLang="zh-CN"/>
              <a:t>5. So far, we will not tell students the development language that will be used. The decision on language should be put as late as possible.</a:t>
            </a:r>
          </a:p>
          <a:p>
            <a:r>
              <a:rPr lang="en-US" altLang="zh-CN"/>
              <a:t>6. We will behave in the role of customer or client who knows very little about computers. Students should ask in a way that such clients are able to understand. Therefore, they should avoid the use of jargon.</a:t>
            </a:r>
          </a:p>
          <a:p>
            <a:r>
              <a:rPr lang="en-US" altLang="zh-CN"/>
              <a:t>7. In the SRS template, there is an explanation about each section. More attentions should be paid here:</a:t>
            </a:r>
          </a:p>
          <a:p>
            <a:r>
              <a:rPr lang="en-US" altLang="zh-CN"/>
              <a:t>1)Section 1.1 is not the purpose of this project, it is the purpose of this document.</a:t>
            </a:r>
          </a:p>
          <a:p>
            <a:r>
              <a:rPr lang="en-US" altLang="zh-CN"/>
              <a:t>2)References are not software engineering books. It is about the documents in a company which is related to this system and can help understand this system. </a:t>
            </a:r>
          </a:p>
          <a:p>
            <a:r>
              <a:rPr lang="en-US" altLang="zh-CN"/>
              <a:t>3)Software interface exists only when a software system is a subsystem or a module of a whole system. 4)Hardware exists when embedded software is developed.</a:t>
            </a:r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6A3CE10-285C-418E-B23A-616F16A6F1BE}" type="slidenum">
              <a:rPr lang="en-US" altLang="zh-CN" sz="130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40387923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1. Project introduction  I simply shows the students first simple version of the project description which is on iSpace already</a:t>
            </a:r>
          </a:p>
          <a:p>
            <a:r>
              <a:rPr lang="en-US" altLang="zh-CN"/>
              <a:t>2. Interview skills introduce very common interview skills used in industry like email, phone, face to face, question list</a:t>
            </a:r>
          </a:p>
          <a:p>
            <a:r>
              <a:rPr lang="en-US" altLang="zh-CN"/>
              <a:t>3. The purpose to explain SRS is for students to further understand, before start a software development, what should be known. Students shall ask the questions so they can fill in the SRS document. So question list version 2 should be more complete and organized.  </a:t>
            </a:r>
          </a:p>
          <a:p>
            <a:r>
              <a:rPr lang="en-US" altLang="zh-CN"/>
              <a:t>4. Students should not ask the questions in the following areas. These are not issues in “Software Requirements”</a:t>
            </a:r>
          </a:p>
          <a:p>
            <a:r>
              <a:rPr lang="en-GB" altLang="zh-CN"/>
              <a:t>Cost</a:t>
            </a:r>
          </a:p>
          <a:p>
            <a:r>
              <a:rPr lang="en-GB" altLang="zh-CN"/>
              <a:t>– Delivery schedules</a:t>
            </a:r>
          </a:p>
          <a:p>
            <a:r>
              <a:rPr lang="en-GB" altLang="zh-CN"/>
              <a:t>– Reporting procedures</a:t>
            </a:r>
          </a:p>
          <a:p>
            <a:r>
              <a:rPr lang="en-GB" altLang="zh-CN"/>
              <a:t>– Software development methods</a:t>
            </a:r>
          </a:p>
          <a:p>
            <a:r>
              <a:rPr lang="en-GB" altLang="zh-CN"/>
              <a:t>– Quality assurance</a:t>
            </a:r>
          </a:p>
          <a:p>
            <a:r>
              <a:rPr lang="en-GB" altLang="zh-CN"/>
              <a:t>– Validation and verification criteria</a:t>
            </a:r>
          </a:p>
          <a:p>
            <a:r>
              <a:rPr lang="en-GB" altLang="zh-CN"/>
              <a:t>– Acceptance procedures.</a:t>
            </a:r>
          </a:p>
          <a:p>
            <a:r>
              <a:rPr lang="en-US" altLang="zh-CN"/>
              <a:t>5. So far, we will not tell students the development language that will be used. The decision on language should be put as late as possible.</a:t>
            </a:r>
          </a:p>
          <a:p>
            <a:r>
              <a:rPr lang="en-US" altLang="zh-CN"/>
              <a:t>6. We will behave in the role of customer or client who knows very little about computers. Students should ask in a way that such clients are able to understand. Therefore, they should avoid the use of jargon.</a:t>
            </a:r>
          </a:p>
          <a:p>
            <a:r>
              <a:rPr lang="en-US" altLang="zh-CN"/>
              <a:t>7. In the SRS template, there is an explanation about each section. More attentions should be paid here:</a:t>
            </a:r>
          </a:p>
          <a:p>
            <a:r>
              <a:rPr lang="en-US" altLang="zh-CN"/>
              <a:t>1)Section 1.1 is not the purpose of this project, it is the purpose of this document.</a:t>
            </a:r>
          </a:p>
          <a:p>
            <a:r>
              <a:rPr lang="en-US" altLang="zh-CN"/>
              <a:t>2)References are not software engineering books. It is about the documents in a company which is related to this system and can help understand this system. </a:t>
            </a:r>
          </a:p>
          <a:p>
            <a:r>
              <a:rPr lang="en-US" altLang="zh-CN"/>
              <a:t>3)Software interface exists only when a software system is a subsystem or a module of a whole system. 4)Hardware exists when embedded software is developed.</a:t>
            </a:r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6A3CE10-285C-418E-B23A-616F16A6F1BE}" type="slidenum">
              <a:rPr lang="en-US" altLang="zh-CN" sz="130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1327120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1. Project introduction  I simply shows the students first simple version of the project description which is on iSpace already</a:t>
            </a:r>
          </a:p>
          <a:p>
            <a:r>
              <a:rPr lang="en-US" altLang="zh-CN"/>
              <a:t>2. Interview skills introduce very common interview skills used in industry like email, phone, face to face, question list</a:t>
            </a:r>
          </a:p>
          <a:p>
            <a:r>
              <a:rPr lang="en-US" altLang="zh-CN"/>
              <a:t>3. The purpose to explain SRS is for students to further understand, before start a software development, what should be known. Students shall ask the questions so they can fill in the SRS document. So question list version 2 should be more complete and organized.  </a:t>
            </a:r>
          </a:p>
          <a:p>
            <a:r>
              <a:rPr lang="en-US" altLang="zh-CN"/>
              <a:t>4. Students should not ask the questions in the following areas. These are not issues in “Software Requirements”</a:t>
            </a:r>
          </a:p>
          <a:p>
            <a:r>
              <a:rPr lang="en-GB" altLang="zh-CN"/>
              <a:t>Cost</a:t>
            </a:r>
          </a:p>
          <a:p>
            <a:r>
              <a:rPr lang="en-GB" altLang="zh-CN"/>
              <a:t>– Delivery schedules</a:t>
            </a:r>
          </a:p>
          <a:p>
            <a:r>
              <a:rPr lang="en-GB" altLang="zh-CN"/>
              <a:t>– Reporting procedures</a:t>
            </a:r>
          </a:p>
          <a:p>
            <a:r>
              <a:rPr lang="en-GB" altLang="zh-CN"/>
              <a:t>– Software development methods</a:t>
            </a:r>
          </a:p>
          <a:p>
            <a:r>
              <a:rPr lang="en-GB" altLang="zh-CN"/>
              <a:t>– Quality assurance</a:t>
            </a:r>
          </a:p>
          <a:p>
            <a:r>
              <a:rPr lang="en-GB" altLang="zh-CN"/>
              <a:t>– Validation and verification criteria</a:t>
            </a:r>
          </a:p>
          <a:p>
            <a:r>
              <a:rPr lang="en-GB" altLang="zh-CN"/>
              <a:t>– Acceptance procedures.</a:t>
            </a:r>
          </a:p>
          <a:p>
            <a:r>
              <a:rPr lang="en-US" altLang="zh-CN"/>
              <a:t>5. So far, we will not tell students the development language that will be used. The decision on language should be put as late as possible.</a:t>
            </a:r>
          </a:p>
          <a:p>
            <a:r>
              <a:rPr lang="en-US" altLang="zh-CN"/>
              <a:t>6. We will behave in the role of customer or client who knows very little about computers. Students should ask in a way that such clients are able to understand. Therefore, they should avoid the use of jargon.</a:t>
            </a:r>
          </a:p>
          <a:p>
            <a:r>
              <a:rPr lang="en-US" altLang="zh-CN"/>
              <a:t>7. In the SRS template, there is an explanation about each section. More attentions should be paid here:</a:t>
            </a:r>
          </a:p>
          <a:p>
            <a:r>
              <a:rPr lang="en-US" altLang="zh-CN"/>
              <a:t>1)Section 1.1 is not the purpose of this project, it is the purpose of this document.</a:t>
            </a:r>
          </a:p>
          <a:p>
            <a:r>
              <a:rPr lang="en-US" altLang="zh-CN"/>
              <a:t>2)References are not software engineering books. It is about the documents in a company which is related to this system and can help understand this system. </a:t>
            </a:r>
          </a:p>
          <a:p>
            <a:r>
              <a:rPr lang="en-US" altLang="zh-CN"/>
              <a:t>3)Software interface exists only when a software system is a subsystem or a module of a whole system. 4)Hardware exists when embedded software is developed.</a:t>
            </a: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AD2BD1D-305A-4537-88A4-E10CCFCF37F2}" type="slidenum">
              <a:rPr lang="en-US" altLang="zh-CN" sz="130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2020691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1. Project introduction  I simply shows the students first simple version of the project description which is on iSpace already</a:t>
            </a:r>
          </a:p>
          <a:p>
            <a:r>
              <a:rPr lang="en-US" altLang="zh-CN"/>
              <a:t>2. Interview skills introduce very common interview skills used in industry like email, phone, face to face, question list</a:t>
            </a:r>
          </a:p>
          <a:p>
            <a:r>
              <a:rPr lang="en-US" altLang="zh-CN"/>
              <a:t>3. The purpose to explain SRS is for students to further understand, before start a software development, what should be known. Students shall ask the questions so they can fill in the SRS document. So question list version 2 should be more complete and organized.  </a:t>
            </a:r>
          </a:p>
          <a:p>
            <a:r>
              <a:rPr lang="en-US" altLang="zh-CN"/>
              <a:t>4. Students should not ask the questions in the following areas. These are not issues in “Software Requirements”</a:t>
            </a:r>
          </a:p>
          <a:p>
            <a:r>
              <a:rPr lang="en-GB" altLang="zh-CN"/>
              <a:t>Cost</a:t>
            </a:r>
          </a:p>
          <a:p>
            <a:r>
              <a:rPr lang="en-GB" altLang="zh-CN"/>
              <a:t>– Delivery schedules</a:t>
            </a:r>
          </a:p>
          <a:p>
            <a:r>
              <a:rPr lang="en-GB" altLang="zh-CN"/>
              <a:t>– Reporting procedures</a:t>
            </a:r>
          </a:p>
          <a:p>
            <a:r>
              <a:rPr lang="en-GB" altLang="zh-CN"/>
              <a:t>– Software development methods</a:t>
            </a:r>
          </a:p>
          <a:p>
            <a:r>
              <a:rPr lang="en-GB" altLang="zh-CN"/>
              <a:t>– Quality assurance</a:t>
            </a:r>
          </a:p>
          <a:p>
            <a:r>
              <a:rPr lang="en-GB" altLang="zh-CN"/>
              <a:t>– Validation and verification criteria</a:t>
            </a:r>
          </a:p>
          <a:p>
            <a:r>
              <a:rPr lang="en-GB" altLang="zh-CN"/>
              <a:t>– Acceptance procedures.</a:t>
            </a:r>
          </a:p>
          <a:p>
            <a:r>
              <a:rPr lang="en-US" altLang="zh-CN"/>
              <a:t>5. So far, we will not tell students the development language that will be used. The decision on language should be put as late as possible.</a:t>
            </a:r>
          </a:p>
          <a:p>
            <a:r>
              <a:rPr lang="en-US" altLang="zh-CN"/>
              <a:t>6. We will behave in the role of customer or client who knows very little about computers. Students should ask in a way that such clients are able to understand. Therefore, they should avoid the use of jargon.</a:t>
            </a:r>
          </a:p>
          <a:p>
            <a:r>
              <a:rPr lang="en-US" altLang="zh-CN"/>
              <a:t>7. In the SRS template, there is an explanation about each section. More attentions should be paid here:</a:t>
            </a:r>
          </a:p>
          <a:p>
            <a:r>
              <a:rPr lang="en-US" altLang="zh-CN"/>
              <a:t>1)Section 1.1 is not the purpose of this project, it is the purpose of this document.</a:t>
            </a:r>
          </a:p>
          <a:p>
            <a:r>
              <a:rPr lang="en-US" altLang="zh-CN"/>
              <a:t>2)References are not software engineering books. It is about the documents in a company which is related to this system and can help understand this system. </a:t>
            </a:r>
          </a:p>
          <a:p>
            <a:r>
              <a:rPr lang="en-US" altLang="zh-CN"/>
              <a:t>3)Software interface exists only when a software system is a subsystem or a module of a whole system. 4)Hardware exists when embedded software is developed.</a:t>
            </a: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AD2BD1D-305A-4537-88A4-E10CCFCF37F2}" type="slidenum">
              <a:rPr lang="en-US" altLang="zh-CN" sz="130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21037063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1. Project introduction  I simply shows the students first simple version of the project description which is on iSpace already</a:t>
            </a:r>
          </a:p>
          <a:p>
            <a:r>
              <a:rPr lang="en-US" altLang="zh-CN"/>
              <a:t>2. Interview skills introduce very common interview skills used in industry like email, phone, face to face, question list</a:t>
            </a:r>
          </a:p>
          <a:p>
            <a:r>
              <a:rPr lang="en-US" altLang="zh-CN"/>
              <a:t>3. The purpose to explain SRS is for students to further understand, before start a software development, what should be known. Students shall ask the questions so they can fill in the SRS document. So question list version 2 should be more complete and organized.  </a:t>
            </a:r>
          </a:p>
          <a:p>
            <a:r>
              <a:rPr lang="en-US" altLang="zh-CN"/>
              <a:t>4. Students should not ask the questions in the following areas. These are not issues in “Software Requirements”</a:t>
            </a:r>
          </a:p>
          <a:p>
            <a:r>
              <a:rPr lang="en-GB" altLang="zh-CN"/>
              <a:t>Cost</a:t>
            </a:r>
          </a:p>
          <a:p>
            <a:r>
              <a:rPr lang="en-GB" altLang="zh-CN"/>
              <a:t>– Delivery schedules</a:t>
            </a:r>
          </a:p>
          <a:p>
            <a:r>
              <a:rPr lang="en-GB" altLang="zh-CN"/>
              <a:t>– Reporting procedures</a:t>
            </a:r>
          </a:p>
          <a:p>
            <a:r>
              <a:rPr lang="en-GB" altLang="zh-CN"/>
              <a:t>– Software development methods</a:t>
            </a:r>
          </a:p>
          <a:p>
            <a:r>
              <a:rPr lang="en-GB" altLang="zh-CN"/>
              <a:t>– Quality assurance</a:t>
            </a:r>
          </a:p>
          <a:p>
            <a:r>
              <a:rPr lang="en-GB" altLang="zh-CN"/>
              <a:t>– Validation and verification criteria</a:t>
            </a:r>
          </a:p>
          <a:p>
            <a:r>
              <a:rPr lang="en-GB" altLang="zh-CN"/>
              <a:t>– Acceptance procedures.</a:t>
            </a:r>
          </a:p>
          <a:p>
            <a:r>
              <a:rPr lang="en-US" altLang="zh-CN"/>
              <a:t>5. So far, we will not tell students the development language that will be used. The decision on language should be put as late as possible.</a:t>
            </a:r>
          </a:p>
          <a:p>
            <a:r>
              <a:rPr lang="en-US" altLang="zh-CN"/>
              <a:t>6. We will behave in the role of customer or client who knows very little about computers. Students should ask in a way that such clients are able to understand. Therefore, they should avoid the use of jargon.</a:t>
            </a:r>
          </a:p>
          <a:p>
            <a:r>
              <a:rPr lang="en-US" altLang="zh-CN"/>
              <a:t>7. In the SRS template, there is an explanation about each section. More attentions should be paid here:</a:t>
            </a:r>
          </a:p>
          <a:p>
            <a:r>
              <a:rPr lang="en-US" altLang="zh-CN"/>
              <a:t>1)Section 1.1 is not the purpose of this project, it is the purpose of this document.</a:t>
            </a:r>
          </a:p>
          <a:p>
            <a:r>
              <a:rPr lang="en-US" altLang="zh-CN"/>
              <a:t>2)References are not software engineering books. It is about the documents in a company which is related to this system and can help understand this system. </a:t>
            </a:r>
          </a:p>
          <a:p>
            <a:r>
              <a:rPr lang="en-US" altLang="zh-CN"/>
              <a:t>3)Software interface exists only when a software system is a subsystem or a module of a whole system. 4)Hardware exists when embedded software is developed.</a:t>
            </a:r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5D8FB6F-BCB3-469E-8E97-39F22261184E}" type="slidenum">
              <a:rPr lang="en-US" altLang="zh-CN" sz="130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25599259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1. Project introduction  I simply shows the students first simple version of the project description which is on iSpace already</a:t>
            </a:r>
          </a:p>
          <a:p>
            <a:r>
              <a:rPr lang="en-US" altLang="zh-CN"/>
              <a:t>2. Interview skills introduce very common interview skills used in industry like email, phone, face to face, question list</a:t>
            </a:r>
          </a:p>
          <a:p>
            <a:r>
              <a:rPr lang="en-US" altLang="zh-CN"/>
              <a:t>3. The purpose to explain SRS is for students to further understand, before start a software development, what should be known. Students shall ask the questions so they can fill in the SRS document. So question list version 2 should be more complete and organized.  </a:t>
            </a:r>
          </a:p>
          <a:p>
            <a:r>
              <a:rPr lang="en-US" altLang="zh-CN"/>
              <a:t>4. Students should not ask the questions in the following areas. These are not issues in “Software Requirements”</a:t>
            </a:r>
          </a:p>
          <a:p>
            <a:r>
              <a:rPr lang="en-GB" altLang="zh-CN"/>
              <a:t>Cost</a:t>
            </a:r>
          </a:p>
          <a:p>
            <a:r>
              <a:rPr lang="en-GB" altLang="zh-CN"/>
              <a:t>– Delivery schedules</a:t>
            </a:r>
          </a:p>
          <a:p>
            <a:r>
              <a:rPr lang="en-GB" altLang="zh-CN"/>
              <a:t>– Reporting procedures</a:t>
            </a:r>
          </a:p>
          <a:p>
            <a:r>
              <a:rPr lang="en-GB" altLang="zh-CN"/>
              <a:t>– Software development methods</a:t>
            </a:r>
          </a:p>
          <a:p>
            <a:r>
              <a:rPr lang="en-GB" altLang="zh-CN"/>
              <a:t>– Quality assurance</a:t>
            </a:r>
          </a:p>
          <a:p>
            <a:r>
              <a:rPr lang="en-GB" altLang="zh-CN"/>
              <a:t>– Validation and verification criteria</a:t>
            </a:r>
          </a:p>
          <a:p>
            <a:r>
              <a:rPr lang="en-GB" altLang="zh-CN"/>
              <a:t>– Acceptance procedures.</a:t>
            </a:r>
          </a:p>
          <a:p>
            <a:r>
              <a:rPr lang="en-US" altLang="zh-CN"/>
              <a:t>5. So far, we will not tell students the development language that will be used. The decision on language should be put as late as possible.</a:t>
            </a:r>
          </a:p>
          <a:p>
            <a:r>
              <a:rPr lang="en-US" altLang="zh-CN"/>
              <a:t>6. We will behave in the role of customer or client who knows very little about computers. Students should ask in a way that such clients are able to understand. Therefore, they should avoid the use of jargon.</a:t>
            </a:r>
          </a:p>
          <a:p>
            <a:r>
              <a:rPr lang="en-US" altLang="zh-CN"/>
              <a:t>7. In the SRS template, there is an explanation about each section. More attentions should be paid here:</a:t>
            </a:r>
          </a:p>
          <a:p>
            <a:r>
              <a:rPr lang="en-US" altLang="zh-CN"/>
              <a:t>1)Section 1.1 is not the purpose of this project, it is the purpose of this document.</a:t>
            </a:r>
          </a:p>
          <a:p>
            <a:r>
              <a:rPr lang="en-US" altLang="zh-CN"/>
              <a:t>2)References are not software engineering books. It is about the documents in a company which is related to this system and can help understand this system. </a:t>
            </a:r>
          </a:p>
          <a:p>
            <a:r>
              <a:rPr lang="en-US" altLang="zh-CN"/>
              <a:t>3)Software interface exists only when a software system is a subsystem or a module of a whole system. 4)Hardware exists when embedded software is developed.</a:t>
            </a:r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556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556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63BF8CF-E775-4536-82EA-0A2BB5F0B718}" type="slidenum">
              <a:rPr lang="en-US" altLang="zh-CN" sz="130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1272500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3B81E0-C5DA-4036-A088-ED52F146BEAB}" type="datetime1">
              <a:rPr lang="en-US" altLang="zh-CN"/>
              <a:pPr>
                <a:defRPr/>
              </a:pPr>
              <a:t>4/2/2026</a:t>
            </a:fld>
            <a:endParaRPr lang="en-US" altLang="zh-CN"/>
          </a:p>
        </p:txBody>
      </p:sp>
      <p:sp>
        <p:nvSpPr>
          <p:cNvPr id="5" name="Slide Number Placeholder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170748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038A2D-FCFB-4822-BCA4-7502644641CB}" type="datetime1">
              <a:rPr lang="en-US" altLang="zh-CN"/>
              <a:pPr>
                <a:defRPr/>
              </a:pPr>
              <a:t>4/2/2026</a:t>
            </a:fld>
            <a:endParaRPr lang="en-US" altLang="zh-CN"/>
          </a:p>
        </p:txBody>
      </p:sp>
      <p:sp>
        <p:nvSpPr>
          <p:cNvPr id="5" name="Slide Number Placeholder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045854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DD7AF1-98EA-4A09-9B43-2471578D0DEC}" type="datetime1">
              <a:rPr lang="en-US" altLang="zh-CN"/>
              <a:pPr>
                <a:defRPr/>
              </a:pPr>
              <a:t>4/2/2026</a:t>
            </a:fld>
            <a:endParaRPr lang="en-US" altLang="zh-CN"/>
          </a:p>
        </p:txBody>
      </p:sp>
      <p:sp>
        <p:nvSpPr>
          <p:cNvPr id="5" name="Slide Number Placeholder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829197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27A5FD-89C6-41A8-ABE6-48F2648CB39C}" type="datetime1">
              <a:rPr lang="en-US" altLang="zh-CN"/>
              <a:pPr>
                <a:defRPr/>
              </a:pPr>
              <a:t>4/2/2026</a:t>
            </a:fld>
            <a:endParaRPr lang="en-US" altLang="zh-CN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928178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40F305-6A68-426D-9C30-6D00CDAB640B}" type="datetime1">
              <a:rPr lang="en-US" altLang="zh-CN"/>
              <a:pPr>
                <a:defRPr/>
              </a:pPr>
              <a:t>4/2/2026</a:t>
            </a:fld>
            <a:endParaRPr lang="en-US" altLang="zh-CN"/>
          </a:p>
        </p:txBody>
      </p:sp>
      <p:sp>
        <p:nvSpPr>
          <p:cNvPr id="8" name="Slide Number Placeholder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4282327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058652-274F-4055-A06A-D9553AD32783}" type="datetime1">
              <a:rPr lang="en-US" altLang="zh-CN"/>
              <a:pPr>
                <a:defRPr/>
              </a:pPr>
              <a:t>4/2/2026</a:t>
            </a:fld>
            <a:endParaRPr lang="en-US" altLang="zh-CN"/>
          </a:p>
        </p:txBody>
      </p:sp>
      <p:sp>
        <p:nvSpPr>
          <p:cNvPr id="4" name="Slide Number Placeholder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324892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A09B76-BABB-4AC7-9279-ACB5AB95E1F9}" type="datetime1">
              <a:rPr lang="en-US" altLang="zh-CN"/>
              <a:pPr>
                <a:defRPr/>
              </a:pPr>
              <a:t>4/2/2026</a:t>
            </a:fld>
            <a:endParaRPr lang="en-US" altLang="zh-CN"/>
          </a:p>
        </p:txBody>
      </p:sp>
      <p:sp>
        <p:nvSpPr>
          <p:cNvPr id="3" name="Slide Number Placeholder 5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377713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7FDC0-1A57-4966-AC4C-2FEF28757F42}" type="datetime1">
              <a:rPr lang="en-US" altLang="zh-CN"/>
              <a:pPr>
                <a:defRPr/>
              </a:pPr>
              <a:t>4/2/2026</a:t>
            </a:fld>
            <a:endParaRPr lang="en-US" altLang="zh-CN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Discrete Structure</a:t>
            </a:r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403091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1D8C3A-3660-4CA7-BF85-689A75AA8688}" type="datetime1">
              <a:rPr lang="en-US" altLang="zh-CN"/>
              <a:pPr>
                <a:defRPr/>
              </a:pPr>
              <a:t>4/2/2026</a:t>
            </a:fld>
            <a:endParaRPr lang="en-US" altLang="zh-CN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Discrete Structure</a:t>
            </a:r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656868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8AD37C-C0E7-44FC-B7D5-E91425AD82F5}" type="datetime1">
              <a:rPr lang="en-US" altLang="zh-CN"/>
              <a:pPr>
                <a:defRPr/>
              </a:pPr>
              <a:t>4/2/2026</a:t>
            </a:fld>
            <a:endParaRPr lang="en-US" altLang="zh-CN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Discrete Structure</a:t>
            </a:r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929625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pPr>
                <a:defRPr/>
              </a:pPr>
              <a:t>2026/4/2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6CBD33-7776-49B1-9508-99E38795DC5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81651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pPr>
                <a:defRPr/>
              </a:pPr>
              <a:t>2026/4/2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3A85BD-C684-4423-9F8E-F2FD6BD55535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4942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pPr>
                <a:defRPr/>
              </a:pPr>
              <a:t>2026/4/2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95CA2F-A977-4F68-85B4-C612C8C9953F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7738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pPr>
                <a:defRPr/>
              </a:pPr>
              <a:t>2026/4/2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99A8A8-BB63-4E10-A7FF-026CD61CCEC8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40377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pPr>
                <a:defRPr/>
              </a:pPr>
              <a:t>2026/4/2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0A7CA9-C633-435F-9CE1-267F79E69A3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66512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pPr>
                <a:defRPr/>
              </a:pPr>
              <a:t>2026/4/2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9C6E65-80C4-4115-B6A4-06839A774095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29701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pPr>
                <a:defRPr/>
              </a:pPr>
              <a:t>2026/4/2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F8818D-D9B4-461B-BDF8-B100BAC61D4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04312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pPr>
                <a:defRPr/>
              </a:pPr>
              <a:t>2026/4/2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F452A3-4483-47B8-8FC1-38EE75498EF2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18591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pPr>
                <a:defRPr/>
              </a:pPr>
              <a:t>2026/4/2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1F6AF6-49A3-451E-8B1B-07170DD6E96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05328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pPr>
                <a:defRPr/>
              </a:pPr>
              <a:t>2026/4/2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2EF2A0-F101-466F-ADD9-F2CFD3158622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80348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pPr>
                <a:defRPr/>
              </a:pPr>
              <a:t>2026/4/2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19718D-C64F-4497-BCDC-26D7F1476A8A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8760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Slides</a:t>
            </a:r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28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charset="0"/>
              <a:buNone/>
              <a:defRPr sz="1200">
                <a:solidFill>
                  <a:srgbClr val="898989"/>
                </a:solidFill>
                <a:latin typeface="Calibri" pitchFamily="34" charset="0"/>
                <a:ea typeface="宋体" charset="-122"/>
                <a:cs typeface="Arial" charset="0"/>
              </a:defRPr>
            </a:lvl1pPr>
          </a:lstStyle>
          <a:p>
            <a:pPr>
              <a:defRPr/>
            </a:pPr>
            <a:fld id="{748379AE-440F-4761-B994-54352EFF2E3B}" type="datetime1">
              <a:rPr lang="en-US" altLang="zh-CN"/>
              <a:pPr>
                <a:defRPr/>
              </a:pPr>
              <a:t>4/2/2026</a:t>
            </a:fld>
            <a:endParaRPr lang="en-US" altLang="zh-CN"/>
          </a:p>
        </p:txBody>
      </p:sp>
      <p:sp>
        <p:nvSpPr>
          <p:cNvPr id="1029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48000" y="624840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itchFamily="34" charset="0"/>
              <a:buNone/>
              <a:defRPr sz="1200">
                <a:solidFill>
                  <a:srgbClr val="898989"/>
                </a:solidFill>
                <a:latin typeface="+mn-lt"/>
                <a:ea typeface="SimSun" pitchFamily="2" charset="-122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Discrete Structure</a:t>
            </a:r>
          </a:p>
        </p:txBody>
      </p:sp>
      <p:sp>
        <p:nvSpPr>
          <p:cNvPr id="1030" name="Slide Number Placeholder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00800" y="62484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itchFamily="34" charset="0"/>
              <a:buNone/>
              <a:defRPr sz="1200">
                <a:solidFill>
                  <a:srgbClr val="898989"/>
                </a:solidFill>
                <a:latin typeface="+mn-lt"/>
                <a:ea typeface="SimSun" pitchFamily="2" charset="-122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#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13" r:id="rId1"/>
    <p:sldLayoutId id="2147484114" r:id="rId2"/>
    <p:sldLayoutId id="2147484115" r:id="rId3"/>
    <p:sldLayoutId id="2147484116" r:id="rId4"/>
    <p:sldLayoutId id="2147484117" r:id="rId5"/>
    <p:sldLayoutId id="2147484118" r:id="rId6"/>
    <p:sldLayoutId id="2147484119" r:id="rId7"/>
    <p:sldLayoutId id="2147484099" r:id="rId8"/>
    <p:sldLayoutId id="2147484100" r:id="rId9"/>
    <p:sldLayoutId id="2147484101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4C6B1DF-3F3F-4E76-8D20-0FCD54E68D8E}" type="datetimeFigureOut">
              <a:rPr lang="zh-CN" altLang="en-US"/>
              <a:pPr>
                <a:defRPr/>
              </a:pPr>
              <a:t>2026/4/2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D744A336-3302-411B-91B1-5356FAB95B0B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02" r:id="rId1"/>
    <p:sldLayoutId id="2147484103" r:id="rId2"/>
    <p:sldLayoutId id="2147484104" r:id="rId3"/>
    <p:sldLayoutId id="2147484105" r:id="rId4"/>
    <p:sldLayoutId id="2147484106" r:id="rId5"/>
    <p:sldLayoutId id="2147484107" r:id="rId6"/>
    <p:sldLayoutId id="2147484108" r:id="rId7"/>
    <p:sldLayoutId id="2147484109" r:id="rId8"/>
    <p:sldLayoutId id="2147484110" r:id="rId9"/>
    <p:sldLayoutId id="2147484111" r:id="rId10"/>
    <p:sldLayoutId id="2147484112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2057400"/>
            <a:ext cx="6858000" cy="1432322"/>
          </a:xfrm>
        </p:spPr>
        <p:txBody>
          <a:bodyPr/>
          <a:lstStyle/>
          <a:p>
            <a:br>
              <a:rPr lang="en-US" dirty="0"/>
            </a:br>
            <a:r>
              <a:rPr lang="en-US" dirty="0"/>
              <a:t>Lab 6 Tasks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Advanced Workshop</a:t>
            </a:r>
          </a:p>
          <a:p>
            <a:r>
              <a:rPr lang="en-US" dirty="0"/>
              <a:t>Spring 2026</a:t>
            </a:r>
          </a:p>
        </p:txBody>
      </p:sp>
    </p:spTree>
    <p:extLst>
      <p:ext uri="{BB962C8B-B14F-4D97-AF65-F5344CB8AC3E}">
        <p14:creationId xmlns:p14="http://schemas.microsoft.com/office/powerpoint/2010/main" val="1604184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1196D-2BAB-40DD-A250-54A1DA8F3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4466"/>
            <a:ext cx="8229600" cy="5211697"/>
          </a:xfrm>
        </p:spPr>
        <p:txBody>
          <a:bodyPr/>
          <a:lstStyle/>
          <a:p>
            <a:r>
              <a:rPr lang="en-US"/>
              <a:t>SE Assignment </a:t>
            </a:r>
            <a:r>
              <a:rPr lang="en-US" dirty="0"/>
              <a:t>4 (from Lecture 6) has been released in iSpace.</a:t>
            </a:r>
          </a:p>
        </p:txBody>
      </p:sp>
    </p:spTree>
    <p:extLst>
      <p:ext uri="{BB962C8B-B14F-4D97-AF65-F5344CB8AC3E}">
        <p14:creationId xmlns:p14="http://schemas.microsoft.com/office/powerpoint/2010/main" val="2006299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C00000"/>
                </a:solidFill>
                <a:ea typeface="宋体" panose="02010600030101010101" pitchFamily="2" charset="-122"/>
              </a:rPr>
              <a:t>Tasks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81110" y="1525588"/>
            <a:ext cx="8319978" cy="4341748"/>
          </a:xfrm>
        </p:spPr>
        <p:txBody>
          <a:bodyPr/>
          <a:lstStyle/>
          <a:p>
            <a:pPr marL="457200" indent="-457200" eaLnBrk="1" hangingPunct="1">
              <a:spcBef>
                <a:spcPts val="600"/>
              </a:spcBef>
              <a:buFont typeface="Calibri" panose="020F0502020204030204" pitchFamily="34" charset="0"/>
              <a:buAutoNum type="arabicPeriod"/>
            </a:pPr>
            <a:r>
              <a:rPr lang="en-US" altLang="zh-CN" sz="2800" dirty="0">
                <a:ea typeface="宋体" panose="02010600030101010101" pitchFamily="2" charset="-122"/>
              </a:rPr>
              <a:t>SRS partial document </a:t>
            </a:r>
            <a:r>
              <a:rPr lang="zh-CN" altLang="en-US" sz="2800" dirty="0">
                <a:ea typeface="宋体" panose="02010600030101010101" pitchFamily="2" charset="-122"/>
              </a:rPr>
              <a:t>review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 marL="857250" lvl="1" indent="-457200" eaLnBrk="1" hangingPunct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ea typeface="宋体" panose="02010600030101010101" pitchFamily="2" charset="-122"/>
              </a:rPr>
              <a:t>Feedback from last week’s submission</a:t>
            </a:r>
          </a:p>
          <a:p>
            <a:pPr marL="457200" indent="-457200" eaLnBrk="1" hangingPunct="1">
              <a:spcBef>
                <a:spcPts val="600"/>
              </a:spcBef>
              <a:buFont typeface="Calibri" panose="020F0502020204030204" pitchFamily="34" charset="0"/>
              <a:buAutoNum type="arabicPeriod"/>
            </a:pPr>
            <a:r>
              <a:rPr lang="en-US" altLang="zh-CN" sz="2800" dirty="0">
                <a:ea typeface="宋体" panose="02010600030101010101" pitchFamily="2" charset="-122"/>
              </a:rPr>
              <a:t>Students</a:t>
            </a:r>
          </a:p>
          <a:p>
            <a:pPr marL="857250" lvl="1" indent="-457200" eaLnBrk="1" hangingPunct="1">
              <a:spcBef>
                <a:spcPts val="600"/>
              </a:spcBef>
              <a:buFont typeface="+mj-lt"/>
              <a:buAutoNum type="alphaUcPeriod"/>
            </a:pPr>
            <a:r>
              <a:rPr lang="en-US" altLang="zh-CN" sz="2400" dirty="0">
                <a:ea typeface="宋体" panose="02010600030101010101" pitchFamily="2" charset="-122"/>
              </a:rPr>
              <a:t>Update your last week’s submission according to feedback</a:t>
            </a:r>
          </a:p>
          <a:p>
            <a:pPr marL="857250" lvl="1" indent="-457200" eaLnBrk="1" hangingPunct="1">
              <a:spcBef>
                <a:spcPts val="600"/>
              </a:spcBef>
              <a:buFont typeface="Calibri" panose="020F0502020204030204" pitchFamily="34" charset="0"/>
              <a:buAutoNum type="alphaUcPeriod"/>
            </a:pPr>
            <a:r>
              <a:rPr lang="en-US" altLang="zh-CN" sz="2400" dirty="0">
                <a:ea typeface="宋体" panose="02010600030101010101" pitchFamily="2" charset="-122"/>
              </a:rPr>
              <a:t>Prepare Class Diagram </a:t>
            </a:r>
          </a:p>
          <a:p>
            <a:pPr marL="857250" lvl="1" indent="-457200" eaLnBrk="1" hangingPunct="1">
              <a:spcBef>
                <a:spcPts val="600"/>
              </a:spcBef>
              <a:buFont typeface="Calibri" panose="020F0502020204030204" pitchFamily="34" charset="0"/>
              <a:buAutoNum type="alphaUcPeriod"/>
            </a:pPr>
            <a:r>
              <a:rPr lang="en-US" altLang="zh-CN" sz="2400" dirty="0">
                <a:ea typeface="宋体" panose="02010600030101010101" pitchFamily="2" charset="-122"/>
              </a:rPr>
              <a:t>Prepare Sequence diagram for use case(s)</a:t>
            </a:r>
          </a:p>
        </p:txBody>
      </p:sp>
      <p:sp>
        <p:nvSpPr>
          <p:cNvPr id="13316" name="Date Placeholder 3"/>
          <p:cNvSpPr txBox="1">
            <a:spLocks noGrp="1" noChangeArrowheads="1"/>
          </p:cNvSpPr>
          <p:nvPr/>
        </p:nvSpPr>
        <p:spPr bwMode="auto">
          <a:xfrm>
            <a:off x="471488" y="63309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2B063E19-29BE-4984-BB3C-5FF11E931BB8}" type="datetime1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4/2/2026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  <p:sp>
        <p:nvSpPr>
          <p:cNvPr id="13317" name="Slide Number Placeholder 5"/>
          <p:cNvSpPr txBox="1">
            <a:spLocks noGrp="1" noChangeArrowheads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072F1DD0-29D6-41B7-8C20-0D3A7C4A866F}" type="slidenum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3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610600" cy="716026"/>
          </a:xfrm>
        </p:spPr>
        <p:txBody>
          <a:bodyPr/>
          <a:lstStyle/>
          <a:p>
            <a:r>
              <a:rPr lang="en-US" altLang="zh-CN" sz="3200" dirty="0">
                <a:solidFill>
                  <a:srgbClr val="FF0000"/>
                </a:solidFill>
                <a:ea typeface="宋体" panose="02010600030101010101" pitchFamily="2" charset="-122"/>
              </a:rPr>
              <a:t>Task 1A:</a:t>
            </a:r>
            <a:r>
              <a:rPr lang="zh-CN" altLang="en-US" sz="3200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3200" dirty="0">
                <a:solidFill>
                  <a:srgbClr val="FF0000"/>
                </a:solidFill>
                <a:ea typeface="宋体" panose="02010600030101010101" pitchFamily="2" charset="-122"/>
              </a:rPr>
              <a:t>Feedback</a:t>
            </a:r>
            <a:endParaRPr lang="en-US" altLang="zh-CN" sz="400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066862"/>
            <a:ext cx="8229600" cy="4876672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zh-CN" sz="2800" dirty="0"/>
              <a:t>Lab 5 has not be graded yet.</a:t>
            </a:r>
          </a:p>
          <a:p>
            <a:pPr lvl="1">
              <a:spcBef>
                <a:spcPts val="600"/>
              </a:spcBef>
            </a:pPr>
            <a:r>
              <a:rPr lang="en-US" altLang="zh-CN" sz="2400" dirty="0"/>
              <a:t>Grading for Lab 5 (complete transition diagrams) should be completed next week during Reading Week.</a:t>
            </a:r>
          </a:p>
        </p:txBody>
      </p:sp>
      <p:sp>
        <p:nvSpPr>
          <p:cNvPr id="15364" name="Date Placeholder 3"/>
          <p:cNvSpPr txBox="1">
            <a:spLocks noGrp="1" noChangeArrowheads="1"/>
          </p:cNvSpPr>
          <p:nvPr/>
        </p:nvSpPr>
        <p:spPr bwMode="auto">
          <a:xfrm>
            <a:off x="609600" y="6294438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C70B2C23-934F-4DE1-B294-7EB12BE8FD6E}" type="datetime1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4/2/2026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  <p:sp>
        <p:nvSpPr>
          <p:cNvPr id="15365" name="Slide Number Placeholder 5"/>
          <p:cNvSpPr txBox="1">
            <a:spLocks noGrp="1" noChangeArrowheads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9FDCFE00-2C2B-4621-9745-8ABEA412B1C2}" type="slidenum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4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53034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610600" cy="716026"/>
          </a:xfrm>
        </p:spPr>
        <p:txBody>
          <a:bodyPr/>
          <a:lstStyle/>
          <a:p>
            <a:r>
              <a:rPr lang="en-US" altLang="zh-CN" sz="3200" dirty="0">
                <a:solidFill>
                  <a:srgbClr val="FF0000"/>
                </a:solidFill>
                <a:ea typeface="宋体" panose="02010600030101010101" pitchFamily="2" charset="-122"/>
              </a:rPr>
              <a:t>Task 1A:</a:t>
            </a:r>
            <a:r>
              <a:rPr lang="zh-CN" altLang="en-US" sz="3200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3200" dirty="0">
                <a:solidFill>
                  <a:srgbClr val="FF0000"/>
                </a:solidFill>
                <a:ea typeface="宋体" panose="02010600030101010101" pitchFamily="2" charset="-122"/>
              </a:rPr>
              <a:t>Feedback</a:t>
            </a:r>
            <a:endParaRPr lang="en-US" altLang="zh-CN" sz="400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066862"/>
            <a:ext cx="8229600" cy="4876672"/>
          </a:xfrm>
        </p:spPr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en-US" altLang="zh-CN" sz="2800" dirty="0"/>
              <a:t>Some important points mentioned in </a:t>
            </a:r>
            <a:r>
              <a:rPr lang="en-US" altLang="zh-CN" sz="2800" dirty="0">
                <a:solidFill>
                  <a:srgbClr val="FF0000"/>
                </a:solidFill>
              </a:rPr>
              <a:t>last lab</a:t>
            </a:r>
          </a:p>
          <a:p>
            <a:pPr>
              <a:spcBef>
                <a:spcPts val="600"/>
              </a:spcBef>
            </a:pPr>
            <a:r>
              <a:rPr lang="en-US" altLang="zh-CN" sz="2400" kern="1200" dirty="0">
                <a:solidFill>
                  <a:prstClr val="black"/>
                </a:solidFill>
                <a:latin typeface="+mn-ea"/>
              </a:rPr>
              <a:t>All states in the</a:t>
            </a:r>
            <a:r>
              <a:rPr lang="en-US" altLang="zh-CN" sz="2400" kern="1200" dirty="0">
                <a:solidFill>
                  <a:prstClr val="black"/>
                </a:solidFill>
                <a:latin typeface="+mn-ea"/>
                <a:ea typeface="+mn-ea"/>
                <a:cs typeface="+mn-cs"/>
              </a:rPr>
              <a:t> transition diagram and their corresponding UIs must </a:t>
            </a:r>
            <a:r>
              <a:rPr lang="en-US" altLang="zh-CN" sz="2400" kern="1200" dirty="0">
                <a:solidFill>
                  <a:srgbClr val="FF0000"/>
                </a:solidFill>
                <a:latin typeface="+mn-ea"/>
                <a:ea typeface="+mn-ea"/>
                <a:cs typeface="+mn-cs"/>
              </a:rPr>
              <a:t>exactly match</a:t>
            </a:r>
            <a:r>
              <a:rPr lang="en-US" altLang="zh-CN" sz="2400" kern="1200" dirty="0">
                <a:solidFill>
                  <a:prstClr val="black"/>
                </a:solidFill>
                <a:latin typeface="+mn-ea"/>
                <a:ea typeface="+mn-ea"/>
                <a:cs typeface="+mn-cs"/>
              </a:rPr>
              <a:t>.</a:t>
            </a:r>
          </a:p>
          <a:p>
            <a:pPr lvl="1">
              <a:spcBef>
                <a:spcPts val="600"/>
              </a:spcBef>
            </a:pPr>
            <a:r>
              <a:rPr lang="en-US" altLang="zh-CN" sz="2000" kern="1200" dirty="0">
                <a:solidFill>
                  <a:prstClr val="black"/>
                </a:solidFill>
                <a:latin typeface="+mn-ea"/>
              </a:rPr>
              <a:t>The number and label must match.</a:t>
            </a:r>
          </a:p>
          <a:p>
            <a:pPr lvl="1">
              <a:spcBef>
                <a:spcPts val="600"/>
              </a:spcBef>
            </a:pPr>
            <a:r>
              <a:rPr lang="en-US" altLang="zh-CN" sz="2000" kern="1200" dirty="0">
                <a:solidFill>
                  <a:prstClr val="black"/>
                </a:solidFill>
                <a:latin typeface="+mn-ea"/>
              </a:rPr>
              <a:t>The controls must match.</a:t>
            </a:r>
          </a:p>
          <a:p>
            <a:pPr>
              <a:spcBef>
                <a:spcPts val="600"/>
              </a:spcBef>
            </a:pPr>
            <a:r>
              <a:rPr lang="en-US" altLang="zh-CN" sz="2400" kern="1200" dirty="0">
                <a:solidFill>
                  <a:prstClr val="black"/>
                </a:solidFill>
                <a:latin typeface="+mn-ea"/>
              </a:rPr>
              <a:t>All UIs are in one file, organized numerically, like</a:t>
            </a:r>
          </a:p>
          <a:p>
            <a:pPr lvl="1"/>
            <a:r>
              <a:rPr lang="en-US" sz="2000" dirty="0"/>
              <a:t>UIs for </a:t>
            </a:r>
            <a:r>
              <a:rPr lang="en-US" sz="2000" dirty="0">
                <a:solidFill>
                  <a:srgbClr val="FF0000"/>
                </a:solidFill>
              </a:rPr>
              <a:t>Login and Home Pages</a:t>
            </a:r>
            <a:r>
              <a:rPr lang="en-US" sz="2000" dirty="0"/>
              <a:t> begin with </a:t>
            </a:r>
            <a:r>
              <a:rPr lang="en-US" sz="2000" dirty="0">
                <a:solidFill>
                  <a:srgbClr val="FF0000"/>
                </a:solidFill>
              </a:rPr>
              <a:t>1</a:t>
            </a:r>
            <a:r>
              <a:rPr lang="en-US" sz="2000" dirty="0"/>
              <a:t>.</a:t>
            </a:r>
          </a:p>
          <a:p>
            <a:pPr lvl="1"/>
            <a:r>
              <a:rPr lang="en-US" sz="2000" dirty="0"/>
              <a:t>UIs for </a:t>
            </a:r>
            <a:r>
              <a:rPr lang="en-US" sz="2000" dirty="0">
                <a:solidFill>
                  <a:srgbClr val="FF0000"/>
                </a:solidFill>
              </a:rPr>
              <a:t>Search</a:t>
            </a:r>
            <a:r>
              <a:rPr lang="en-US" sz="2000" dirty="0"/>
              <a:t>, </a:t>
            </a:r>
            <a:r>
              <a:rPr lang="en-US" sz="2000" dirty="0">
                <a:solidFill>
                  <a:srgbClr val="FF0000"/>
                </a:solidFill>
              </a:rPr>
              <a:t>Edit </a:t>
            </a:r>
            <a:r>
              <a:rPr lang="en-US" sz="2000" dirty="0"/>
              <a:t>and</a:t>
            </a:r>
            <a:r>
              <a:rPr lang="en-US" sz="2000" dirty="0">
                <a:solidFill>
                  <a:srgbClr val="FF0000"/>
                </a:solidFill>
              </a:rPr>
              <a:t> Export </a:t>
            </a:r>
            <a:r>
              <a:rPr lang="en-US" sz="2000" dirty="0"/>
              <a:t>pages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begin with </a:t>
            </a:r>
            <a:r>
              <a:rPr lang="en-US" sz="2000" dirty="0">
                <a:solidFill>
                  <a:srgbClr val="FF0000"/>
                </a:solidFill>
              </a:rPr>
              <a:t>2</a:t>
            </a:r>
            <a:r>
              <a:rPr lang="en-US" sz="2000" dirty="0"/>
              <a:t>.</a:t>
            </a:r>
          </a:p>
          <a:p>
            <a:pPr lvl="1"/>
            <a:r>
              <a:rPr lang="en-US" sz="2000" dirty="0"/>
              <a:t>UIs for </a:t>
            </a:r>
            <a:r>
              <a:rPr lang="en-US" sz="2000" dirty="0">
                <a:solidFill>
                  <a:srgbClr val="FF0000"/>
                </a:solidFill>
              </a:rPr>
              <a:t>Utilities</a:t>
            </a:r>
            <a:r>
              <a:rPr lang="en-US" sz="2000" dirty="0"/>
              <a:t> begin with </a:t>
            </a:r>
            <a:r>
              <a:rPr lang="en-US" sz="2000" dirty="0">
                <a:solidFill>
                  <a:srgbClr val="FF0000"/>
                </a:solidFill>
              </a:rPr>
              <a:t>3</a:t>
            </a:r>
            <a:r>
              <a:rPr lang="en-US" sz="2000" dirty="0"/>
              <a:t>.</a:t>
            </a:r>
          </a:p>
          <a:p>
            <a:pPr lvl="1"/>
            <a:r>
              <a:rPr lang="en-US" sz="2000" dirty="0"/>
              <a:t>UIs for </a:t>
            </a:r>
            <a:r>
              <a:rPr lang="en-US" sz="2000" dirty="0">
                <a:solidFill>
                  <a:srgbClr val="FF0000"/>
                </a:solidFill>
              </a:rPr>
              <a:t>Admin </a:t>
            </a:r>
            <a:r>
              <a:rPr lang="en-US" sz="2000" dirty="0"/>
              <a:t>and</a:t>
            </a:r>
            <a:r>
              <a:rPr lang="en-US" sz="2000" dirty="0">
                <a:solidFill>
                  <a:srgbClr val="FF0000"/>
                </a:solidFill>
              </a:rPr>
              <a:t> Maintenances </a:t>
            </a:r>
            <a:r>
              <a:rPr lang="en-US" sz="2000" dirty="0"/>
              <a:t>begin with </a:t>
            </a:r>
            <a:r>
              <a:rPr lang="en-US" sz="2000" dirty="0">
                <a:solidFill>
                  <a:srgbClr val="FF0000"/>
                </a:solidFill>
              </a:rPr>
              <a:t>4</a:t>
            </a:r>
            <a:r>
              <a:rPr lang="en-US" sz="2000" dirty="0"/>
              <a:t>. </a:t>
            </a:r>
          </a:p>
          <a:p>
            <a:pPr lvl="1"/>
            <a:r>
              <a:rPr lang="en-US" sz="2000" dirty="0"/>
              <a:t>A UI cannot appear more than once in the UI file.</a:t>
            </a:r>
          </a:p>
          <a:p>
            <a:pPr lvl="1">
              <a:spcBef>
                <a:spcPts val="600"/>
              </a:spcBef>
            </a:pPr>
            <a:endParaRPr lang="en-US" altLang="zh-CN" sz="2000" kern="12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5364" name="Date Placeholder 3"/>
          <p:cNvSpPr txBox="1">
            <a:spLocks noGrp="1" noChangeArrowheads="1"/>
          </p:cNvSpPr>
          <p:nvPr/>
        </p:nvSpPr>
        <p:spPr bwMode="auto">
          <a:xfrm>
            <a:off x="609600" y="6294438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C70B2C23-934F-4DE1-B294-7EB12BE8FD6E}" type="datetime1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4/2/2026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  <p:sp>
        <p:nvSpPr>
          <p:cNvPr id="15365" name="Slide Number Placeholder 5"/>
          <p:cNvSpPr txBox="1">
            <a:spLocks noGrp="1" noChangeArrowheads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9FDCFE00-2C2B-4621-9745-8ABEA412B1C2}" type="slidenum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5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25425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29600" cy="1249362"/>
          </a:xfrm>
        </p:spPr>
        <p:txBody>
          <a:bodyPr/>
          <a:lstStyle/>
          <a:p>
            <a:r>
              <a:rPr lang="en-US" altLang="zh-CN" sz="3600" dirty="0">
                <a:solidFill>
                  <a:srgbClr val="FF0000"/>
                </a:solidFill>
                <a:ea typeface="宋体" panose="02010600030101010101" pitchFamily="2" charset="-122"/>
              </a:rPr>
              <a:t>Task 2A: Update your SRS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527175"/>
            <a:ext cx="8229600" cy="4826000"/>
          </a:xfrm>
        </p:spPr>
        <p:txBody>
          <a:bodyPr/>
          <a:lstStyle/>
          <a:p>
            <a:pPr marL="571500" indent="-457200" eaLnBrk="1" hangingPunct="1">
              <a:spcBef>
                <a:spcPts val="60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Update your Lab 5 submission after you receive your feedback during Reading Week next week.</a:t>
            </a:r>
          </a:p>
          <a:p>
            <a:pPr marL="971550" lvl="1" indent="-457200" eaLnBrk="1" hangingPunct="1">
              <a:spcBef>
                <a:spcPts val="6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Update next week so you won’t have too much to do when we meet in 2 weeks.</a:t>
            </a:r>
          </a:p>
          <a:p>
            <a:pPr marL="971550" lvl="1" indent="-457200" eaLnBrk="1" hangingPunct="1">
              <a:spcBef>
                <a:spcPts val="6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In 2 weeks, you will also need to update your Lab 6 submission.</a:t>
            </a:r>
          </a:p>
          <a:p>
            <a:pPr marL="971550" lvl="1" indent="-457200" eaLnBrk="1" hangingPunct="1">
              <a:spcBef>
                <a:spcPts val="600"/>
              </a:spcBef>
            </a:pPr>
            <a:endParaRPr lang="en-US" altLang="zh-CN" sz="2400" dirty="0">
              <a:ea typeface="宋体" panose="02010600030101010101" pitchFamily="2" charset="-122"/>
            </a:endParaRPr>
          </a:p>
          <a:p>
            <a:pPr marL="571500" indent="-457200" eaLnBrk="1" hangingPunct="1">
              <a:spcBef>
                <a:spcPts val="600"/>
              </a:spcBef>
            </a:pPr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25604" name="Date Placeholder 3"/>
          <p:cNvSpPr txBox="1">
            <a:spLocks noGrp="1" noChangeArrowheads="1"/>
          </p:cNvSpPr>
          <p:nvPr/>
        </p:nvSpPr>
        <p:spPr bwMode="auto">
          <a:xfrm>
            <a:off x="457200" y="63531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C0BA9F6D-7292-4584-82AD-A7B83B991335}" type="datetime1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4/2/2026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  <p:sp>
        <p:nvSpPr>
          <p:cNvPr id="25605" name="Slide Number Placeholder 5"/>
          <p:cNvSpPr txBox="1">
            <a:spLocks noGrp="1" noChangeArrowheads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60804ABA-26A7-4C34-B1D8-878B7EB37C70}" type="slidenum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6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88225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3600" dirty="0">
                <a:solidFill>
                  <a:srgbClr val="FF0000"/>
                </a:solidFill>
                <a:ea typeface="宋体" panose="02010600030101010101" pitchFamily="2" charset="-122"/>
              </a:rPr>
              <a:t>Task 2B:</a:t>
            </a:r>
            <a:r>
              <a:rPr lang="zh-CN" altLang="en-US" sz="3600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3600" dirty="0">
                <a:solidFill>
                  <a:srgbClr val="FF0000"/>
                </a:solidFill>
                <a:ea typeface="宋体" panose="02010600030101010101" pitchFamily="2" charset="-122"/>
              </a:rPr>
              <a:t>Prepare Class Diagram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527175"/>
            <a:ext cx="8229600" cy="4826000"/>
          </a:xfrm>
        </p:spPr>
        <p:txBody>
          <a:bodyPr/>
          <a:lstStyle/>
          <a:p>
            <a:pPr marL="571500" indent="-457200" eaLnBrk="1" hangingPunct="1">
              <a:spcBef>
                <a:spcPts val="60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Complete the class diagram.</a:t>
            </a:r>
          </a:p>
          <a:p>
            <a:pPr marL="971550" lvl="1" indent="-457200" eaLnBrk="1" hangingPunct="1">
              <a:spcBef>
                <a:spcPts val="6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Only the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participating classes </a:t>
            </a:r>
            <a:r>
              <a:rPr lang="en-US" altLang="zh-CN" sz="2400" dirty="0">
                <a:ea typeface="宋体" panose="02010600030101010101" pitchFamily="2" charset="-122"/>
              </a:rPr>
              <a:t>should be included in the diagram</a:t>
            </a:r>
          </a:p>
          <a:p>
            <a:pPr marL="1371600" lvl="2" indent="-457200" eaLnBrk="1" hangingPunct="1">
              <a:spcBef>
                <a:spcPts val="6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See Lectures 6 and 7</a:t>
            </a:r>
          </a:p>
          <a:p>
            <a:pPr marL="971550" lvl="1" indent="-457200" eaLnBrk="1" hangingPunct="1">
              <a:spcBef>
                <a:spcPts val="6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Corresponding important attributes and operations should be included in the classes.</a:t>
            </a:r>
          </a:p>
          <a:p>
            <a:pPr marL="1371600" lvl="2" indent="-457200" eaLnBrk="1" hangingPunct="1">
              <a:spcBef>
                <a:spcPts val="6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Important in the sense that these attributes and operations are needed to understand the class diagram.</a:t>
            </a:r>
          </a:p>
          <a:p>
            <a:pPr marL="1371600" lvl="2" indent="-457200" eaLnBrk="1" hangingPunct="1">
              <a:spcBef>
                <a:spcPts val="60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Other attributes and operations can be filled in later in the detailed design.</a:t>
            </a:r>
          </a:p>
          <a:p>
            <a:pPr marL="971550" lvl="1" indent="-457200" eaLnBrk="1" hangingPunct="1">
              <a:spcBef>
                <a:spcPts val="60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Put the class diagram in the SRS document Appendix B. (Remember to give the figure label for the diagram.)</a:t>
            </a:r>
          </a:p>
        </p:txBody>
      </p:sp>
      <p:sp>
        <p:nvSpPr>
          <p:cNvPr id="25604" name="Date Placeholder 3"/>
          <p:cNvSpPr txBox="1">
            <a:spLocks noGrp="1" noChangeArrowheads="1"/>
          </p:cNvSpPr>
          <p:nvPr/>
        </p:nvSpPr>
        <p:spPr bwMode="auto">
          <a:xfrm>
            <a:off x="457200" y="63531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C0BA9F6D-7292-4584-82AD-A7B83B991335}" type="datetime1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4/2/2026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  <p:sp>
        <p:nvSpPr>
          <p:cNvPr id="25605" name="Slide Number Placeholder 5"/>
          <p:cNvSpPr txBox="1">
            <a:spLocks noGrp="1" noChangeArrowheads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60804ABA-26A7-4C34-B1D8-878B7EB37C70}" type="slidenum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7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4805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3600" dirty="0">
                <a:solidFill>
                  <a:srgbClr val="FF0000"/>
                </a:solidFill>
                <a:ea typeface="宋体" panose="02010600030101010101" pitchFamily="2" charset="-122"/>
              </a:rPr>
              <a:t>Task 2C:</a:t>
            </a:r>
            <a:r>
              <a:rPr lang="zh-CN" altLang="en-US" sz="3600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3600" dirty="0">
                <a:solidFill>
                  <a:srgbClr val="FF0000"/>
                </a:solidFill>
                <a:ea typeface="宋体" panose="02010600030101010101" pitchFamily="2" charset="-122"/>
              </a:rPr>
              <a:t>Prepare Sequence Diagram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527175"/>
            <a:ext cx="8229600" cy="4826000"/>
          </a:xfrm>
        </p:spPr>
        <p:txBody>
          <a:bodyPr/>
          <a:lstStyle/>
          <a:p>
            <a:pPr marL="571500" indent="-457200" eaLnBrk="1" hangingPunct="1">
              <a:spcBef>
                <a:spcPct val="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Do the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 sequence diagram </a:t>
            </a:r>
            <a:r>
              <a:rPr lang="en-US" altLang="zh-CN" sz="2800" dirty="0">
                <a:ea typeface="宋体" panose="02010600030101010101" pitchFamily="2" charset="-122"/>
              </a:rPr>
              <a:t>for the mentor’s use case Search students’ info.</a:t>
            </a:r>
          </a:p>
          <a:p>
            <a:pPr marL="114300" indent="0" eaLnBrk="1" hangingPunct="1">
              <a:spcBef>
                <a:spcPct val="0"/>
              </a:spcBef>
              <a:buNone/>
            </a:pPr>
            <a:endParaRPr lang="en-US" altLang="zh-CN" sz="800" dirty="0">
              <a:ea typeface="宋体" panose="02010600030101010101" pitchFamily="2" charset="-122"/>
            </a:endParaRPr>
          </a:p>
          <a:p>
            <a:pPr marL="971550" lvl="1" indent="-457200" eaLnBrk="1" hangingPunct="1">
              <a:spcBef>
                <a:spcPct val="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Refer to Lectures 6 and Lecture 7 (including Slides 35 to 37).</a:t>
            </a:r>
          </a:p>
          <a:p>
            <a:pPr marL="971550" lvl="1" indent="-457200" eaLnBrk="1" hangingPunct="1">
              <a:spcBef>
                <a:spcPct val="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Put the diagram in the SRS Appendix B</a:t>
            </a:r>
          </a:p>
          <a:p>
            <a:pPr marL="971550" lvl="1" indent="-457200" eaLnBrk="1" hangingPunct="1">
              <a:spcBef>
                <a:spcPct val="0"/>
              </a:spcBef>
            </a:pPr>
            <a:r>
              <a:rPr lang="en-US" altLang="zh-CN" sz="2400" dirty="0">
                <a:ea typeface="宋体" panose="02010600030101010101" pitchFamily="2" charset="-122"/>
              </a:rPr>
              <a:t>Remember to give the figure label for the diagram.</a:t>
            </a:r>
          </a:p>
          <a:p>
            <a:pPr marL="971550" lvl="1" indent="-457200" eaLnBrk="1" hangingPunct="1">
              <a:spcBef>
                <a:spcPct val="0"/>
              </a:spcBef>
            </a:pPr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27652" name="Date Placeholder 3"/>
          <p:cNvSpPr txBox="1">
            <a:spLocks noGrp="1" noChangeArrowheads="1"/>
          </p:cNvSpPr>
          <p:nvPr/>
        </p:nvSpPr>
        <p:spPr bwMode="auto">
          <a:xfrm>
            <a:off x="457200" y="63531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6F1D56E6-6D46-4DF9-8D2C-A8BB227C2F17}" type="datetime1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4/2/2026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  <p:sp>
        <p:nvSpPr>
          <p:cNvPr id="27653" name="Slide Number Placeholder 5"/>
          <p:cNvSpPr txBox="1">
            <a:spLocks noGrp="1" noChangeArrowheads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E16178EE-26D3-4346-8EAC-52285BC6336B}" type="slidenum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8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17475"/>
            <a:ext cx="8229600" cy="796925"/>
          </a:xfrm>
        </p:spPr>
        <p:txBody>
          <a:bodyPr/>
          <a:lstStyle/>
          <a:p>
            <a:r>
              <a:rPr lang="en-US" altLang="zh-CN" sz="3600">
                <a:solidFill>
                  <a:srgbClr val="FF0000"/>
                </a:solidFill>
                <a:ea typeface="宋体" panose="02010600030101010101" pitchFamily="2" charset="-122"/>
              </a:rPr>
              <a:t>Submission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3550" y="1143060"/>
            <a:ext cx="8229600" cy="490214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sz="2800" dirty="0">
                <a:ea typeface="宋体" panose="02010600030101010101" pitchFamily="2" charset="-122"/>
              </a:rPr>
              <a:t>Each team (company) submits the partial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SRS</a:t>
            </a:r>
            <a:r>
              <a:rPr lang="en-US" altLang="zh-CN" sz="2800" dirty="0">
                <a:ea typeface="宋体" panose="02010600030101010101" pitchFamily="2" charset="-122"/>
              </a:rPr>
              <a:t> (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ONE</a:t>
            </a:r>
            <a:r>
              <a:rPr lang="en-US" altLang="zh-CN" sz="2800" dirty="0"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copy</a:t>
            </a:r>
            <a:r>
              <a:rPr lang="en-US" altLang="zh-CN" sz="2800" dirty="0">
                <a:ea typeface="宋体" panose="02010600030101010101" pitchFamily="2" charset="-122"/>
              </a:rPr>
              <a:t>) to iSpace and GitLab.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Deadline*: noon Sat 4 Apr 2026</a:t>
            </a:r>
          </a:p>
          <a:p>
            <a:pPr lvl="1"/>
            <a:r>
              <a:rPr lang="en-US" sz="2400" dirty="0"/>
              <a:t>On the cover of the SRS next to the student names, leaders (with the support of most of the team) indicate how much each member contributed: Full, Fair, Little or None.</a:t>
            </a:r>
          </a:p>
          <a:p>
            <a:pPr lvl="1"/>
            <a:r>
              <a:rPr lang="en-US" sz="2400" dirty="0"/>
              <a:t>Note: two grade (SE rubrics: model) will be given, one for the state class diagram and one for the sequence diagram.</a:t>
            </a:r>
            <a:endParaRPr lang="en-US" altLang="zh-CN" dirty="0">
              <a:ea typeface="宋体" panose="02010600030101010101" pitchFamily="2" charset="-122"/>
            </a:endParaRPr>
          </a:p>
          <a:p>
            <a:pPr marL="11430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endParaRPr lang="en-US" sz="1400">
              <a:solidFill>
                <a:prstClr val="black"/>
              </a:solidFill>
            </a:endParaRPr>
          </a:p>
          <a:p>
            <a:pPr marL="11430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sz="1400">
                <a:solidFill>
                  <a:prstClr val="black"/>
                </a:solidFill>
              </a:rPr>
              <a:t>* </a:t>
            </a:r>
            <a:r>
              <a:rPr lang="en-US" sz="1400" dirty="0">
                <a:solidFill>
                  <a:prstClr val="black"/>
                </a:solidFill>
              </a:rPr>
              <a:t>Usually, we give a few more minutes of grace period, in case of any network or unusual problems. But please respect the deadline; the length of the grace period is NOT guaranteed.</a:t>
            </a:r>
            <a:endParaRPr lang="en-US" sz="1400" dirty="0"/>
          </a:p>
        </p:txBody>
      </p:sp>
      <p:sp>
        <p:nvSpPr>
          <p:cNvPr id="29700" name="Date Placeholder 3"/>
          <p:cNvSpPr txBox="1">
            <a:spLocks noGrp="1" noChangeArrowheads="1"/>
          </p:cNvSpPr>
          <p:nvPr/>
        </p:nvSpPr>
        <p:spPr bwMode="auto">
          <a:xfrm>
            <a:off x="457200" y="63531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60350F6B-E59B-4939-AADB-845969D87479}" type="datetime1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4/2/2026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  <p:sp>
        <p:nvSpPr>
          <p:cNvPr id="29701" name="Slide Number Placeholder 5"/>
          <p:cNvSpPr txBox="1">
            <a:spLocks noGrp="1" noChangeArrowheads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fld id="{7ADAB489-4017-458A-B66C-C1BA77EA922D}" type="slidenum">
              <a:rPr lang="en-US" altLang="zh-CN" sz="1200">
                <a:solidFill>
                  <a:srgbClr val="898989"/>
                </a:solidFill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t>9</a:t>
            </a:fld>
            <a:endParaRPr lang="en-US" altLang="zh-CN" sz="120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Them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rial" pitchFamily="34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2303</TotalTime>
  <Pages>0</Pages>
  <Words>2430</Words>
  <Characters>0</Characters>
  <Application>Microsoft Office PowerPoint</Application>
  <DocSecurity>0</DocSecurity>
  <PresentationFormat>On-screen Show (4:3)</PresentationFormat>
  <Lines>0</Lines>
  <Paragraphs>173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等线</vt:lpstr>
      <vt:lpstr>等线 Light</vt:lpstr>
      <vt:lpstr>宋体</vt:lpstr>
      <vt:lpstr>宋体</vt:lpstr>
      <vt:lpstr>Arial</vt:lpstr>
      <vt:lpstr>Calibri</vt:lpstr>
      <vt:lpstr>Office Theme</vt:lpstr>
      <vt:lpstr>自定义设计方案</vt:lpstr>
      <vt:lpstr> Lab 6 Tasks</vt:lpstr>
      <vt:lpstr>PowerPoint Presentation</vt:lpstr>
      <vt:lpstr>Tasks</vt:lpstr>
      <vt:lpstr>Task 1A: Feedback</vt:lpstr>
      <vt:lpstr>Task 1A: Feedback</vt:lpstr>
      <vt:lpstr>Task 2A: Update your SRS</vt:lpstr>
      <vt:lpstr>Task 2B: Prepare Class Diagram</vt:lpstr>
      <vt:lpstr>Task 2C: Prepare Sequence Diagram</vt:lpstr>
      <vt:lpstr>Submission</vt:lpstr>
    </vt:vector>
  </TitlesOfParts>
  <Company>UIC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UIC</cp:lastModifiedBy>
  <cp:revision>502</cp:revision>
  <cp:lastPrinted>2019-01-21T07:39:02Z</cp:lastPrinted>
  <dcterms:created xsi:type="dcterms:W3CDTF">2008-11-17T01:56:52Z</dcterms:created>
  <dcterms:modified xsi:type="dcterms:W3CDTF">2026-04-02T00:22:55Z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2052-9.1.0.4249</vt:lpwstr>
  </property>
</Properties>
</file>