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6"/>
  </p:notesMasterIdLst>
  <p:sldIdLst>
    <p:sldId id="397" r:id="rId3"/>
    <p:sldId id="419" r:id="rId4"/>
    <p:sldId id="420" r:id="rId5"/>
    <p:sldId id="433" r:id="rId6"/>
    <p:sldId id="424" r:id="rId7"/>
    <p:sldId id="428" r:id="rId8"/>
    <p:sldId id="429" r:id="rId9"/>
    <p:sldId id="426" r:id="rId10"/>
    <p:sldId id="434" r:id="rId11"/>
    <p:sldId id="432" r:id="rId12"/>
    <p:sldId id="430" r:id="rId13"/>
    <p:sldId id="410" r:id="rId14"/>
    <p:sldId id="435" r:id="rId1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C709"/>
    <a:srgbClr val="FF3300"/>
    <a:srgbClr val="481C3C"/>
    <a:srgbClr val="067AFA"/>
    <a:srgbClr val="A5CFFD"/>
    <a:srgbClr val="4A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9" autoAdjust="0"/>
    <p:restoredTop sz="80087" autoAdjust="0"/>
  </p:normalViewPr>
  <p:slideViewPr>
    <p:cSldViewPr>
      <p:cViewPr varScale="1">
        <p:scale>
          <a:sx n="57" d="100"/>
          <a:sy n="57" d="100"/>
        </p:scale>
        <p:origin x="48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B26999E1-40BB-49FA-8A2E-2547CD2619B7}" type="datetimeFigureOut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10244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Notes Placeholder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4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buFont typeface="Arial" panose="020B0604020202020204" pitchFamily="34" charset="0"/>
              <a:buNone/>
              <a:defRPr sz="1300">
                <a:latin typeface="Calibri" panose="020F0502020204030204" pitchFamily="34" charset="0"/>
              </a:defRPr>
            </a:lvl1pPr>
          </a:lstStyle>
          <a:p>
            <a:fld id="{F8B551A3-3F34-4D1D-AC3A-CC465D2D40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18627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04862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备注占位符 104862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292" name="文本框 1048623"/>
          <p:cNvSpPr txBox="1">
            <a:spLocks noChangeArrowheads="1"/>
          </p:cNvSpPr>
          <p:nvPr/>
        </p:nvSpPr>
        <p:spPr bwMode="auto">
          <a:xfrm>
            <a:off x="4022725" y="9720263"/>
            <a:ext cx="3074988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3" tIns="47741" rIns="95483" bIns="47741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latinLnBrk="1" hangingPunct="1">
              <a:buFont typeface="Arial" panose="020B0604020202020204" pitchFamily="34" charset="0"/>
              <a:buNone/>
            </a:pPr>
            <a:fld id="{06C0BE92-42DB-44EC-89DB-49DCAF1F899F}" type="slidenum">
              <a:rPr lang="en-US" altLang="zh-CN" sz="1300">
                <a:latin typeface="Calibri" panose="020F0502020204030204" pitchFamily="34" charset="0"/>
              </a:rPr>
              <a:pPr algn="r" eaLnBrk="1" latinLnBrk="1" hangingPunct="1">
                <a:buFont typeface="Arial" panose="020B0604020202020204" pitchFamily="34" charset="0"/>
                <a:buNone/>
              </a:pPr>
              <a:t>1</a:t>
            </a:fld>
            <a:endParaRPr lang="en-US" altLang="zh-CN" sz="13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57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984A46-F444-46DD-B9D0-213C26B5D1BD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226336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533675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1594-C8E4-D373-A9B5-93690DA00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38528CBE-AE15-3AC4-CCFA-7987EB0CA9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581E2134-96AE-06EC-47AD-95F955DB5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839C7915-45D3-0508-5C89-D0A8134EC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195958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4282955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485334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548063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915720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54298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563157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367754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BAA3F1-B5E6-4196-A1A2-A50A12A29AF6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710507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BAA3F1-B5E6-4196-A1A2-A50A12A29AF6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144481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8453A-2512-43D0-B288-A977D068550B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9228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1D044-CF7B-424F-9D1B-3E3056B96186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85773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467EF-FA41-48BF-AA90-297C80FCB958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54264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32841-F8A5-4AC5-8F5B-ADE287122687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90477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DB5BD-9643-433D-8E6B-25A080C5FB3F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8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40574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96CDF-25DB-4D4E-9892-50F310AEEDB2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59669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0AAB0-2927-4E2D-B620-23E2FACC051C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3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09254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F6A0C-9BB0-4131-A81E-8D65BDC18B3E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5710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C0D26-3D8A-47D8-BC88-3D5DA12C9071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52940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4FB03-C442-4DEF-BD8B-352A59A03239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93706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C38F67-FD70-45A8-9DB2-E6E9B1A9B85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144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508D9-0414-4685-BBEB-B481FFC1CF3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789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18C4F2-B109-4846-8669-9C90860AC02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28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A7435-D40B-467D-A69B-73C04B2C967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251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23B4B-5E9F-42EC-8B30-B0207F839A0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178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3A2183-67EE-4051-9A76-88EC6D19348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443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9B2AC-25D4-401E-AD09-3DDF5B19323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8883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2A46C-D3A4-4BE6-8048-402DEAF957E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529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738361-E90A-4166-9BC8-D2C44648759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6146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7731EB-EFB6-4FEF-835F-4730D0D0E74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6959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44DE6-6B1C-49CC-9A8D-4755F02CA7E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35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Slides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solidFill>
                  <a:srgbClr val="898989"/>
                </a:solidFill>
                <a:latin typeface="Calibri" pitchFamily="34" charset="0"/>
                <a:ea typeface="宋体" charset="-122"/>
                <a:cs typeface="Arial" charset="0"/>
              </a:defRPr>
            </a:lvl1pPr>
          </a:lstStyle>
          <a:p>
            <a:pPr>
              <a:defRPr/>
            </a:pPr>
            <a:fld id="{8E2E6525-5464-41DE-956A-801BFCD4CE26}" type="datetime1">
              <a:rPr lang="en-US" altLang="zh-CN"/>
              <a:pPr>
                <a:defRPr/>
              </a:pPr>
              <a:t>4/28/2026</a:t>
            </a:fld>
            <a:endParaRPr lang="en-US" altLang="zh-CN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00800" y="62484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3" r:id="rId1"/>
    <p:sldLayoutId id="2147484254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39" r:id="rId8"/>
    <p:sldLayoutId id="2147484240" r:id="rId9"/>
    <p:sldLayoutId id="214748424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4B670E3-D5FB-480B-AD7B-F454014591B6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2" r:id="rId1"/>
    <p:sldLayoutId id="2147484243" r:id="rId2"/>
    <p:sldLayoutId id="2147484244" r:id="rId3"/>
    <p:sldLayoutId id="2147484245" r:id="rId4"/>
    <p:sldLayoutId id="2147484246" r:id="rId5"/>
    <p:sldLayoutId id="2147484247" r:id="rId6"/>
    <p:sldLayoutId id="2147484248" r:id="rId7"/>
    <p:sldLayoutId id="2147484249" r:id="rId8"/>
    <p:sldLayoutId id="2147484250" r:id="rId9"/>
    <p:sldLayoutId id="2147484251" r:id="rId10"/>
    <p:sldLayoutId id="214748425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help/idea/testing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n/python/python_classes.as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048620"/>
          <p:cNvSpPr>
            <a:spLocks noGrp="1" noChangeArrowheads="1"/>
          </p:cNvSpPr>
          <p:nvPr>
            <p:ph type="ctrTitle"/>
          </p:nvPr>
        </p:nvSpPr>
        <p:spPr>
          <a:xfrm>
            <a:off x="685800" y="1447853"/>
            <a:ext cx="7772400" cy="2152598"/>
          </a:xfrm>
        </p:spPr>
        <p:txBody>
          <a:bodyPr/>
          <a:lstStyle/>
          <a:p>
            <a:r>
              <a:rPr lang="en-US" altLang="en-US" sz="4800" dirty="0"/>
              <a:t>Lab 9 Tasks</a:t>
            </a:r>
            <a:br>
              <a:rPr lang="en-US" altLang="en-US" sz="4800" dirty="0"/>
            </a:br>
            <a:r>
              <a:rPr lang="en-US" altLang="en-US" sz="4800" dirty="0"/>
              <a:t>Unit Testing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868422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Tasks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1403" y="1260570"/>
            <a:ext cx="8229600" cy="4952870"/>
          </a:xfrm>
        </p:spPr>
        <p:txBody>
          <a:bodyPr/>
          <a:lstStyle/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Teachers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Teacher explains “Map class diagram to code”.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Teacher introduces unit testing tutorials.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Students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Students study tutorials on unit testing.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Students choose which programming language and framework to use for unit testing and coding.</a:t>
            </a:r>
          </a:p>
          <a:p>
            <a:pPr marL="857250" lvl="1" indent="-45720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Students implements unit testing for the selected one class.</a:t>
            </a:r>
            <a:endParaRPr lang="en-US" altLang="zh-CN" sz="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Students please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bring your earpiece to class, </a:t>
            </a:r>
            <a:r>
              <a:rPr lang="en-US" altLang="zh-CN" sz="2400" dirty="0">
                <a:ea typeface="宋体" panose="02010600030101010101" pitchFamily="2" charset="-122"/>
              </a:rPr>
              <a:t>if you don’t like the headphones in the lab. 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3316" name="Date Placeholder 3"/>
          <p:cNvSpPr txBox="1">
            <a:spLocks noGrp="1" noChangeArrowheads="1"/>
          </p:cNvSpPr>
          <p:nvPr/>
        </p:nvSpPr>
        <p:spPr bwMode="auto">
          <a:xfrm>
            <a:off x="471488" y="63309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409FE01A-6DA0-446A-A63A-4DFEA46E5845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3317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3E86C64C-224F-45E7-9319-BACA74178C2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84"/>
            <a:ext cx="8686800" cy="914376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Task 1A: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Mapping Class Diagram to Code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56"/>
            <a:ext cx="8229600" cy="4876672"/>
          </a:xfrm>
        </p:spPr>
        <p:txBody>
          <a:bodyPr/>
          <a:lstStyle/>
          <a:p>
            <a:pPr marL="571500" indent="-457200"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Teacher explains the document “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Mapping Diagram to Code</a:t>
            </a:r>
            <a:r>
              <a:rPr lang="en-US" altLang="zh-CN" sz="2800" dirty="0">
                <a:ea typeface="宋体" panose="02010600030101010101" pitchFamily="2" charset="-122"/>
              </a:rPr>
              <a:t>”.</a:t>
            </a:r>
          </a:p>
          <a:p>
            <a:pPr marL="795338" lvl="1" indent="-280988"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Contains general rules on mapping class diagram to code.</a:t>
            </a:r>
          </a:p>
          <a:p>
            <a:pPr marL="795338" lvl="1" indent="-280988"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Some platforms have special tools that handle (some of) these relationships.</a:t>
            </a:r>
          </a:p>
          <a:p>
            <a:pPr marL="1195388" lvl="2" indent="-280988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Need to explore that yourself. </a:t>
            </a: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1441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A7661-6636-F1A1-125A-2BE23B6C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C550037-672F-1D3A-55EC-4AAF5FD2325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84"/>
            <a:ext cx="8686800" cy="914376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Task 1A: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Mapping Class Diagram to Code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69AFBB6-CBFD-8A68-9059-2DBA20B4A6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56"/>
            <a:ext cx="8229600" cy="4876672"/>
          </a:xfrm>
        </p:spPr>
        <p:txBody>
          <a:bodyPr/>
          <a:lstStyle/>
          <a:p>
            <a:pPr marL="571500" indent="-457200"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More Rules:</a:t>
            </a:r>
          </a:p>
          <a:p>
            <a:pPr marL="795338" lvl="1" indent="-280988"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 addition to </a:t>
            </a:r>
            <a:r>
              <a:rPr lang="en-US" altLang="zh-CN" sz="2400" dirty="0">
                <a:solidFill>
                  <a:srgbClr val="067AFA"/>
                </a:solidFill>
                <a:ea typeface="宋体" panose="02010600030101010101" pitchFamily="2" charset="-122"/>
              </a:rPr>
              <a:t>participating classes </a:t>
            </a:r>
            <a:r>
              <a:rPr lang="en-US" altLang="zh-CN" sz="2400" dirty="0">
                <a:ea typeface="宋体" panose="02010600030101010101" pitchFamily="2" charset="-122"/>
              </a:rPr>
              <a:t>in the class diagram, there are also </a:t>
            </a:r>
            <a:r>
              <a:rPr lang="en-US" altLang="zh-CN" sz="2400" dirty="0">
                <a:solidFill>
                  <a:srgbClr val="067AFA"/>
                </a:solidFill>
                <a:ea typeface="宋体" panose="02010600030101010101" pitchFamily="2" charset="-122"/>
              </a:rPr>
              <a:t>control classes </a:t>
            </a:r>
            <a:r>
              <a:rPr lang="en-US" altLang="zh-CN" sz="2400" dirty="0">
                <a:ea typeface="宋体" panose="02010600030101010101" pitchFamily="2" charset="-122"/>
              </a:rPr>
              <a:t>and </a:t>
            </a:r>
            <a:r>
              <a:rPr lang="en-US" altLang="zh-CN" sz="2400" dirty="0">
                <a:solidFill>
                  <a:srgbClr val="067AFA"/>
                </a:solidFill>
                <a:ea typeface="宋体" panose="02010600030101010101" pitchFamily="2" charset="-122"/>
              </a:rPr>
              <a:t>boundary classes</a:t>
            </a:r>
            <a:r>
              <a:rPr lang="en-US" altLang="zh-CN" sz="2400" dirty="0">
                <a:ea typeface="宋体" panose="02010600030101010101" pitchFamily="2" charset="-122"/>
              </a:rPr>
              <a:t>. </a:t>
            </a:r>
          </a:p>
          <a:p>
            <a:pPr marL="795338" lvl="1" indent="-280988" eaLnBrk="1" hangingPunct="1">
              <a:spcBef>
                <a:spcPts val="600"/>
              </a:spcBef>
            </a:pP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Basic rules:</a:t>
            </a:r>
            <a:endParaRPr lang="en-US" altLang="zh-CN" sz="1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973138" lvl="2" indent="-177800" eaLnBrk="1" hangingPunct="1">
              <a:spcBef>
                <a:spcPts val="600"/>
              </a:spcBef>
            </a:pPr>
            <a:r>
              <a:rPr lang="en-US" altLang="zh-CN" dirty="0">
                <a:ea typeface="宋体" panose="02010600030101010101" pitchFamily="2" charset="-122"/>
              </a:rPr>
              <a:t>No participating classes in class diagram can access control classes and boundary classes.</a:t>
            </a:r>
          </a:p>
          <a:p>
            <a:pPr marL="1430338" lvl="3" indent="-177800" eaLnBrk="1" hangingPunct="1">
              <a:spcBef>
                <a:spcPts val="600"/>
              </a:spcBef>
            </a:pPr>
            <a:r>
              <a:rPr lang="en-US" altLang="zh-CN" dirty="0">
                <a:ea typeface="宋体" panose="02010600030101010101" pitchFamily="2" charset="-122"/>
              </a:rPr>
              <a:t>See Lecture 7 OOA example </a:t>
            </a:r>
            <a:r>
              <a:rPr lang="en-US" altLang="zh-CN" dirty="0" err="1">
                <a:ea typeface="宋体" panose="02010600030101010101" pitchFamily="2" charset="-122"/>
              </a:rPr>
              <a:t>SiS</a:t>
            </a:r>
            <a:r>
              <a:rPr lang="en-US" altLang="zh-CN" dirty="0">
                <a:ea typeface="宋体" panose="02010600030101010101" pitchFamily="2" charset="-122"/>
              </a:rPr>
              <a:t>, around Slide 36</a:t>
            </a:r>
          </a:p>
          <a:p>
            <a:pPr marL="973138" lvl="2" indent="-177800" eaLnBrk="1" hangingPunct="1">
              <a:spcBef>
                <a:spcPts val="600"/>
              </a:spcBef>
            </a:pPr>
            <a:r>
              <a:rPr lang="en-US" altLang="zh-CN" dirty="0">
                <a:ea typeface="宋体" panose="02010600030101010101" pitchFamily="2" charset="-122"/>
              </a:rPr>
              <a:t>All the classes in the class diagram (after restructuring) should appear in the code.</a:t>
            </a:r>
          </a:p>
        </p:txBody>
      </p:sp>
      <p:sp>
        <p:nvSpPr>
          <p:cNvPr id="25604" name="Date Placeholder 3">
            <a:extLst>
              <a:ext uri="{FF2B5EF4-FFF2-40B4-BE49-F238E27FC236}">
                <a16:creationId xmlns:a16="http://schemas.microsoft.com/office/drawing/2014/main" id="{EE3C9093-BEE8-7463-43C4-BA6E19D3555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>
            <a:extLst>
              <a:ext uri="{FF2B5EF4-FFF2-40B4-BE49-F238E27FC236}">
                <a16:creationId xmlns:a16="http://schemas.microsoft.com/office/drawing/2014/main" id="{B3AFCC80-87B7-6C83-B0A8-17C81C32B79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62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686800" cy="1143000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Task 1B: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Unit Testing Tutorials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6984" y="1030445"/>
            <a:ext cx="8305906" cy="544647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Test-driven development (TDD)</a:t>
            </a:r>
          </a:p>
          <a:p>
            <a:pPr marL="509587" lvl="1" indent="-342900" eaLnBrk="1" hangingPunct="1">
              <a:buFont typeface="Courier New" panose="02070309020205020404" pitchFamily="49" charset="0"/>
              <a:buChar char="o"/>
            </a:pPr>
            <a:r>
              <a:rPr lang="en-US" altLang="zh-CN" sz="2400" dirty="0">
                <a:ea typeface="宋体" panose="02010600030101010101" pitchFamily="2" charset="-122"/>
              </a:rPr>
              <a:t>Write test cases before implementing the code.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marL="688975" lvl="2" indent="-225425" eaLnBrk="1" hangingPunct="1"/>
            <a:r>
              <a:rPr lang="en-US" altLang="zh-CN" sz="2000" dirty="0">
                <a:ea typeface="宋体" panose="02010600030101010101" pitchFamily="2" charset="-122"/>
              </a:rPr>
              <a:t>At each step of writing the code, you can run the test cases to ensure your code is correct with respect to the test cases.</a:t>
            </a:r>
          </a:p>
          <a:p>
            <a:pPr marL="688975" lvl="2" indent="-225425" eaLnBrk="1" hangingPunct="1"/>
            <a:r>
              <a:rPr lang="en-US" altLang="zh-CN" sz="2000" dirty="0">
                <a:ea typeface="宋体" panose="02010600030101010101" pitchFamily="2" charset="-122"/>
              </a:rPr>
              <a:t>Test case concepts are introduced in SE Lecture 14 and in the tutorials.</a:t>
            </a:r>
          </a:p>
          <a:p>
            <a:pPr marL="63500" indent="-296863" eaLnBrk="1" hangingPunct="1"/>
            <a:r>
              <a:rPr lang="en-US" altLang="zh-CN" sz="2800" dirty="0">
                <a:ea typeface="宋体" panose="02010600030101010101" pitchFamily="2" charset="-122"/>
              </a:rPr>
              <a:t>Tutorials the in iSpace</a:t>
            </a:r>
          </a:p>
          <a:p>
            <a:pPr marL="463550" lvl="1" indent="-296863" eaLnBrk="1" hangingPunct="1"/>
            <a:r>
              <a:rPr lang="en-US" altLang="zh-CN" sz="2400" dirty="0">
                <a:ea typeface="宋体" panose="02010600030101010101" pitchFamily="2" charset="-122"/>
              </a:rPr>
              <a:t>Located in the References section in iSpace.</a:t>
            </a:r>
          </a:p>
          <a:p>
            <a:pPr marL="463550" lvl="1" indent="-296863" eaLnBrk="1" hangingPunct="1"/>
            <a:r>
              <a:rPr lang="en-US" altLang="zh-CN" sz="2400" dirty="0">
                <a:ea typeface="宋体" panose="02010600030101010101" pitchFamily="2" charset="-122"/>
              </a:rPr>
              <a:t>Links to two MP4 files for Flask are in iSpace next to the Lab </a:t>
            </a:r>
            <a:r>
              <a:rPr lang="en-US" altLang="zh-CN" sz="2400">
                <a:ea typeface="宋体" panose="02010600030101010101" pitchFamily="2" charset="-122"/>
              </a:rPr>
              <a:t>9 folder.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574675" lvl="2" indent="-342900" eaLnBrk="1" hangingPunct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Java</a:t>
            </a:r>
          </a:p>
          <a:p>
            <a:pPr marL="623888" lvl="3" indent="-166688" eaLnBrk="1" hangingPunct="1"/>
            <a:r>
              <a:rPr lang="en-US" dirty="0"/>
              <a:t>Document: How to do unit test using </a:t>
            </a:r>
            <a:r>
              <a:rPr lang="en-US" dirty="0">
                <a:solidFill>
                  <a:srgbClr val="FF0000"/>
                </a:solidFill>
              </a:rPr>
              <a:t>JUnit</a:t>
            </a:r>
            <a:r>
              <a:rPr lang="en-US" dirty="0"/>
              <a:t> (Java)</a:t>
            </a:r>
            <a:endParaRPr lang="en-US" altLang="zh-CN" dirty="0">
              <a:ea typeface="宋体" panose="02010600030101010101" pitchFamily="2" charset="-122"/>
            </a:endParaRPr>
          </a:p>
          <a:p>
            <a:pPr marL="623888" lvl="3" indent="-166688" eaLnBrk="1" hangingPunct="1"/>
            <a:r>
              <a:rPr lang="en-US" dirty="0"/>
              <a:t>Video: Testing by IntelliJ IDEA (Java)</a:t>
            </a:r>
          </a:p>
          <a:p>
            <a:pPr marL="1081088" lvl="4" indent="-166688" eaLnBrk="1" hangingPunct="1"/>
            <a:r>
              <a:rPr lang="en-US" sz="2400" u="sng" dirty="0">
                <a:hlinkClick r:id="rId3"/>
              </a:rPr>
              <a:t>https://www.jetbrains.com/help/idea/testing.html</a:t>
            </a:r>
            <a:endParaRPr lang="en-US" sz="2400" u="sng" dirty="0"/>
          </a:p>
          <a:p>
            <a:pPr marL="457200" lvl="1" indent="0" eaLnBrk="1" hangingPunct="1">
              <a:spcBef>
                <a:spcPct val="0"/>
              </a:spcBef>
              <a:buNone/>
            </a:pPr>
            <a:endParaRPr lang="en-US" sz="1800" dirty="0"/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629506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3982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686800" cy="1143000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Task 1B: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Unit Testing Tutorials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56"/>
            <a:ext cx="8305906" cy="5057719"/>
          </a:xfrm>
        </p:spPr>
        <p:txBody>
          <a:bodyPr/>
          <a:lstStyle/>
          <a:p>
            <a:pPr marL="63500" indent="-296863" eaLnBrk="1" hangingPunct="1"/>
            <a:r>
              <a:rPr lang="en-US" altLang="zh-CN" sz="2800" dirty="0">
                <a:ea typeface="宋体" panose="02010600030101010101" pitchFamily="2" charset="-122"/>
              </a:rPr>
              <a:t>Tutorials in iSpace (continue)</a:t>
            </a:r>
          </a:p>
          <a:p>
            <a:pPr marL="509587" lvl="1" indent="-342900" eaLnBrk="1" hangingPunct="1">
              <a:buFont typeface="Courier New" panose="02070309020205020404" pitchFamily="49" charset="0"/>
              <a:buChar char="o"/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Python</a:t>
            </a:r>
          </a:p>
          <a:p>
            <a:pPr marL="742950" lvl="3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Document: Unit Testing in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Flask.pdf</a:t>
            </a:r>
            <a:r>
              <a:rPr lang="en-US" altLang="zh-CN" dirty="0">
                <a:ea typeface="宋体" panose="02010600030101010101" pitchFamily="2" charset="-122"/>
              </a:rPr>
              <a:t> (Python)</a:t>
            </a:r>
          </a:p>
          <a:p>
            <a:pPr marL="742950" lvl="3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PythonClass_Chap12.zip</a:t>
            </a:r>
          </a:p>
          <a:p>
            <a:pPr marL="1200150" lvl="4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See also material from your Python class</a:t>
            </a:r>
          </a:p>
          <a:p>
            <a:pPr marL="742950" lvl="3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W3Schools </a:t>
            </a:r>
            <a:r>
              <a:rPr lang="en-US" altLang="zh-CN" dirty="0">
                <a:ea typeface="宋体" panose="02010600030101010101" pitchFamily="2" charset="-122"/>
                <a:hlinkClick r:id="rId3"/>
              </a:rPr>
              <a:t>https://www.w3schools.cn/python/python_classes.asp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42950" lvl="3" indent="-285750" eaLnBrk="1" hangingPunct="1">
              <a:buFont typeface="Arial" panose="020B0604020202020204" pitchFamily="34" charset="0"/>
              <a:buChar char="•"/>
            </a:pPr>
            <a:r>
              <a:rPr lang="en-US" dirty="0"/>
              <a:t>Video: </a:t>
            </a:r>
            <a:r>
              <a:rPr lang="en-US" dirty="0">
                <a:solidFill>
                  <a:srgbClr val="FF0000"/>
                </a:solidFill>
              </a:rPr>
              <a:t>Flask</a:t>
            </a:r>
            <a:r>
              <a:rPr lang="en-US" dirty="0"/>
              <a:t> Framework Demo (Python)</a:t>
            </a:r>
          </a:p>
          <a:p>
            <a:pPr marL="742950" lvl="3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Video: Unit Test for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Flask</a:t>
            </a:r>
            <a:r>
              <a:rPr lang="en-US" altLang="zh-CN" dirty="0">
                <a:ea typeface="宋体" panose="02010600030101010101" pitchFamily="2" charset="-122"/>
              </a:rPr>
              <a:t> (Python)</a:t>
            </a:r>
          </a:p>
          <a:p>
            <a:pPr marL="1200150" lvl="4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Similar to the older version OOP and Unit Testing </a:t>
            </a:r>
          </a:p>
          <a:p>
            <a:pPr marL="742950" lvl="3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Django_QuickStart.docs</a:t>
            </a:r>
            <a:r>
              <a:rPr lang="en-US" altLang="zh-CN" dirty="0">
                <a:ea typeface="宋体" panose="02010600030101010101" pitchFamily="2" charset="-122"/>
              </a:rPr>
              <a:t> for people who want to use Django instead of Flask.</a:t>
            </a: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629506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655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686800" cy="1143000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Task 2 for Students: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Unit Testing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100" y="1371654"/>
            <a:ext cx="7695998" cy="4724276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2A. Students read the tutorial documents and watch the videos.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Bring earpiece to class</a:t>
            </a:r>
            <a:r>
              <a:rPr lang="en-US" altLang="zh-CN" sz="2400" dirty="0">
                <a:ea typeface="宋体" panose="02010600030101010101" pitchFamily="2" charset="-122"/>
              </a:rPr>
              <a:t>, if you don’t want to use lab’s headphones.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Some videos are very long (1 – 2 hours).  Watch enough to decide whether you want to use that programming language or framework.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After you decide the language and framework, watch the rest of the video if necessary for the language and framework you have chosen.</a:t>
            </a: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629506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5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686800" cy="733419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Task 2 for Students: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Unit Testing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516" y="838268"/>
            <a:ext cx="8838968" cy="5333860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2B. Students choose the language and framework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Java framework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Spring Boot </a:t>
            </a:r>
            <a:r>
              <a:rPr lang="en-US" altLang="zh-CN" sz="2000" dirty="0">
                <a:ea typeface="宋体" panose="02010600030101010101" pitchFamily="2" charset="-122"/>
              </a:rPr>
              <a:t>is wonderful if what you want is similar to what they offer in their templates.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A good choice if your team is familiar with Spring Boot or willing to learn.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Python</a:t>
            </a:r>
            <a:r>
              <a:rPr lang="en-US" altLang="zh-CN" sz="2400" dirty="0">
                <a:ea typeface="宋体" panose="02010600030101010101" pitchFamily="2" charset="-122"/>
              </a:rPr>
              <a:t> frameworks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Flask</a:t>
            </a:r>
            <a:r>
              <a:rPr lang="en-US" altLang="zh-CN" sz="2000" dirty="0">
                <a:ea typeface="宋体" panose="02010600030101010101" pitchFamily="2" charset="-122"/>
              </a:rPr>
              <a:t> is newer than Django, and is </a:t>
            </a:r>
            <a:r>
              <a:rPr lang="en-US" altLang="zh-CN" sz="2000" b="1" dirty="0">
                <a:solidFill>
                  <a:srgbClr val="00B050"/>
                </a:solidFill>
                <a:ea typeface="宋体" panose="02010600030101010101" pitchFamily="2" charset="-122"/>
              </a:rPr>
              <a:t>simpler to learn</a:t>
            </a:r>
            <a:r>
              <a:rPr lang="en-US" altLang="zh-CN" sz="2000" dirty="0">
                <a:ea typeface="宋体" panose="02010600030101010101" pitchFamily="2" charset="-122"/>
              </a:rPr>
              <a:t>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You’ve already used Flask in Week 1 demo in GitLab.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Django</a:t>
            </a:r>
            <a:r>
              <a:rPr lang="en-US" altLang="zh-CN" sz="2000" dirty="0">
                <a:ea typeface="宋体" panose="02010600030101010101" pitchFamily="2" charset="-122"/>
              </a:rPr>
              <a:t> is more established, more online help, but more difficult to learn.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Uses </a:t>
            </a:r>
            <a:r>
              <a:rPr lang="en-US" altLang="zh-CN" sz="1800" dirty="0">
                <a:ea typeface="宋体" panose="02010600030101010101" pitchFamily="2" charset="-122"/>
              </a:rPr>
              <a:t>design</a:t>
            </a:r>
            <a:r>
              <a:rPr lang="en-US" altLang="zh-CN" sz="2000" dirty="0">
                <a:ea typeface="宋体" panose="02010600030101010101" pitchFamily="2" charset="-122"/>
              </a:rPr>
              <a:t> patterns; good to learn if you are willing.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Our default suggestion – use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Python/Flask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Use Python/Flask unless you have a good reason to use something else.</a:t>
            </a: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629506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366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686800" cy="733419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Task 2 for Students: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Unit Testing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516" y="838268"/>
            <a:ext cx="8838968" cy="5333860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2B. New option this year:</a:t>
            </a:r>
          </a:p>
          <a:p>
            <a:pPr marL="457200"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Use AI: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LLM</a:t>
            </a:r>
            <a:r>
              <a:rPr lang="en-US" altLang="zh-CN" sz="2400" dirty="0">
                <a:ea typeface="宋体" panose="02010600030101010101" pitchFamily="2" charset="-122"/>
              </a:rPr>
              <a:t> and/or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Coding Agents</a:t>
            </a:r>
          </a:p>
          <a:p>
            <a:pPr marL="857250" lvl="1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High reward: These skills are highly in demand now. </a:t>
            </a:r>
          </a:p>
          <a:p>
            <a:pPr marL="857250" lvl="1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But high risk: You have to learn these tools yourself; they changing rapidly.</a:t>
            </a:r>
          </a:p>
          <a:p>
            <a:pPr marL="857250" lvl="1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If your team wants to pursue this option, </a:t>
            </a:r>
          </a:p>
          <a:p>
            <a:pPr marL="1257300" lvl="2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Have only 1 or 2 persons explore this for a few days or a week at most.</a:t>
            </a:r>
          </a:p>
          <a:p>
            <a:pPr marL="1257300" lvl="2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The rest of the team follows a safer choice, such as Python/Flask.</a:t>
            </a:r>
          </a:p>
          <a:p>
            <a:pPr marL="1257300" lvl="2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After the trial period, the team can decide whether to use LLM/Coding Agents or Python/Flask.</a:t>
            </a:r>
          </a:p>
          <a:p>
            <a:pPr marL="857250" lvl="1" eaLnBrk="1" hangingPunct="1">
              <a:spcBef>
                <a:spcPct val="0"/>
              </a:spcBef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marL="857250" lvl="1" eaLnBrk="1" hangingPunct="1">
              <a:spcBef>
                <a:spcPct val="0"/>
              </a:spcBef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marL="857250" lvl="1" eaLnBrk="1" hangingPunct="1">
              <a:spcBef>
                <a:spcPct val="0"/>
              </a:spcBef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None/>
            </a:pPr>
            <a:endParaRPr lang="en-US" altLang="zh-CN" sz="1600" dirty="0">
              <a:ea typeface="宋体" panose="02010600030101010101" pitchFamily="2" charset="-122"/>
            </a:endParaRP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629506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2478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686800" cy="1143000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Task 2 for Students: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Unit Testing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714" y="1066862"/>
            <a:ext cx="8838968" cy="5029068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2C. Students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Choose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one class </a:t>
            </a:r>
            <a:r>
              <a:rPr lang="en-US" altLang="zh-CN" sz="2400" dirty="0">
                <a:ea typeface="宋体" panose="02010600030101010101" pitchFamily="2" charset="-122"/>
              </a:rPr>
              <a:t>from your software system and implement unit testing on that class.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Start coding.</a:t>
            </a:r>
          </a:p>
          <a:p>
            <a:pPr eaLnBrk="1" hangingPunct="1">
              <a:spcBef>
                <a:spcPts val="6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Suggestion: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Everyone in the team watch some videos, search online etc. on the possible choices of programming language and frameworks.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Hold a meeting to decide which language and framework to use.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2 or 3 people do unit testing for the one chosen class due this week.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The rest of the team start coding.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629506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6111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686800" cy="1143000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Student Task 2: Unit Testing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516" y="990663"/>
            <a:ext cx="8838968" cy="5362512"/>
          </a:xfrm>
        </p:spPr>
        <p:txBody>
          <a:bodyPr/>
          <a:lstStyle/>
          <a:p>
            <a:pPr marL="520700" lvl="1" indent="-45720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Each group submits a zip file including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920750" lvl="2" indent="-457200" eaLnBrk="1" hangingPunct="1">
              <a:buFont typeface="+mj-lt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One (source file)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class </a:t>
            </a:r>
            <a:r>
              <a:rPr lang="en-US" altLang="zh-CN" dirty="0">
                <a:ea typeface="宋体" panose="02010600030101010101" pitchFamily="2" charset="-122"/>
              </a:rPr>
              <a:t>from your system for testing </a:t>
            </a:r>
          </a:p>
          <a:p>
            <a:pPr marL="920750" lvl="2" indent="-457200" eaLnBrk="1" hangingPunct="1">
              <a:buFont typeface="+mj-lt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One (source file)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test case class</a:t>
            </a:r>
            <a:r>
              <a:rPr lang="en-US" altLang="zh-CN" dirty="0">
                <a:ea typeface="宋体" panose="02010600030101010101" pitchFamily="2" charset="-122"/>
              </a:rPr>
              <a:t>, containing the test case functions, include all the source files required to run the test case.</a:t>
            </a:r>
          </a:p>
          <a:p>
            <a:pPr marL="920750" lvl="2" indent="-457200" eaLnBrk="1" hangingPunct="1">
              <a:buFont typeface="+mj-lt"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A Word file containing the class under testing, a snapshot of the testing results, and the testing methods used (equivalence class or boundary, etc.) </a:t>
            </a:r>
          </a:p>
          <a:p>
            <a:pPr marL="4064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The programming language you use in unit testing should be same as the language you used in coding.</a:t>
            </a:r>
          </a:p>
          <a:p>
            <a:pPr marL="4064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Do not test the get/set methods.</a:t>
            </a:r>
          </a:p>
          <a:p>
            <a:pPr marL="806450" lvl="2" indent="-342900" eaLnBrk="1" hangingPunct="1"/>
            <a:r>
              <a:rPr lang="en-US" altLang="zh-CN" sz="2000" dirty="0">
                <a:ea typeface="宋体" panose="02010600030101010101" pitchFamily="2" charset="-122"/>
              </a:rPr>
              <a:t>Choose a class with enough methods other than getters and setters to test.</a:t>
            </a:r>
          </a:p>
          <a:p>
            <a:pPr marL="457200" lvl="1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629506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0753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7475"/>
            <a:ext cx="8229600" cy="796925"/>
          </a:xfr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Submission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3550" y="1219200"/>
            <a:ext cx="8229600" cy="4826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Each team (company) submits the 3 files, to both iSpace and GitLab.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Due Date: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Saturday 2 May 2026, </a:t>
            </a:r>
            <a:r>
              <a:rPr lang="en-US" altLang="zh-CN" sz="2400" dirty="0">
                <a:ea typeface="宋体" panose="02010600030101010101" pitchFamily="2" charset="-122"/>
              </a:rPr>
              <a:t>right before midnight.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sz="2400" dirty="0"/>
              <a:t>On the cover of the documents next to the student names, leaders (with the support of most of the team) indicate how much each member contributed: Full, Fair, Little or None.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800" dirty="0"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2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3935B36B-7685-4DB8-92D1-C57A241800D1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7653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9E9CE00F-26E0-42FE-B0F8-9568C34B8017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12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7475"/>
            <a:ext cx="8229600" cy="796925"/>
          </a:xfr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Upcoming Weeks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3550" y="961955"/>
            <a:ext cx="8229600" cy="5133975"/>
          </a:xfrm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You will do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coding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testing</a:t>
            </a:r>
            <a:r>
              <a:rPr lang="en-US" altLang="zh-CN" sz="2800" dirty="0">
                <a:ea typeface="宋体" panose="02010600030101010101" pitchFamily="2" charset="-122"/>
              </a:rPr>
              <a:t> in upcoming weeks.</a:t>
            </a:r>
          </a:p>
          <a:p>
            <a:pPr lvl="1" eaLnBrk="1" hangingPunct="1">
              <a:spcBef>
                <a:spcPct val="0"/>
              </a:spcBef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We will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not meet formally </a:t>
            </a:r>
            <a:r>
              <a:rPr lang="en-US" altLang="zh-CN" sz="2400" dirty="0">
                <a:ea typeface="宋体" panose="02010600030101010101" pitchFamily="2" charset="-122"/>
              </a:rPr>
              <a:t>for the next lab on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7 May.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lvl="1" eaLnBrk="1" hangingPunct="1">
              <a:spcBef>
                <a:spcPct val="0"/>
              </a:spcBef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TAs will hold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online tutorials </a:t>
            </a:r>
            <a:r>
              <a:rPr lang="en-US" altLang="zh-CN" sz="2400" dirty="0">
                <a:ea typeface="宋体" panose="02010600030101010101" pitchFamily="2" charset="-122"/>
              </a:rPr>
              <a:t>to answer your questions regarding the tutorials, programming language and framework, etc.</a:t>
            </a:r>
          </a:p>
          <a:p>
            <a:pPr lvl="2" eaLnBrk="1" hangingPunct="1">
              <a:spcBef>
                <a:spcPct val="0"/>
              </a:spcBef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Meeting ID will be given in the </a:t>
            </a:r>
            <a:r>
              <a:rPr lang="en-US" altLang="zh-CN" sz="2000" dirty="0" err="1">
                <a:ea typeface="宋体" panose="02010600030101010101" pitchFamily="2" charset="-122"/>
              </a:rPr>
              <a:t>WeCom</a:t>
            </a:r>
            <a:r>
              <a:rPr lang="en-US" altLang="zh-CN" sz="2000" dirty="0">
                <a:ea typeface="宋体" panose="02010600030101010101" pitchFamily="2" charset="-122"/>
              </a:rPr>
              <a:t> group.</a:t>
            </a:r>
          </a:p>
          <a:p>
            <a:pPr lvl="2" eaLnBrk="1" hangingPunct="1">
              <a:spcBef>
                <a:spcPct val="0"/>
              </a:spcBef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You need to come prepared with questions to ask.</a:t>
            </a:r>
          </a:p>
          <a:p>
            <a:pPr lvl="2" eaLnBrk="1" hangingPunct="1">
              <a:spcBef>
                <a:spcPct val="0"/>
              </a:spcBef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If no one asks any good questions, the TA’s will end the meeting.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Many SE classes will not meet so you can do coding and testing. </a:t>
            </a:r>
          </a:p>
          <a:p>
            <a:pPr lvl="1" eaLnBrk="1" hangingPunct="1">
              <a:spcBef>
                <a:spcPct val="0"/>
              </a:spcBef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Your teacher will specify the details.</a:t>
            </a:r>
          </a:p>
          <a:p>
            <a:pPr marL="914400" lvl="2" indent="0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2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3935B36B-7685-4DB8-92D1-C57A241800D1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4/28/2026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7653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9E9CE00F-26E0-42FE-B0F8-9568C34B8017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13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0093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2740</TotalTime>
  <Pages>0</Pages>
  <Words>1155</Words>
  <Characters>0</Characters>
  <Application>Microsoft Office PowerPoint</Application>
  <DocSecurity>0</DocSecurity>
  <PresentationFormat>On-screen Show (4:3)</PresentationFormat>
  <Lines>0</Lines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等线</vt:lpstr>
      <vt:lpstr>等线 Light</vt:lpstr>
      <vt:lpstr>宋体</vt:lpstr>
      <vt:lpstr>宋体</vt:lpstr>
      <vt:lpstr>Arial</vt:lpstr>
      <vt:lpstr>Calibri</vt:lpstr>
      <vt:lpstr>Courier New</vt:lpstr>
      <vt:lpstr>Office Theme</vt:lpstr>
      <vt:lpstr>自定义设计方案</vt:lpstr>
      <vt:lpstr>Lab 9 Tasks Unit Testing</vt:lpstr>
      <vt:lpstr>Tasks</vt:lpstr>
      <vt:lpstr>Task 1A: Mapping Class Diagram to Code</vt:lpstr>
      <vt:lpstr>Task 1A: Mapping Class Diagram to Code</vt:lpstr>
      <vt:lpstr>Task 1B: Unit Testing Tutorials</vt:lpstr>
      <vt:lpstr>Task 1B: Unit Testing Tutorials</vt:lpstr>
      <vt:lpstr>Task 2 for Students: Unit Testing</vt:lpstr>
      <vt:lpstr>Task 2 for Students: Unit Testing</vt:lpstr>
      <vt:lpstr>Task 2 for Students: Unit Testing</vt:lpstr>
      <vt:lpstr>Task 2 for Students: Unit Testing</vt:lpstr>
      <vt:lpstr>Student Task 2: Unit Testing</vt:lpstr>
      <vt:lpstr>Submission</vt:lpstr>
      <vt:lpstr>Upcoming Weeks</vt:lpstr>
    </vt:vector>
  </TitlesOfParts>
  <Company>UIC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UIC</cp:lastModifiedBy>
  <cp:revision>514</cp:revision>
  <cp:lastPrinted>2019-01-21T07:39:02Z</cp:lastPrinted>
  <dcterms:created xsi:type="dcterms:W3CDTF">2008-11-17T01:56:52Z</dcterms:created>
  <dcterms:modified xsi:type="dcterms:W3CDTF">2026-04-28T08:05:26Z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2052-9.1.0.4249</vt:lpwstr>
  </property>
</Properties>
</file>