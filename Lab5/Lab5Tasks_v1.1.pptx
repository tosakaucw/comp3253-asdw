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8" r:id="rId3"/>
    <p:sldId id="295" r:id="rId4"/>
    <p:sldId id="289" r:id="rId5"/>
    <p:sldId id="286" r:id="rId6"/>
    <p:sldId id="300" r:id="rId7"/>
    <p:sldId id="297" r:id="rId8"/>
    <p:sldId id="299" r:id="rId9"/>
    <p:sldId id="293" r:id="rId10"/>
    <p:sldId id="301" r:id="rId11"/>
    <p:sldId id="296" r:id="rId12"/>
    <p:sldId id="419" r:id="rId13"/>
    <p:sldId id="414" r:id="rId14"/>
    <p:sldId id="417" r:id="rId15"/>
    <p:sldId id="415" r:id="rId16"/>
    <p:sldId id="292" r:id="rId17"/>
    <p:sldId id="273" r:id="rId18"/>
  </p:sldIdLst>
  <p:sldSz cx="12192000" cy="6858000"/>
  <p:notesSz cx="6799263" cy="9929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28" autoAdjust="0"/>
    <p:restoredTop sz="94660"/>
  </p:normalViewPr>
  <p:slideViewPr>
    <p:cSldViewPr snapToGrid="0">
      <p:cViewPr varScale="1">
        <p:scale>
          <a:sx n="114" d="100"/>
          <a:sy n="114" d="100"/>
        </p:scale>
        <p:origin x="200" y="3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347" cy="49821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1342" y="0"/>
            <a:ext cx="2946347" cy="498215"/>
          </a:xfrm>
          <a:prstGeom prst="rect">
            <a:avLst/>
          </a:prstGeom>
        </p:spPr>
        <p:txBody>
          <a:bodyPr vert="horz" lIns="91440" tIns="45720" rIns="91440" bIns="45720" rtlCol="0"/>
          <a:lstStyle>
            <a:lvl1pPr algn="r">
              <a:defRPr sz="1200"/>
            </a:lvl1pPr>
          </a:lstStyle>
          <a:p>
            <a:fld id="{ED4CC0D4-2CA0-4538-B4B4-AA77F5080DF4}" type="datetimeFigureOut">
              <a:rPr lang="en-US" smtClean="0"/>
              <a:t>3/26/26</a:t>
            </a:fld>
            <a:endParaRPr lang="en-US"/>
          </a:p>
        </p:txBody>
      </p:sp>
      <p:sp>
        <p:nvSpPr>
          <p:cNvPr id="4" name="Slide Image Placeholder 3"/>
          <p:cNvSpPr>
            <a:spLocks noGrp="1" noRot="1" noChangeAspect="1"/>
          </p:cNvSpPr>
          <p:nvPr>
            <p:ph type="sldImg" idx="2"/>
          </p:nvPr>
        </p:nvSpPr>
        <p:spPr>
          <a:xfrm>
            <a:off x="422275" y="1241425"/>
            <a:ext cx="5954713" cy="335121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927" y="4778722"/>
            <a:ext cx="5439410" cy="390986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31600"/>
            <a:ext cx="2946347" cy="498214"/>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1342" y="9431600"/>
            <a:ext cx="2946347" cy="498214"/>
          </a:xfrm>
          <a:prstGeom prst="rect">
            <a:avLst/>
          </a:prstGeom>
        </p:spPr>
        <p:txBody>
          <a:bodyPr vert="horz" lIns="91440" tIns="45720" rIns="91440" bIns="45720" rtlCol="0" anchor="b"/>
          <a:lstStyle>
            <a:lvl1pPr algn="r">
              <a:defRPr sz="1200"/>
            </a:lvl1pPr>
          </a:lstStyle>
          <a:p>
            <a:fld id="{2E4534A5-BF54-4EC2-B747-83A27F457E9D}" type="slidenum">
              <a:rPr lang="en-US" smtClean="0"/>
              <a:t>‹#›</a:t>
            </a:fld>
            <a:endParaRPr lang="en-US"/>
          </a:p>
        </p:txBody>
      </p:sp>
    </p:spTree>
    <p:extLst>
      <p:ext uri="{BB962C8B-B14F-4D97-AF65-F5344CB8AC3E}">
        <p14:creationId xmlns:p14="http://schemas.microsoft.com/office/powerpoint/2010/main" val="86814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3FE0A8D-B655-4CDD-AFA9-696B9E4307F7}" type="datetimeFigureOut">
              <a:rPr lang="en-US" smtClean="0"/>
              <a:t>3/26/26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17D1B5-71C9-47EF-AA50-4B18E75D29F8}" type="slidenum">
              <a:rPr lang="en-US" smtClean="0"/>
              <a:t>‹#›</a:t>
            </a:fld>
            <a:endParaRPr lang="en-US"/>
          </a:p>
        </p:txBody>
      </p:sp>
    </p:spTree>
    <p:extLst>
      <p:ext uri="{BB962C8B-B14F-4D97-AF65-F5344CB8AC3E}">
        <p14:creationId xmlns:p14="http://schemas.microsoft.com/office/powerpoint/2010/main" val="9654414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FE0A8D-B655-4CDD-AFA9-696B9E4307F7}" type="datetimeFigureOut">
              <a:rPr lang="en-US" smtClean="0"/>
              <a:t>3/26/26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17D1B5-71C9-47EF-AA50-4B18E75D29F8}" type="slidenum">
              <a:rPr lang="en-US" smtClean="0"/>
              <a:t>‹#›</a:t>
            </a:fld>
            <a:endParaRPr lang="en-US"/>
          </a:p>
        </p:txBody>
      </p:sp>
    </p:spTree>
    <p:extLst>
      <p:ext uri="{BB962C8B-B14F-4D97-AF65-F5344CB8AC3E}">
        <p14:creationId xmlns:p14="http://schemas.microsoft.com/office/powerpoint/2010/main" val="78492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3FE0A8D-B655-4CDD-AFA9-696B9E4307F7}" type="datetimeFigureOut">
              <a:rPr lang="en-US" smtClean="0"/>
              <a:t>3/26/26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17D1B5-71C9-47EF-AA50-4B18E75D29F8}" type="slidenum">
              <a:rPr lang="en-US" smtClean="0"/>
              <a:t>‹#›</a:t>
            </a:fld>
            <a:endParaRPr lang="en-US"/>
          </a:p>
        </p:txBody>
      </p:sp>
    </p:spTree>
    <p:extLst>
      <p:ext uri="{BB962C8B-B14F-4D97-AF65-F5344CB8AC3E}">
        <p14:creationId xmlns:p14="http://schemas.microsoft.com/office/powerpoint/2010/main" val="39868299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3FE0A8D-B655-4CDD-AFA9-696B9E4307F7}" type="datetimeFigureOut">
              <a:rPr lang="en-US" smtClean="0"/>
              <a:t>3/26/26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17D1B5-71C9-47EF-AA50-4B18E75D29F8}" type="slidenum">
              <a:rPr lang="en-US" smtClean="0"/>
              <a:t>‹#›</a:t>
            </a:fld>
            <a:endParaRPr lang="en-US"/>
          </a:p>
        </p:txBody>
      </p:sp>
    </p:spTree>
    <p:extLst>
      <p:ext uri="{BB962C8B-B14F-4D97-AF65-F5344CB8AC3E}">
        <p14:creationId xmlns:p14="http://schemas.microsoft.com/office/powerpoint/2010/main" val="1661557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3FE0A8D-B655-4CDD-AFA9-696B9E4307F7}" type="datetimeFigureOut">
              <a:rPr lang="en-US" smtClean="0"/>
              <a:t>3/26/26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17D1B5-71C9-47EF-AA50-4B18E75D29F8}" type="slidenum">
              <a:rPr lang="en-US" smtClean="0"/>
              <a:t>‹#›</a:t>
            </a:fld>
            <a:endParaRPr lang="en-US"/>
          </a:p>
        </p:txBody>
      </p:sp>
    </p:spTree>
    <p:extLst>
      <p:ext uri="{BB962C8B-B14F-4D97-AF65-F5344CB8AC3E}">
        <p14:creationId xmlns:p14="http://schemas.microsoft.com/office/powerpoint/2010/main" val="3465809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3FE0A8D-B655-4CDD-AFA9-696B9E4307F7}" type="datetimeFigureOut">
              <a:rPr lang="en-US" smtClean="0"/>
              <a:t>3/26/26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17D1B5-71C9-47EF-AA50-4B18E75D29F8}" type="slidenum">
              <a:rPr lang="en-US" smtClean="0"/>
              <a:t>‹#›</a:t>
            </a:fld>
            <a:endParaRPr lang="en-US"/>
          </a:p>
        </p:txBody>
      </p:sp>
    </p:spTree>
    <p:extLst>
      <p:ext uri="{BB962C8B-B14F-4D97-AF65-F5344CB8AC3E}">
        <p14:creationId xmlns:p14="http://schemas.microsoft.com/office/powerpoint/2010/main" val="40402087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FE0A8D-B655-4CDD-AFA9-696B9E4307F7}" type="datetimeFigureOut">
              <a:rPr lang="en-US" smtClean="0"/>
              <a:t>3/26/26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17D1B5-71C9-47EF-AA50-4B18E75D29F8}" type="slidenum">
              <a:rPr lang="en-US" smtClean="0"/>
              <a:t>‹#›</a:t>
            </a:fld>
            <a:endParaRPr lang="en-US"/>
          </a:p>
        </p:txBody>
      </p:sp>
    </p:spTree>
    <p:extLst>
      <p:ext uri="{BB962C8B-B14F-4D97-AF65-F5344CB8AC3E}">
        <p14:creationId xmlns:p14="http://schemas.microsoft.com/office/powerpoint/2010/main" val="3085029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3FE0A8D-B655-4CDD-AFA9-696B9E4307F7}" type="datetimeFigureOut">
              <a:rPr lang="en-US" smtClean="0"/>
              <a:t>3/26/26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17D1B5-71C9-47EF-AA50-4B18E75D29F8}" type="slidenum">
              <a:rPr lang="en-US" smtClean="0"/>
              <a:t>‹#›</a:t>
            </a:fld>
            <a:endParaRPr lang="en-US"/>
          </a:p>
        </p:txBody>
      </p:sp>
    </p:spTree>
    <p:extLst>
      <p:ext uri="{BB962C8B-B14F-4D97-AF65-F5344CB8AC3E}">
        <p14:creationId xmlns:p14="http://schemas.microsoft.com/office/powerpoint/2010/main" val="2186760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3FE0A8D-B655-4CDD-AFA9-696B9E4307F7}" type="datetimeFigureOut">
              <a:rPr lang="en-US" smtClean="0"/>
              <a:t>3/26/26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17D1B5-71C9-47EF-AA50-4B18E75D29F8}" type="slidenum">
              <a:rPr lang="en-US" smtClean="0"/>
              <a:t>‹#›</a:t>
            </a:fld>
            <a:endParaRPr lang="en-US"/>
          </a:p>
        </p:txBody>
      </p:sp>
    </p:spTree>
    <p:extLst>
      <p:ext uri="{BB962C8B-B14F-4D97-AF65-F5344CB8AC3E}">
        <p14:creationId xmlns:p14="http://schemas.microsoft.com/office/powerpoint/2010/main" val="27274498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FE0A8D-B655-4CDD-AFA9-696B9E4307F7}" type="datetimeFigureOut">
              <a:rPr lang="en-US" smtClean="0"/>
              <a:t>3/26/26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17D1B5-71C9-47EF-AA50-4B18E75D29F8}" type="slidenum">
              <a:rPr lang="en-US" smtClean="0"/>
              <a:t>‹#›</a:t>
            </a:fld>
            <a:endParaRPr lang="en-US"/>
          </a:p>
        </p:txBody>
      </p:sp>
    </p:spTree>
    <p:extLst>
      <p:ext uri="{BB962C8B-B14F-4D97-AF65-F5344CB8AC3E}">
        <p14:creationId xmlns:p14="http://schemas.microsoft.com/office/powerpoint/2010/main" val="36538997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FE0A8D-B655-4CDD-AFA9-696B9E4307F7}" type="datetimeFigureOut">
              <a:rPr lang="en-US" smtClean="0"/>
              <a:t>3/26/26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17D1B5-71C9-47EF-AA50-4B18E75D29F8}" type="slidenum">
              <a:rPr lang="en-US" smtClean="0"/>
              <a:t>‹#›</a:t>
            </a:fld>
            <a:endParaRPr lang="en-US"/>
          </a:p>
        </p:txBody>
      </p:sp>
    </p:spTree>
    <p:extLst>
      <p:ext uri="{BB962C8B-B14F-4D97-AF65-F5344CB8AC3E}">
        <p14:creationId xmlns:p14="http://schemas.microsoft.com/office/powerpoint/2010/main" val="30620251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FE0A8D-B655-4CDD-AFA9-696B9E4307F7}" type="datetimeFigureOut">
              <a:rPr lang="en-US" smtClean="0"/>
              <a:t>3/26/26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17D1B5-71C9-47EF-AA50-4B18E75D29F8}" type="slidenum">
              <a:rPr lang="en-US" smtClean="0"/>
              <a:t>‹#›</a:t>
            </a:fld>
            <a:endParaRPr lang="en-US"/>
          </a:p>
        </p:txBody>
      </p:sp>
    </p:spTree>
    <p:extLst>
      <p:ext uri="{BB962C8B-B14F-4D97-AF65-F5344CB8AC3E}">
        <p14:creationId xmlns:p14="http://schemas.microsoft.com/office/powerpoint/2010/main" val="31325754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600199"/>
            <a:ext cx="9144000" cy="1909763"/>
          </a:xfrm>
        </p:spPr>
        <p:txBody>
          <a:bodyPr/>
          <a:lstStyle/>
          <a:p>
            <a:br>
              <a:rPr lang="en-US" dirty="0"/>
            </a:br>
            <a:r>
              <a:rPr lang="en-US" dirty="0"/>
              <a:t>Lab 5 Tasks</a:t>
            </a:r>
          </a:p>
        </p:txBody>
      </p:sp>
      <p:sp>
        <p:nvSpPr>
          <p:cNvPr id="3" name="Subtitle 2"/>
          <p:cNvSpPr>
            <a:spLocks noGrp="1"/>
          </p:cNvSpPr>
          <p:nvPr>
            <p:ph type="subTitle" idx="1"/>
          </p:nvPr>
        </p:nvSpPr>
        <p:spPr/>
        <p:txBody>
          <a:bodyPr/>
          <a:lstStyle/>
          <a:p>
            <a:r>
              <a:rPr lang="en-US" dirty="0"/>
              <a:t>Advanced Workshop </a:t>
            </a:r>
          </a:p>
          <a:p>
            <a:r>
              <a:rPr lang="en-US" dirty="0"/>
              <a:t>Spring 2026</a:t>
            </a:r>
          </a:p>
        </p:txBody>
      </p:sp>
    </p:spTree>
    <p:extLst>
      <p:ext uri="{BB962C8B-B14F-4D97-AF65-F5344CB8AC3E}">
        <p14:creationId xmlns:p14="http://schemas.microsoft.com/office/powerpoint/2010/main" val="969899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6549"/>
            <a:ext cx="10515600" cy="920751"/>
          </a:xfrm>
        </p:spPr>
        <p:txBody>
          <a:bodyPr/>
          <a:lstStyle/>
          <a:p>
            <a:r>
              <a:rPr lang="en-US" dirty="0"/>
              <a:t>Main Tasks</a:t>
            </a:r>
          </a:p>
        </p:txBody>
      </p:sp>
      <p:sp>
        <p:nvSpPr>
          <p:cNvPr id="3" name="Content Placeholder 2"/>
          <p:cNvSpPr>
            <a:spLocks noGrp="1"/>
          </p:cNvSpPr>
          <p:nvPr>
            <p:ph idx="1"/>
          </p:nvPr>
        </p:nvSpPr>
        <p:spPr>
          <a:xfrm>
            <a:off x="838200" y="1400175"/>
            <a:ext cx="10515600" cy="4776788"/>
          </a:xfrm>
        </p:spPr>
        <p:txBody>
          <a:bodyPr/>
          <a:lstStyle/>
          <a:p>
            <a:pPr marL="514350" lvl="0" indent="-514350" latinLnBrk="1">
              <a:buFont typeface="+mj-lt"/>
              <a:buAutoNum type="arabicPeriod"/>
            </a:pPr>
            <a:r>
              <a:rPr lang="en-US" altLang="zh-CN" dirty="0">
                <a:ea typeface="SimSun" pitchFamily="2" charset="-122"/>
              </a:rPr>
              <a:t>Teacher review feedback from last week on SRS partial document.</a:t>
            </a:r>
          </a:p>
          <a:p>
            <a:pPr marL="514350" lvl="0" indent="-514350" latinLnBrk="1">
              <a:buFont typeface="+mj-lt"/>
              <a:buAutoNum type="arabicPeriod"/>
            </a:pPr>
            <a:r>
              <a:rPr lang="en-US" altLang="zh-CN" dirty="0">
                <a:ea typeface="SimSun" pitchFamily="2" charset="-122"/>
              </a:rPr>
              <a:t>Teacher explains solution for last week’s tasks.</a:t>
            </a:r>
          </a:p>
          <a:p>
            <a:pPr marL="514350" lvl="0" indent="-514350" latinLnBrk="1">
              <a:buFont typeface="+mj-lt"/>
              <a:buAutoNum type="arabicPeriod"/>
            </a:pPr>
            <a:r>
              <a:rPr lang="en-US" altLang="zh-CN" dirty="0">
                <a:ea typeface="SimSun" pitchFamily="2" charset="-122"/>
              </a:rPr>
              <a:t>Students </a:t>
            </a:r>
          </a:p>
          <a:p>
            <a:pPr marL="971550" lvl="1" indent="-514350" latinLnBrk="1">
              <a:buFont typeface="+mj-lt"/>
              <a:buAutoNum type="alphaUcPeriod"/>
            </a:pPr>
            <a:r>
              <a:rPr lang="en-US" altLang="zh-CN" dirty="0">
                <a:ea typeface="SimSun" pitchFamily="2" charset="-122"/>
              </a:rPr>
              <a:t>Update SRS partial documents according to feedback.</a:t>
            </a:r>
          </a:p>
          <a:p>
            <a:pPr marL="971550" lvl="1" indent="-514350" latinLnBrk="1">
              <a:buFont typeface="+mj-lt"/>
              <a:buAutoNum type="alphaUcPeriod"/>
            </a:pPr>
            <a:r>
              <a:rPr lang="en-US" altLang="zh-CN" dirty="0">
                <a:ea typeface="SimSun" pitchFamily="2" charset="-122"/>
              </a:rPr>
              <a:t>Create state transition diagrams and user interfaces for </a:t>
            </a:r>
            <a:r>
              <a:rPr lang="en-US" altLang="zh-CN" b="1" dirty="0">
                <a:solidFill>
                  <a:srgbClr val="FF0000"/>
                </a:solidFill>
                <a:ea typeface="SimSun" pitchFamily="2" charset="-122"/>
              </a:rPr>
              <a:t>all</a:t>
            </a:r>
            <a:r>
              <a:rPr lang="en-US" altLang="zh-CN" dirty="0">
                <a:ea typeface="SimSun" pitchFamily="2" charset="-122"/>
              </a:rPr>
              <a:t> use cases.</a:t>
            </a:r>
          </a:p>
          <a:p>
            <a:pPr marL="971550" lvl="1" indent="-514350" latinLnBrk="1">
              <a:buFont typeface="+mj-lt"/>
              <a:buAutoNum type="alphaUcPeriod"/>
            </a:pPr>
            <a:r>
              <a:rPr lang="en-US" altLang="zh-CN" dirty="0">
                <a:ea typeface="SimSun" pitchFamily="2" charset="-122"/>
              </a:rPr>
              <a:t>Create a basic scenario for each import use case.</a:t>
            </a:r>
          </a:p>
          <a:p>
            <a:pPr lvl="2" latinLnBrk="1"/>
            <a:r>
              <a:rPr lang="en-US" altLang="zh-CN" dirty="0">
                <a:ea typeface="SimSun" pitchFamily="2" charset="-122"/>
              </a:rPr>
              <a:t>That would help you to create the transition diagram.</a:t>
            </a:r>
          </a:p>
        </p:txBody>
      </p:sp>
    </p:spTree>
    <p:extLst>
      <p:ext uri="{BB962C8B-B14F-4D97-AF65-F5344CB8AC3E}">
        <p14:creationId xmlns:p14="http://schemas.microsoft.com/office/powerpoint/2010/main" val="3535389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6549"/>
            <a:ext cx="10515600" cy="736877"/>
          </a:xfrm>
        </p:spPr>
        <p:txBody>
          <a:bodyPr/>
          <a:lstStyle/>
          <a:p>
            <a:r>
              <a:rPr lang="en-US" dirty="0"/>
              <a:t>Task1: Feedback from Last Week</a:t>
            </a:r>
          </a:p>
        </p:txBody>
      </p:sp>
      <p:sp>
        <p:nvSpPr>
          <p:cNvPr id="3" name="Content Placeholder 2"/>
          <p:cNvSpPr>
            <a:spLocks noGrp="1"/>
          </p:cNvSpPr>
          <p:nvPr>
            <p:ph idx="1"/>
          </p:nvPr>
        </p:nvSpPr>
        <p:spPr>
          <a:xfrm>
            <a:off x="838200" y="1222409"/>
            <a:ext cx="10515600" cy="1020919"/>
          </a:xfrm>
        </p:spPr>
        <p:txBody>
          <a:bodyPr>
            <a:normAutofit/>
          </a:bodyPr>
          <a:lstStyle/>
          <a:p>
            <a:pPr marL="0" indent="0">
              <a:buNone/>
            </a:pPr>
            <a:r>
              <a:rPr lang="en-US" dirty="0"/>
              <a:t>(A) Transition diagram and UI must </a:t>
            </a:r>
            <a:r>
              <a:rPr lang="en-US" dirty="0">
                <a:solidFill>
                  <a:srgbClr val="FF0000"/>
                </a:solidFill>
              </a:rPr>
              <a:t>exactly match</a:t>
            </a:r>
            <a:r>
              <a:rPr lang="en-US" dirty="0"/>
              <a:t>:</a:t>
            </a:r>
          </a:p>
          <a:p>
            <a:pPr lvl="1"/>
            <a:r>
              <a:rPr lang="en-US" dirty="0"/>
              <a:t>Each </a:t>
            </a:r>
            <a:r>
              <a:rPr lang="en-US" dirty="0">
                <a:solidFill>
                  <a:srgbClr val="FF0000"/>
                </a:solidFill>
              </a:rPr>
              <a:t>state</a:t>
            </a:r>
            <a:r>
              <a:rPr lang="en-US" dirty="0"/>
              <a:t> in the transition diagram </a:t>
            </a:r>
            <a:r>
              <a:rPr lang="en-US" dirty="0">
                <a:solidFill>
                  <a:srgbClr val="FF0000"/>
                </a:solidFill>
              </a:rPr>
              <a:t>must have </a:t>
            </a:r>
            <a:r>
              <a:rPr lang="en-US" dirty="0"/>
              <a:t>a corresponding </a:t>
            </a:r>
            <a:r>
              <a:rPr lang="en-US" dirty="0">
                <a:solidFill>
                  <a:srgbClr val="FF0000"/>
                </a:solidFill>
              </a:rPr>
              <a:t>UI</a:t>
            </a:r>
            <a:r>
              <a:rPr lang="en-US" dirty="0"/>
              <a:t>. </a:t>
            </a:r>
          </a:p>
        </p:txBody>
      </p:sp>
      <p:pic>
        <p:nvPicPr>
          <p:cNvPr id="4" name="Picture 3">
            <a:extLst>
              <a:ext uri="{FF2B5EF4-FFF2-40B4-BE49-F238E27FC236}">
                <a16:creationId xmlns:a16="http://schemas.microsoft.com/office/drawing/2014/main" id="{40301D36-1BA5-EDAC-9F45-6C525483FBFC}"/>
              </a:ext>
            </a:extLst>
          </p:cNvPr>
          <p:cNvPicPr>
            <a:picLocks noChangeAspect="1"/>
          </p:cNvPicPr>
          <p:nvPr/>
        </p:nvPicPr>
        <p:blipFill>
          <a:blip r:embed="rId2"/>
          <a:stretch>
            <a:fillRect/>
          </a:stretch>
        </p:blipFill>
        <p:spPr>
          <a:xfrm>
            <a:off x="4041429" y="2392311"/>
            <a:ext cx="7923624" cy="3919665"/>
          </a:xfrm>
          <a:prstGeom prst="rect">
            <a:avLst/>
          </a:prstGeom>
          <a:ln>
            <a:solidFill>
              <a:schemeClr val="accent1"/>
            </a:solidFill>
          </a:ln>
        </p:spPr>
      </p:pic>
      <p:sp>
        <p:nvSpPr>
          <p:cNvPr id="6" name="Content Placeholder 2">
            <a:extLst>
              <a:ext uri="{FF2B5EF4-FFF2-40B4-BE49-F238E27FC236}">
                <a16:creationId xmlns:a16="http://schemas.microsoft.com/office/drawing/2014/main" id="{DEF6652F-856E-F18F-5F52-EC0D5B324102}"/>
              </a:ext>
            </a:extLst>
          </p:cNvPr>
          <p:cNvSpPr txBox="1">
            <a:spLocks/>
          </p:cNvSpPr>
          <p:nvPr/>
        </p:nvSpPr>
        <p:spPr>
          <a:xfrm>
            <a:off x="838200" y="2243328"/>
            <a:ext cx="2953512" cy="330403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dirty="0"/>
              <a:t>Each </a:t>
            </a:r>
            <a:r>
              <a:rPr lang="en-US" dirty="0">
                <a:solidFill>
                  <a:srgbClr val="FF0000"/>
                </a:solidFill>
              </a:rPr>
              <a:t>state</a:t>
            </a:r>
            <a:r>
              <a:rPr lang="en-US" dirty="0"/>
              <a:t> in the transition diagram </a:t>
            </a:r>
            <a:r>
              <a:rPr lang="en-US" dirty="0">
                <a:solidFill>
                  <a:srgbClr val="FF0000"/>
                </a:solidFill>
              </a:rPr>
              <a:t>must have </a:t>
            </a:r>
            <a:r>
              <a:rPr lang="en-US" dirty="0"/>
              <a:t>a </a:t>
            </a:r>
            <a:r>
              <a:rPr lang="en-US" dirty="0">
                <a:solidFill>
                  <a:srgbClr val="FF0000"/>
                </a:solidFill>
              </a:rPr>
              <a:t>number </a:t>
            </a:r>
            <a:r>
              <a:rPr lang="en-US" dirty="0"/>
              <a:t>and </a:t>
            </a:r>
            <a:r>
              <a:rPr lang="en-US" dirty="0">
                <a:solidFill>
                  <a:srgbClr val="FF0000"/>
                </a:solidFill>
              </a:rPr>
              <a:t>label</a:t>
            </a:r>
            <a:r>
              <a:rPr lang="en-US" dirty="0"/>
              <a:t> that </a:t>
            </a:r>
            <a:r>
              <a:rPr lang="en-US" dirty="0">
                <a:solidFill>
                  <a:srgbClr val="FF0000"/>
                </a:solidFill>
              </a:rPr>
              <a:t>exactly match </a:t>
            </a:r>
            <a:r>
              <a:rPr lang="en-US" dirty="0"/>
              <a:t>the </a:t>
            </a:r>
            <a:r>
              <a:rPr lang="en-US" dirty="0">
                <a:solidFill>
                  <a:srgbClr val="FF0000"/>
                </a:solidFill>
              </a:rPr>
              <a:t>number</a:t>
            </a:r>
            <a:r>
              <a:rPr lang="en-US" dirty="0"/>
              <a:t> and </a:t>
            </a:r>
            <a:r>
              <a:rPr lang="en-US" dirty="0">
                <a:solidFill>
                  <a:srgbClr val="FF0000"/>
                </a:solidFill>
              </a:rPr>
              <a:t>label</a:t>
            </a:r>
            <a:r>
              <a:rPr lang="en-US" dirty="0"/>
              <a:t> in the </a:t>
            </a:r>
            <a:r>
              <a:rPr lang="en-US" dirty="0">
                <a:solidFill>
                  <a:srgbClr val="FF0000"/>
                </a:solidFill>
              </a:rPr>
              <a:t>corresponding UI</a:t>
            </a:r>
            <a:r>
              <a:rPr lang="en-US" dirty="0"/>
              <a:t>.</a:t>
            </a:r>
          </a:p>
        </p:txBody>
      </p:sp>
    </p:spTree>
    <p:extLst>
      <p:ext uri="{BB962C8B-B14F-4D97-AF65-F5344CB8AC3E}">
        <p14:creationId xmlns:p14="http://schemas.microsoft.com/office/powerpoint/2010/main" val="6961712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6549"/>
            <a:ext cx="10515600" cy="736877"/>
          </a:xfrm>
        </p:spPr>
        <p:txBody>
          <a:bodyPr/>
          <a:lstStyle/>
          <a:p>
            <a:r>
              <a:rPr lang="en-US" dirty="0"/>
              <a:t>Task1: Feedback from Last Week</a:t>
            </a:r>
          </a:p>
        </p:txBody>
      </p:sp>
      <p:sp>
        <p:nvSpPr>
          <p:cNvPr id="3" name="Content Placeholder 2"/>
          <p:cNvSpPr>
            <a:spLocks noGrp="1"/>
          </p:cNvSpPr>
          <p:nvPr>
            <p:ph idx="1"/>
          </p:nvPr>
        </p:nvSpPr>
        <p:spPr>
          <a:xfrm>
            <a:off x="457200" y="1222408"/>
            <a:ext cx="11186160" cy="4032344"/>
          </a:xfrm>
        </p:spPr>
        <p:txBody>
          <a:bodyPr>
            <a:normAutofit/>
          </a:bodyPr>
          <a:lstStyle/>
          <a:p>
            <a:pPr lvl="1">
              <a:lnSpc>
                <a:spcPct val="107000"/>
              </a:lnSpc>
              <a:spcBef>
                <a:spcPts val="0"/>
              </a:spcBef>
              <a:spcAft>
                <a:spcPts val="800"/>
              </a:spcAft>
            </a:pPr>
            <a:r>
              <a:rPr lang="en-US" sz="2800" dirty="0">
                <a:latin typeface="Calibri" panose="020F0502020204030204" pitchFamily="34" charset="0"/>
                <a:ea typeface="DengXian" panose="02010600030101010101" pitchFamily="2" charset="-122"/>
                <a:cs typeface="Times New Roman" panose="02020603050405020304" pitchFamily="18" charset="0"/>
              </a:rPr>
              <a:t>Every</a:t>
            </a:r>
            <a:r>
              <a:rPr lang="en-US" sz="2800" dirty="0">
                <a:solidFill>
                  <a:srgbClr val="FF0000"/>
                </a:solidFill>
                <a:latin typeface="Calibri" panose="020F0502020204030204" pitchFamily="34" charset="0"/>
                <a:ea typeface="DengXian" panose="02010600030101010101" pitchFamily="2" charset="-122"/>
                <a:cs typeface="Times New Roman" panose="02020603050405020304" pitchFamily="18" charset="0"/>
              </a:rPr>
              <a:t> event </a:t>
            </a:r>
            <a:r>
              <a:rPr lang="en-US" sz="2800" dirty="0">
                <a:latin typeface="Calibri" panose="020F0502020204030204" pitchFamily="34" charset="0"/>
                <a:ea typeface="DengXian" panose="02010600030101010101" pitchFamily="2" charset="-122"/>
                <a:cs typeface="Times New Roman" panose="02020603050405020304" pitchFamily="18" charset="0"/>
              </a:rPr>
              <a:t>and</a:t>
            </a:r>
            <a:r>
              <a:rPr lang="en-US" sz="2800" dirty="0">
                <a:solidFill>
                  <a:srgbClr val="FF0000"/>
                </a:solidFill>
                <a:latin typeface="Calibri" panose="020F0502020204030204" pitchFamily="34" charset="0"/>
                <a:ea typeface="DengXian" panose="02010600030101010101" pitchFamily="2" charset="-122"/>
                <a:cs typeface="Times New Roman" panose="02020603050405020304" pitchFamily="18" charset="0"/>
              </a:rPr>
              <a:t> condition </a:t>
            </a:r>
            <a:r>
              <a:rPr lang="en-US" sz="2800" dirty="0">
                <a:latin typeface="Calibri" panose="020F0502020204030204" pitchFamily="34" charset="0"/>
                <a:ea typeface="DengXian" panose="02010600030101010101" pitchFamily="2" charset="-122"/>
                <a:cs typeface="Times New Roman" panose="02020603050405020304" pitchFamily="18" charset="0"/>
              </a:rPr>
              <a:t>in a transition diagram state </a:t>
            </a:r>
            <a:r>
              <a:rPr lang="en-US" sz="2800" dirty="0">
                <a:solidFill>
                  <a:srgbClr val="FF0000"/>
                </a:solidFill>
                <a:latin typeface="Calibri" panose="020F0502020204030204" pitchFamily="34" charset="0"/>
                <a:ea typeface="DengXian" panose="02010600030101010101" pitchFamily="2" charset="-122"/>
                <a:cs typeface="Times New Roman" panose="02020603050405020304" pitchFamily="18" charset="0"/>
              </a:rPr>
              <a:t>must have</a:t>
            </a:r>
            <a:r>
              <a:rPr lang="en-US" sz="2800" dirty="0">
                <a:latin typeface="Calibri" panose="020F0502020204030204" pitchFamily="34" charset="0"/>
                <a:ea typeface="DengXian" panose="02010600030101010101" pitchFamily="2" charset="-122"/>
                <a:cs typeface="Times New Roman" panose="02020603050405020304" pitchFamily="18" charset="0"/>
              </a:rPr>
              <a:t> a corresponding </a:t>
            </a:r>
            <a:r>
              <a:rPr lang="en-US" sz="2800" dirty="0">
                <a:solidFill>
                  <a:srgbClr val="FF0000"/>
                </a:solidFill>
                <a:latin typeface="Calibri" panose="020F0502020204030204" pitchFamily="34" charset="0"/>
                <a:ea typeface="DengXian" panose="02010600030101010101" pitchFamily="2" charset="-122"/>
                <a:cs typeface="Times New Roman" panose="02020603050405020304" pitchFamily="18" charset="0"/>
              </a:rPr>
              <a:t>control</a:t>
            </a:r>
            <a:r>
              <a:rPr lang="en-US" sz="2800" dirty="0">
                <a:latin typeface="Calibri" panose="020F0502020204030204" pitchFamily="34" charset="0"/>
                <a:ea typeface="DengXian" panose="02010600030101010101" pitchFamily="2" charset="-122"/>
                <a:cs typeface="Times New Roman" panose="02020603050405020304" pitchFamily="18" charset="0"/>
              </a:rPr>
              <a:t> in the </a:t>
            </a:r>
            <a:r>
              <a:rPr lang="en-US" sz="2800" dirty="0">
                <a:solidFill>
                  <a:srgbClr val="FF0000"/>
                </a:solidFill>
                <a:latin typeface="Calibri" panose="020F0502020204030204" pitchFamily="34" charset="0"/>
                <a:ea typeface="DengXian" panose="02010600030101010101" pitchFamily="2" charset="-122"/>
                <a:cs typeface="Times New Roman" panose="02020603050405020304" pitchFamily="18" charset="0"/>
              </a:rPr>
              <a:t>UI</a:t>
            </a:r>
            <a:r>
              <a:rPr lang="en-US" sz="2800" dirty="0">
                <a:latin typeface="Calibri" panose="020F0502020204030204" pitchFamily="34" charset="0"/>
                <a:ea typeface="DengXian" panose="02010600030101010101" pitchFamily="2" charset="-122"/>
                <a:cs typeface="Times New Roman" panose="02020603050405020304" pitchFamily="18" charset="0"/>
              </a:rPr>
              <a:t> </a:t>
            </a:r>
            <a:r>
              <a:rPr lang="en-US" sz="2800" dirty="0">
                <a:solidFill>
                  <a:srgbClr val="FF0000"/>
                </a:solidFill>
                <a:latin typeface="Calibri" panose="020F0502020204030204" pitchFamily="34" charset="0"/>
                <a:ea typeface="DengXian" panose="02010600030101010101" pitchFamily="2" charset="-122"/>
                <a:cs typeface="Times New Roman" panose="02020603050405020304" pitchFamily="18" charset="0"/>
              </a:rPr>
              <a:t>diagram</a:t>
            </a:r>
            <a:r>
              <a:rPr lang="en-US" sz="2800" dirty="0">
                <a:latin typeface="Calibri" panose="020F0502020204030204" pitchFamily="34" charset="0"/>
                <a:ea typeface="DengXian" panose="02010600030101010101" pitchFamily="2" charset="-122"/>
                <a:cs typeface="Times New Roman" panose="02020603050405020304" pitchFamily="18" charset="0"/>
              </a:rPr>
              <a:t>.</a:t>
            </a:r>
            <a:endParaRPr lang="en-US" sz="2800" dirty="0"/>
          </a:p>
          <a:p>
            <a:pPr lvl="2">
              <a:lnSpc>
                <a:spcPct val="107000"/>
              </a:lnSpc>
              <a:spcBef>
                <a:spcPts val="0"/>
              </a:spcBef>
              <a:spcAft>
                <a:spcPts val="800"/>
              </a:spcAft>
            </a:pPr>
            <a:r>
              <a:rPr lang="en-US" sz="2400" dirty="0">
                <a:latin typeface="Calibri" panose="020F0502020204030204" pitchFamily="34" charset="0"/>
                <a:ea typeface="DengXian" panose="02010600030101010101" pitchFamily="2" charset="-122"/>
                <a:cs typeface="Times New Roman" panose="02020603050405020304" pitchFamily="18" charset="0"/>
              </a:rPr>
              <a:t>If a transition diagram state has the event “Click Button 1”, the corresponding UI must have a Button 1.</a:t>
            </a:r>
          </a:p>
          <a:p>
            <a:pPr lvl="1">
              <a:lnSpc>
                <a:spcPct val="107000"/>
              </a:lnSpc>
              <a:spcBef>
                <a:spcPts val="0"/>
              </a:spcBef>
              <a:spcAft>
                <a:spcPts val="800"/>
              </a:spcAft>
            </a:pPr>
            <a:r>
              <a:rPr lang="en-US" sz="2800" dirty="0">
                <a:latin typeface="Calibri" panose="020F0502020204030204" pitchFamily="34" charset="0"/>
                <a:ea typeface="DengXian" panose="02010600030101010101" pitchFamily="2" charset="-122"/>
                <a:cs typeface="Times New Roman" panose="02020603050405020304" pitchFamily="18" charset="0"/>
              </a:rPr>
              <a:t>A</a:t>
            </a:r>
            <a:r>
              <a:rPr lang="en-US" sz="2800" dirty="0">
                <a:solidFill>
                  <a:srgbClr val="FF0000"/>
                </a:solidFill>
                <a:latin typeface="Calibri" panose="020F0502020204030204" pitchFamily="34" charset="0"/>
                <a:ea typeface="DengXian" panose="02010600030101010101" pitchFamily="2" charset="-122"/>
                <a:cs typeface="Times New Roman" panose="02020603050405020304" pitchFamily="18" charset="0"/>
              </a:rPr>
              <a:t> UI diagram </a:t>
            </a:r>
            <a:r>
              <a:rPr lang="en-US" sz="2800" dirty="0">
                <a:latin typeface="Calibri" panose="020F0502020204030204" pitchFamily="34" charset="0"/>
                <a:ea typeface="DengXian" panose="02010600030101010101" pitchFamily="2" charset="-122"/>
                <a:cs typeface="Times New Roman" panose="02020603050405020304" pitchFamily="18" charset="0"/>
              </a:rPr>
              <a:t>should </a:t>
            </a:r>
            <a:r>
              <a:rPr lang="en-US" sz="2800" dirty="0">
                <a:solidFill>
                  <a:srgbClr val="FF0000"/>
                </a:solidFill>
                <a:latin typeface="Calibri" panose="020F0502020204030204" pitchFamily="34" charset="0"/>
                <a:ea typeface="DengXian" panose="02010600030101010101" pitchFamily="2" charset="-122"/>
                <a:cs typeface="Times New Roman" panose="02020603050405020304" pitchFamily="18" charset="0"/>
              </a:rPr>
              <a:t>not have </a:t>
            </a:r>
            <a:r>
              <a:rPr lang="en-US" sz="2800" dirty="0">
                <a:latin typeface="Calibri" panose="020F0502020204030204" pitchFamily="34" charset="0"/>
                <a:ea typeface="DengXian" panose="02010600030101010101" pitchFamily="2" charset="-122"/>
                <a:cs typeface="Times New Roman" panose="02020603050405020304" pitchFamily="18" charset="0"/>
              </a:rPr>
              <a:t>any</a:t>
            </a:r>
            <a:r>
              <a:rPr lang="en-US" sz="2800" dirty="0">
                <a:solidFill>
                  <a:srgbClr val="FF0000"/>
                </a:solidFill>
                <a:latin typeface="Calibri" panose="020F0502020204030204" pitchFamily="34" charset="0"/>
                <a:ea typeface="DengXian" panose="02010600030101010101" pitchFamily="2" charset="-122"/>
                <a:cs typeface="Times New Roman" panose="02020603050405020304" pitchFamily="18" charset="0"/>
              </a:rPr>
              <a:t> </a:t>
            </a:r>
            <a:r>
              <a:rPr lang="en-US" sz="2800" dirty="0">
                <a:latin typeface="Calibri" panose="020F0502020204030204" pitchFamily="34" charset="0"/>
                <a:ea typeface="DengXian" panose="02010600030101010101" pitchFamily="2" charset="-122"/>
                <a:cs typeface="Times New Roman" panose="02020603050405020304" pitchFamily="18" charset="0"/>
              </a:rPr>
              <a:t>button, control object or other unnecessary junk </a:t>
            </a:r>
            <a:r>
              <a:rPr lang="en-US" sz="2800" dirty="0">
                <a:solidFill>
                  <a:srgbClr val="FF0000"/>
                </a:solidFill>
                <a:latin typeface="Calibri" panose="020F0502020204030204" pitchFamily="34" charset="0"/>
                <a:ea typeface="DengXian" panose="02010600030101010101" pitchFamily="2" charset="-122"/>
                <a:cs typeface="Times New Roman" panose="02020603050405020304" pitchFamily="18" charset="0"/>
              </a:rPr>
              <a:t>not used </a:t>
            </a:r>
            <a:r>
              <a:rPr lang="en-US" sz="2800" dirty="0">
                <a:latin typeface="Calibri" panose="020F0502020204030204" pitchFamily="34" charset="0"/>
                <a:ea typeface="DengXian" panose="02010600030101010101" pitchFamily="2" charset="-122"/>
                <a:cs typeface="Times New Roman" panose="02020603050405020304" pitchFamily="18" charset="0"/>
              </a:rPr>
              <a:t>in the transition diagram.</a:t>
            </a:r>
          </a:p>
          <a:p>
            <a:pPr marL="0" indent="0">
              <a:lnSpc>
                <a:spcPct val="107000"/>
              </a:lnSpc>
              <a:spcBef>
                <a:spcPts val="0"/>
              </a:spcBef>
              <a:spcAft>
                <a:spcPts val="800"/>
              </a:spcAft>
              <a:buNone/>
            </a:pPr>
            <a:endParaRPr lang="en-US" sz="1200" dirty="0">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7214254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6549"/>
            <a:ext cx="10515600" cy="736877"/>
          </a:xfrm>
        </p:spPr>
        <p:txBody>
          <a:bodyPr/>
          <a:lstStyle/>
          <a:p>
            <a:r>
              <a:rPr lang="en-US" dirty="0"/>
              <a:t>Task1: Feedback from Last Week</a:t>
            </a:r>
          </a:p>
        </p:txBody>
      </p:sp>
      <p:sp>
        <p:nvSpPr>
          <p:cNvPr id="3" name="Content Placeholder 2"/>
          <p:cNvSpPr>
            <a:spLocks noGrp="1"/>
          </p:cNvSpPr>
          <p:nvPr>
            <p:ph idx="1"/>
          </p:nvPr>
        </p:nvSpPr>
        <p:spPr>
          <a:xfrm>
            <a:off x="693683" y="1167063"/>
            <a:ext cx="11025351" cy="5127860"/>
          </a:xfrm>
        </p:spPr>
        <p:txBody>
          <a:bodyPr>
            <a:normAutofit lnSpcReduction="10000"/>
          </a:bodyPr>
          <a:lstStyle/>
          <a:p>
            <a:pPr marL="0" indent="0">
              <a:lnSpc>
                <a:spcPct val="107000"/>
              </a:lnSpc>
              <a:spcBef>
                <a:spcPts val="0"/>
              </a:spcBef>
              <a:spcAft>
                <a:spcPts val="800"/>
              </a:spcAft>
              <a:buNone/>
            </a:pPr>
            <a:r>
              <a:rPr lang="en-US" dirty="0">
                <a:latin typeface="Calibri" panose="020F0502020204030204" pitchFamily="34" charset="0"/>
                <a:ea typeface="DengXian" panose="02010600030101010101" pitchFamily="2" charset="-122"/>
                <a:cs typeface="Times New Roman" panose="02020603050405020304" pitchFamily="18" charset="0"/>
              </a:rPr>
              <a:t>(B) Transition diagrams:</a:t>
            </a:r>
          </a:p>
          <a:p>
            <a:pPr lvl="1">
              <a:lnSpc>
                <a:spcPct val="107000"/>
              </a:lnSpc>
              <a:spcBef>
                <a:spcPts val="0"/>
              </a:spcBef>
              <a:spcAft>
                <a:spcPts val="800"/>
              </a:spcAft>
            </a:pPr>
            <a:r>
              <a:rPr lang="en-US" dirty="0">
                <a:latin typeface="Calibri" panose="020F0502020204030204" pitchFamily="34" charset="0"/>
                <a:ea typeface="DengXian" panose="02010600030101010101" pitchFamily="2" charset="-122"/>
                <a:cs typeface="Times New Roman" panose="02020603050405020304" pitchFamily="18" charset="0"/>
              </a:rPr>
              <a:t>The same </a:t>
            </a:r>
            <a:r>
              <a:rPr lang="en-US" dirty="0">
                <a:solidFill>
                  <a:srgbClr val="FF0000"/>
                </a:solidFill>
                <a:latin typeface="Calibri" panose="020F0502020204030204" pitchFamily="34" charset="0"/>
                <a:ea typeface="DengXian" panose="02010600030101010101" pitchFamily="2" charset="-122"/>
                <a:cs typeface="Times New Roman" panose="02020603050405020304" pitchFamily="18" charset="0"/>
              </a:rPr>
              <a:t>number </a:t>
            </a:r>
            <a:r>
              <a:rPr lang="en-US" dirty="0">
                <a:latin typeface="Calibri" panose="020F0502020204030204" pitchFamily="34" charset="0"/>
                <a:ea typeface="DengXian" panose="02010600030101010101" pitchFamily="2" charset="-122"/>
                <a:cs typeface="Times New Roman" panose="02020603050405020304" pitchFamily="18" charset="0"/>
              </a:rPr>
              <a:t>in a state </a:t>
            </a:r>
            <a:r>
              <a:rPr lang="en-US" dirty="0">
                <a:solidFill>
                  <a:srgbClr val="FF0000"/>
                </a:solidFill>
                <a:latin typeface="Calibri" panose="020F0502020204030204" pitchFamily="34" charset="0"/>
                <a:ea typeface="DengXian" panose="02010600030101010101" pitchFamily="2" charset="-122"/>
                <a:cs typeface="Times New Roman" panose="02020603050405020304" pitchFamily="18" charset="0"/>
              </a:rPr>
              <a:t>cannot be reused </a:t>
            </a:r>
            <a:r>
              <a:rPr lang="en-US" dirty="0">
                <a:latin typeface="Calibri" panose="020F0502020204030204" pitchFamily="34" charset="0"/>
                <a:ea typeface="DengXian" panose="02010600030101010101" pitchFamily="2" charset="-122"/>
                <a:cs typeface="Times New Roman" panose="02020603050405020304" pitchFamily="18" charset="0"/>
              </a:rPr>
              <a:t>in another state.</a:t>
            </a:r>
          </a:p>
          <a:p>
            <a:pPr lvl="2">
              <a:lnSpc>
                <a:spcPct val="107000"/>
              </a:lnSpc>
              <a:spcBef>
                <a:spcPts val="0"/>
              </a:spcBef>
              <a:spcAft>
                <a:spcPts val="800"/>
              </a:spcAft>
            </a:pPr>
            <a:r>
              <a:rPr lang="en-US" dirty="0">
                <a:latin typeface="Calibri" panose="020F0502020204030204" pitchFamily="34" charset="0"/>
                <a:ea typeface="DengXian" panose="02010600030101010101" pitchFamily="2" charset="-122"/>
                <a:cs typeface="Times New Roman" panose="02020603050405020304" pitchFamily="18" charset="0"/>
              </a:rPr>
              <a:t>Cannot have “2. Search Student Info” and “2. Search Mentor Info”.</a:t>
            </a:r>
            <a:endParaRPr lang="en-US" dirty="0">
              <a:solidFill>
                <a:srgbClr val="FF0000"/>
              </a:solidFill>
              <a:latin typeface="Calibri" panose="020F0502020204030204" pitchFamily="34" charset="0"/>
              <a:ea typeface="DengXian" panose="02010600030101010101" pitchFamily="2" charset="-122"/>
              <a:cs typeface="Times New Roman" panose="02020603050405020304" pitchFamily="18" charset="0"/>
            </a:endParaRPr>
          </a:p>
          <a:p>
            <a:pPr lvl="1"/>
            <a:r>
              <a:rPr lang="en-US" dirty="0"/>
              <a:t>Improper actions</a:t>
            </a:r>
          </a:p>
          <a:p>
            <a:pPr lvl="2"/>
            <a:r>
              <a:rPr lang="en-US" dirty="0"/>
              <a:t>“Go to Edit page” is not a proper action, because the arrow in the transition diagram is already pointing to Edit page. </a:t>
            </a:r>
          </a:p>
          <a:p>
            <a:pPr lvl="1"/>
            <a:r>
              <a:rPr lang="en-US" dirty="0"/>
              <a:t>Warning boxes and other controls with only one button are not states; they should be actions.</a:t>
            </a:r>
            <a:endParaRPr lang="en-US" sz="1300" dirty="0">
              <a:latin typeface="Calibri" panose="020F0502020204030204" pitchFamily="34" charset="0"/>
              <a:ea typeface="DengXian" panose="02010600030101010101" pitchFamily="2" charset="-122"/>
              <a:cs typeface="Times New Roman" panose="02020603050405020304" pitchFamily="18" charset="0"/>
            </a:endParaRPr>
          </a:p>
          <a:p>
            <a:pPr lvl="1">
              <a:lnSpc>
                <a:spcPct val="107000"/>
              </a:lnSpc>
              <a:spcBef>
                <a:spcPts val="0"/>
              </a:spcBef>
              <a:spcAft>
                <a:spcPts val="800"/>
              </a:spcAft>
            </a:pPr>
            <a:r>
              <a:rPr lang="en-US" altLang="zh-CN" i="1" dirty="0"/>
              <a:t>Every state after login has a “</a:t>
            </a:r>
            <a:r>
              <a:rPr lang="en-US" altLang="zh-CN" b="1" i="1" dirty="0">
                <a:solidFill>
                  <a:srgbClr val="FF0000"/>
                </a:solidFill>
              </a:rPr>
              <a:t>Home</a:t>
            </a:r>
            <a:r>
              <a:rPr lang="en-US" altLang="zh-CN" i="1" dirty="0"/>
              <a:t>” button for users to return to their respective home pages.</a:t>
            </a:r>
          </a:p>
          <a:p>
            <a:pPr lvl="1">
              <a:lnSpc>
                <a:spcPct val="107000"/>
              </a:lnSpc>
              <a:spcBef>
                <a:spcPts val="0"/>
              </a:spcBef>
              <a:spcAft>
                <a:spcPts val="800"/>
              </a:spcAft>
            </a:pPr>
            <a:r>
              <a:rPr lang="en-US" dirty="0"/>
              <a:t>Only need to have the state “1. Login” in the login transition diagram.  In other transition diagrams, you can start with the home page(s) and put “Assume the user has logged in” as a requirement in 3.x.3.</a:t>
            </a:r>
          </a:p>
        </p:txBody>
      </p:sp>
    </p:spTree>
    <p:extLst>
      <p:ext uri="{BB962C8B-B14F-4D97-AF65-F5344CB8AC3E}">
        <p14:creationId xmlns:p14="http://schemas.microsoft.com/office/powerpoint/2010/main" val="3486845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1C951-41BF-3B82-737E-17F33F60F3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47CA46-9070-8EBE-C9C5-9E74397F73FD}"/>
              </a:ext>
            </a:extLst>
          </p:cNvPr>
          <p:cNvSpPr>
            <a:spLocks noGrp="1"/>
          </p:cNvSpPr>
          <p:nvPr>
            <p:ph type="title"/>
          </p:nvPr>
        </p:nvSpPr>
        <p:spPr>
          <a:xfrm>
            <a:off x="838200" y="336549"/>
            <a:ext cx="10515600" cy="736877"/>
          </a:xfrm>
        </p:spPr>
        <p:txBody>
          <a:bodyPr/>
          <a:lstStyle/>
          <a:p>
            <a:r>
              <a:rPr lang="en-US" dirty="0"/>
              <a:t>Task1: Feedback from Last Week</a:t>
            </a:r>
          </a:p>
        </p:txBody>
      </p:sp>
      <p:sp>
        <p:nvSpPr>
          <p:cNvPr id="3" name="Content Placeholder 2">
            <a:extLst>
              <a:ext uri="{FF2B5EF4-FFF2-40B4-BE49-F238E27FC236}">
                <a16:creationId xmlns:a16="http://schemas.microsoft.com/office/drawing/2014/main" id="{563BA073-6408-CCFB-B8DD-497F599FEAE6}"/>
              </a:ext>
            </a:extLst>
          </p:cNvPr>
          <p:cNvSpPr>
            <a:spLocks noGrp="1"/>
          </p:cNvSpPr>
          <p:nvPr>
            <p:ph idx="1"/>
          </p:nvPr>
        </p:nvSpPr>
        <p:spPr>
          <a:xfrm>
            <a:off x="838200" y="1222408"/>
            <a:ext cx="10515600" cy="5072514"/>
          </a:xfrm>
        </p:spPr>
        <p:txBody>
          <a:bodyPr>
            <a:normAutofit/>
          </a:bodyPr>
          <a:lstStyle/>
          <a:p>
            <a:pPr marL="0" indent="0">
              <a:buNone/>
            </a:pPr>
            <a:r>
              <a:rPr lang="en-US" dirty="0"/>
              <a:t>(C) UIs and UI file</a:t>
            </a:r>
          </a:p>
          <a:p>
            <a:r>
              <a:rPr lang="en-US" dirty="0">
                <a:latin typeface="Calibri" panose="020F0502020204030204" pitchFamily="34" charset="0"/>
                <a:ea typeface="DengXian" panose="02010600030101010101" pitchFamily="2" charset="-122"/>
                <a:cs typeface="Times New Roman" panose="02020603050405020304" pitchFamily="18" charset="0"/>
              </a:rPr>
              <a:t>Must put all UIs in a UI file separate from the SRS document.</a:t>
            </a:r>
          </a:p>
          <a:p>
            <a:r>
              <a:rPr lang="en-US" dirty="0">
                <a:latin typeface="Calibri" panose="020F0502020204030204" pitchFamily="34" charset="0"/>
                <a:ea typeface="DengXian" panose="02010600030101010101" pitchFamily="2" charset="-122"/>
                <a:cs typeface="Times New Roman" panose="02020603050405020304" pitchFamily="18" charset="0"/>
              </a:rPr>
              <a:t>Should have </a:t>
            </a:r>
            <a:r>
              <a:rPr lang="en-US" dirty="0">
                <a:solidFill>
                  <a:srgbClr val="FF0000"/>
                </a:solidFill>
                <a:latin typeface="Calibri" panose="020F0502020204030204" pitchFamily="34" charset="0"/>
                <a:ea typeface="DengXian" panose="02010600030101010101" pitchFamily="2" charset="-122"/>
                <a:cs typeface="Times New Roman" panose="02020603050405020304" pitchFamily="18" charset="0"/>
              </a:rPr>
              <a:t>one </a:t>
            </a:r>
            <a:r>
              <a:rPr lang="en-US" dirty="0">
                <a:latin typeface="Calibri" panose="020F0502020204030204" pitchFamily="34" charset="0"/>
                <a:ea typeface="DengXian" panose="02010600030101010101" pitchFamily="2" charset="-122"/>
                <a:cs typeface="Times New Roman" panose="02020603050405020304" pitchFamily="18" charset="0"/>
              </a:rPr>
              <a:t>complete</a:t>
            </a:r>
            <a:r>
              <a:rPr lang="en-US" dirty="0">
                <a:solidFill>
                  <a:srgbClr val="FF0000"/>
                </a:solidFill>
                <a:latin typeface="Calibri" panose="020F0502020204030204" pitchFamily="34" charset="0"/>
                <a:ea typeface="DengXian" panose="02010600030101010101" pitchFamily="2" charset="-122"/>
                <a:cs typeface="Times New Roman" panose="02020603050405020304" pitchFamily="18" charset="0"/>
              </a:rPr>
              <a:t> set of UIs </a:t>
            </a:r>
            <a:r>
              <a:rPr lang="en-US" dirty="0">
                <a:latin typeface="Calibri" panose="020F0502020204030204" pitchFamily="34" charset="0"/>
                <a:ea typeface="DengXian" panose="02010600030101010101" pitchFamily="2" charset="-122"/>
                <a:cs typeface="Times New Roman" panose="02020603050405020304" pitchFamily="18" charset="0"/>
              </a:rPr>
              <a:t>for </a:t>
            </a:r>
            <a:r>
              <a:rPr lang="en-US" dirty="0">
                <a:solidFill>
                  <a:srgbClr val="FF0000"/>
                </a:solidFill>
                <a:latin typeface="Calibri" panose="020F0502020204030204" pitchFamily="34" charset="0"/>
                <a:ea typeface="DengXian" panose="02010600030101010101" pitchFamily="2" charset="-122"/>
                <a:cs typeface="Times New Roman" panose="02020603050405020304" pitchFamily="18" charset="0"/>
              </a:rPr>
              <a:t>all transition diagrams</a:t>
            </a:r>
            <a:r>
              <a:rPr lang="en-US" dirty="0">
                <a:latin typeface="Calibri" panose="020F0502020204030204" pitchFamily="34" charset="0"/>
                <a:ea typeface="DengXian" panose="02010600030101010101" pitchFamily="2" charset="-122"/>
                <a:cs typeface="Times New Roman" panose="02020603050405020304" pitchFamily="18" charset="0"/>
              </a:rPr>
              <a:t>.</a:t>
            </a:r>
            <a:endParaRPr lang="en-US" dirty="0"/>
          </a:p>
          <a:p>
            <a:pPr lvl="1"/>
            <a:r>
              <a:rPr lang="en-US" dirty="0"/>
              <a:t>The UIs in the UI file should </a:t>
            </a:r>
            <a:r>
              <a:rPr lang="en-US" dirty="0">
                <a:solidFill>
                  <a:srgbClr val="FF0000"/>
                </a:solidFill>
              </a:rPr>
              <a:t>not</a:t>
            </a:r>
            <a:r>
              <a:rPr lang="en-US" dirty="0"/>
              <a:t> be </a:t>
            </a:r>
            <a:r>
              <a:rPr lang="en-US" dirty="0">
                <a:solidFill>
                  <a:srgbClr val="FF0000"/>
                </a:solidFill>
              </a:rPr>
              <a:t>organized</a:t>
            </a:r>
            <a:r>
              <a:rPr lang="en-US" dirty="0"/>
              <a:t> by </a:t>
            </a:r>
            <a:r>
              <a:rPr lang="en-US" dirty="0">
                <a:solidFill>
                  <a:srgbClr val="FF0000"/>
                </a:solidFill>
              </a:rPr>
              <a:t>transition diagrams</a:t>
            </a:r>
            <a:r>
              <a:rPr lang="en-US" dirty="0"/>
              <a:t>.</a:t>
            </a:r>
          </a:p>
          <a:p>
            <a:pPr lvl="1"/>
            <a:r>
              <a:rPr lang="en-US" dirty="0"/>
              <a:t>Should </a:t>
            </a:r>
            <a:r>
              <a:rPr lang="en-US" dirty="0">
                <a:solidFill>
                  <a:srgbClr val="FF0000"/>
                </a:solidFill>
              </a:rPr>
              <a:t>not</a:t>
            </a:r>
            <a:r>
              <a:rPr lang="en-US" dirty="0"/>
              <a:t> have one set of UIs for one transition diagram, and another set of UIs for another transition diagram.</a:t>
            </a:r>
          </a:p>
          <a:p>
            <a:r>
              <a:rPr lang="en-US" dirty="0">
                <a:latin typeface="Calibri" panose="020F0502020204030204" pitchFamily="34" charset="0"/>
                <a:ea typeface="DengXian" panose="02010600030101010101" pitchFamily="2" charset="-122"/>
                <a:cs typeface="Times New Roman" panose="02020603050405020304" pitchFamily="18" charset="0"/>
              </a:rPr>
              <a:t>A UI </a:t>
            </a:r>
            <a:r>
              <a:rPr lang="en-US" dirty="0">
                <a:solidFill>
                  <a:srgbClr val="FF0000"/>
                </a:solidFill>
                <a:latin typeface="Calibri" panose="020F0502020204030204" pitchFamily="34" charset="0"/>
                <a:ea typeface="DengXian" panose="02010600030101010101" pitchFamily="2" charset="-122"/>
                <a:cs typeface="Times New Roman" panose="02020603050405020304" pitchFamily="18" charset="0"/>
              </a:rPr>
              <a:t>cannot</a:t>
            </a:r>
            <a:r>
              <a:rPr lang="en-US" dirty="0">
                <a:latin typeface="Calibri" panose="020F0502020204030204" pitchFamily="34" charset="0"/>
                <a:ea typeface="DengXian" panose="02010600030101010101" pitchFamily="2" charset="-122"/>
                <a:cs typeface="Times New Roman" panose="02020603050405020304" pitchFamily="18" charset="0"/>
              </a:rPr>
              <a:t> appear </a:t>
            </a:r>
            <a:r>
              <a:rPr lang="en-US" dirty="0">
                <a:solidFill>
                  <a:srgbClr val="FF0000"/>
                </a:solidFill>
                <a:latin typeface="Calibri" panose="020F0502020204030204" pitchFamily="34" charset="0"/>
                <a:ea typeface="DengXian" panose="02010600030101010101" pitchFamily="2" charset="-122"/>
                <a:cs typeface="Times New Roman" panose="02020603050405020304" pitchFamily="18" charset="0"/>
              </a:rPr>
              <a:t>more than once </a:t>
            </a:r>
            <a:r>
              <a:rPr lang="en-US" dirty="0">
                <a:latin typeface="Calibri" panose="020F0502020204030204" pitchFamily="34" charset="0"/>
                <a:ea typeface="DengXian" panose="02010600030101010101" pitchFamily="2" charset="-122"/>
                <a:cs typeface="Times New Roman" panose="02020603050405020304" pitchFamily="18" charset="0"/>
              </a:rPr>
              <a:t>in the UI file.</a:t>
            </a:r>
          </a:p>
          <a:p>
            <a:endParaRPr lang="en-US" dirty="0">
              <a:latin typeface="Calibri" panose="020F0502020204030204" pitchFamily="34" charset="0"/>
              <a:ea typeface="DengXian" panose="02010600030101010101" pitchFamily="2" charset="-122"/>
              <a:cs typeface="Times New Roman" panose="02020603050405020304" pitchFamily="18" charset="0"/>
            </a:endParaRPr>
          </a:p>
          <a:p>
            <a:endParaRPr lang="en-US" dirty="0">
              <a:latin typeface="Calibri" panose="020F0502020204030204" pitchFamily="34" charset="0"/>
              <a:ea typeface="DengXian" panose="02010600030101010101" pitchFamily="2" charset="-122"/>
              <a:cs typeface="Times New Roman" panose="02020603050405020304" pitchFamily="18" charset="0"/>
            </a:endParaRPr>
          </a:p>
          <a:p>
            <a:pPr marL="0" indent="0">
              <a:buNone/>
            </a:pPr>
            <a:endParaRPr lang="en-US" sz="2400" dirty="0">
              <a:latin typeface="Calibri" panose="020F0502020204030204" pitchFamily="34" charset="0"/>
              <a:ea typeface="DengXian" panose="02010600030101010101" pitchFamily="2" charset="-122"/>
              <a:cs typeface="Times New Roman" panose="02020603050405020304" pitchFamily="18" charset="0"/>
            </a:endParaRPr>
          </a:p>
          <a:p>
            <a:pPr marL="0" indent="0">
              <a:buNone/>
            </a:pPr>
            <a:endParaRPr lang="en-US" dirty="0">
              <a:latin typeface="Calibri" panose="020F0502020204030204" pitchFamily="34" charset="0"/>
              <a:ea typeface="DengXian" panose="02010600030101010101" pitchFamily="2" charset="-122"/>
              <a:cs typeface="Times New Roman" panose="02020603050405020304" pitchFamily="18" charset="0"/>
            </a:endParaRPr>
          </a:p>
          <a:p>
            <a:endParaRPr lang="en-US" dirty="0">
              <a:latin typeface="Calibri" panose="020F0502020204030204" pitchFamily="34" charset="0"/>
              <a:ea typeface="DengXian" panose="02010600030101010101" pitchFamily="2" charset="-122"/>
              <a:cs typeface="Times New Roman" panose="02020603050405020304" pitchFamily="18" charset="0"/>
            </a:endParaRPr>
          </a:p>
          <a:p>
            <a:endParaRPr lang="en-US" dirty="0">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2565275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6549"/>
            <a:ext cx="10515600" cy="736877"/>
          </a:xfrm>
        </p:spPr>
        <p:txBody>
          <a:bodyPr/>
          <a:lstStyle/>
          <a:p>
            <a:r>
              <a:rPr lang="en-US" dirty="0"/>
              <a:t>Task1: Feedback from Last Week</a:t>
            </a:r>
          </a:p>
        </p:txBody>
      </p:sp>
      <p:sp>
        <p:nvSpPr>
          <p:cNvPr id="3" name="Content Placeholder 2"/>
          <p:cNvSpPr>
            <a:spLocks noGrp="1"/>
          </p:cNvSpPr>
          <p:nvPr>
            <p:ph idx="1"/>
          </p:nvPr>
        </p:nvSpPr>
        <p:spPr>
          <a:xfrm>
            <a:off x="838200" y="1222407"/>
            <a:ext cx="10515600" cy="5299043"/>
          </a:xfrm>
        </p:spPr>
        <p:txBody>
          <a:bodyPr>
            <a:normAutofit lnSpcReduction="10000"/>
          </a:bodyPr>
          <a:lstStyle/>
          <a:p>
            <a:r>
              <a:rPr lang="en-US" dirty="0"/>
              <a:t>The UIs in the UI file should be organized by the numbers in the label.</a:t>
            </a:r>
          </a:p>
          <a:p>
            <a:r>
              <a:rPr lang="en-US" dirty="0"/>
              <a:t>Organize the number in the UIs something like this:</a:t>
            </a:r>
          </a:p>
          <a:p>
            <a:pPr lvl="1"/>
            <a:r>
              <a:rPr lang="en-US" dirty="0"/>
              <a:t>UIs for </a:t>
            </a:r>
            <a:r>
              <a:rPr lang="en-US" dirty="0">
                <a:solidFill>
                  <a:srgbClr val="FF0000"/>
                </a:solidFill>
              </a:rPr>
              <a:t>Login and Home Pages</a:t>
            </a:r>
            <a:r>
              <a:rPr lang="en-US" dirty="0"/>
              <a:t> begin with </a:t>
            </a:r>
            <a:r>
              <a:rPr lang="en-US" dirty="0">
                <a:solidFill>
                  <a:srgbClr val="FF0000"/>
                </a:solidFill>
              </a:rPr>
              <a:t>1</a:t>
            </a:r>
            <a:r>
              <a:rPr lang="en-US" dirty="0"/>
              <a:t>.</a:t>
            </a:r>
          </a:p>
          <a:p>
            <a:pPr lvl="2"/>
            <a:r>
              <a:rPr lang="en-US" dirty="0"/>
              <a:t>E.g. 1 Login, 1A Home Mentor, 1B Home Student, 1C Home Faculty Consultant, etc.</a:t>
            </a:r>
          </a:p>
          <a:p>
            <a:pPr lvl="1"/>
            <a:r>
              <a:rPr lang="en-US" dirty="0"/>
              <a:t>UIs for </a:t>
            </a:r>
            <a:r>
              <a:rPr lang="en-US" dirty="0">
                <a:solidFill>
                  <a:srgbClr val="FF0000"/>
                </a:solidFill>
              </a:rPr>
              <a:t>Search</a:t>
            </a:r>
            <a:r>
              <a:rPr lang="en-US" dirty="0"/>
              <a:t>, </a:t>
            </a:r>
            <a:r>
              <a:rPr lang="en-US" dirty="0">
                <a:solidFill>
                  <a:srgbClr val="FF0000"/>
                </a:solidFill>
              </a:rPr>
              <a:t>Edit </a:t>
            </a:r>
            <a:r>
              <a:rPr lang="en-US" dirty="0"/>
              <a:t>and</a:t>
            </a:r>
            <a:r>
              <a:rPr lang="en-US" dirty="0">
                <a:solidFill>
                  <a:srgbClr val="FF0000"/>
                </a:solidFill>
              </a:rPr>
              <a:t> Export </a:t>
            </a:r>
            <a:r>
              <a:rPr lang="en-US" dirty="0"/>
              <a:t>pages</a:t>
            </a:r>
            <a:r>
              <a:rPr lang="en-US" dirty="0">
                <a:solidFill>
                  <a:srgbClr val="FF0000"/>
                </a:solidFill>
              </a:rPr>
              <a:t> </a:t>
            </a:r>
            <a:r>
              <a:rPr lang="en-US" dirty="0"/>
              <a:t>begin with </a:t>
            </a:r>
            <a:r>
              <a:rPr lang="en-US" dirty="0">
                <a:solidFill>
                  <a:srgbClr val="FF0000"/>
                </a:solidFill>
              </a:rPr>
              <a:t>2</a:t>
            </a:r>
            <a:r>
              <a:rPr lang="en-US" dirty="0"/>
              <a:t>.</a:t>
            </a:r>
          </a:p>
          <a:p>
            <a:pPr lvl="2"/>
            <a:r>
              <a:rPr lang="en-US" dirty="0"/>
              <a:t>E.g. 2A1 Search Stud Info Page, 2A2 Edit Stud Info Page, 2B Search Mentor Page, etc. </a:t>
            </a:r>
          </a:p>
          <a:p>
            <a:pPr lvl="2"/>
            <a:r>
              <a:rPr lang="en-US" dirty="0"/>
              <a:t>These are pages for the highest priority goal-oriented use cases.</a:t>
            </a:r>
          </a:p>
          <a:p>
            <a:pPr lvl="1"/>
            <a:r>
              <a:rPr lang="en-US" dirty="0"/>
              <a:t>UIs for </a:t>
            </a:r>
            <a:r>
              <a:rPr lang="en-US" dirty="0">
                <a:solidFill>
                  <a:srgbClr val="FF0000"/>
                </a:solidFill>
              </a:rPr>
              <a:t>Utilities</a:t>
            </a:r>
            <a:r>
              <a:rPr lang="en-US" dirty="0"/>
              <a:t> begin with </a:t>
            </a:r>
            <a:r>
              <a:rPr lang="en-US" dirty="0">
                <a:solidFill>
                  <a:srgbClr val="FF0000"/>
                </a:solidFill>
              </a:rPr>
              <a:t>3</a:t>
            </a:r>
            <a:r>
              <a:rPr lang="en-US" dirty="0"/>
              <a:t>.</a:t>
            </a:r>
          </a:p>
          <a:p>
            <a:pPr lvl="2"/>
            <a:r>
              <a:rPr lang="en-US" dirty="0"/>
              <a:t>E.g. 3A Sent Message Page, 3B Make Appointment Page, etc.</a:t>
            </a:r>
          </a:p>
          <a:p>
            <a:pPr lvl="2"/>
            <a:r>
              <a:rPr lang="en-US" dirty="0"/>
              <a:t>These are the support pages for those beginning with 2.</a:t>
            </a:r>
          </a:p>
          <a:p>
            <a:pPr lvl="1"/>
            <a:r>
              <a:rPr lang="en-US" dirty="0"/>
              <a:t>UIs for </a:t>
            </a:r>
            <a:r>
              <a:rPr lang="en-US" dirty="0">
                <a:solidFill>
                  <a:srgbClr val="FF0000"/>
                </a:solidFill>
              </a:rPr>
              <a:t>Admin </a:t>
            </a:r>
            <a:r>
              <a:rPr lang="en-US" dirty="0"/>
              <a:t>and</a:t>
            </a:r>
            <a:r>
              <a:rPr lang="en-US" dirty="0">
                <a:solidFill>
                  <a:srgbClr val="FF0000"/>
                </a:solidFill>
              </a:rPr>
              <a:t> Maintenances </a:t>
            </a:r>
            <a:r>
              <a:rPr lang="en-US" dirty="0"/>
              <a:t>begin with </a:t>
            </a:r>
            <a:r>
              <a:rPr lang="en-US" dirty="0">
                <a:solidFill>
                  <a:srgbClr val="FF0000"/>
                </a:solidFill>
              </a:rPr>
              <a:t>4</a:t>
            </a:r>
            <a:r>
              <a:rPr lang="en-US" dirty="0"/>
              <a:t>. </a:t>
            </a:r>
          </a:p>
          <a:p>
            <a:r>
              <a:rPr lang="en-US" dirty="0"/>
              <a:t>In the UI file, list the UI diagrams by their numbers.</a:t>
            </a:r>
          </a:p>
          <a:p>
            <a:pPr lvl="1"/>
            <a:r>
              <a:rPr lang="en-US" dirty="0"/>
              <a:t>For any state in the transition diagram, we can easily find the corresponding UI in the UI file by looking up its number.</a:t>
            </a:r>
          </a:p>
          <a:p>
            <a:pPr lvl="1"/>
            <a:endParaRPr lang="en-US" dirty="0"/>
          </a:p>
          <a:p>
            <a:pPr marL="0" indent="0">
              <a:buNone/>
            </a:pPr>
            <a:endParaRPr lang="en-US" dirty="0">
              <a:latin typeface="Calibri" panose="020F0502020204030204" pitchFamily="34" charset="0"/>
              <a:ea typeface="DengXian" panose="02010600030101010101" pitchFamily="2" charset="-122"/>
              <a:cs typeface="Times New Roman" panose="02020603050405020304" pitchFamily="18" charset="0"/>
            </a:endParaRPr>
          </a:p>
          <a:p>
            <a:pPr marL="457200" lvl="1" indent="0">
              <a:buNone/>
            </a:pPr>
            <a:endParaRPr lang="en-US" dirty="0"/>
          </a:p>
          <a:p>
            <a:pPr marL="457200" lvl="1" indent="0">
              <a:lnSpc>
                <a:spcPct val="107000"/>
              </a:lnSpc>
              <a:spcBef>
                <a:spcPts val="0"/>
              </a:spcBef>
              <a:spcAft>
                <a:spcPts val="800"/>
              </a:spcAft>
              <a:buNone/>
            </a:pPr>
            <a:endParaRPr lang="en-US" dirty="0">
              <a:latin typeface="Calibri" panose="020F0502020204030204" pitchFamily="34" charset="0"/>
              <a:ea typeface="DengXian" panose="02010600030101010101" pitchFamily="2" charset="-122"/>
              <a:cs typeface="Times New Roman" panose="02020603050405020304" pitchFamily="18" charset="0"/>
            </a:endParaRPr>
          </a:p>
          <a:p>
            <a:pPr>
              <a:lnSpc>
                <a:spcPct val="107000"/>
              </a:lnSpc>
              <a:spcBef>
                <a:spcPts val="0"/>
              </a:spcBef>
              <a:spcAft>
                <a:spcPts val="800"/>
              </a:spcAft>
            </a:pPr>
            <a:endParaRPr lang="en-US" sz="1200" dirty="0">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0788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69874-3391-6A0E-2FAB-DED6B208E0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9ADFD8-FE31-7AF2-990A-A15933AEDA25}"/>
              </a:ext>
            </a:extLst>
          </p:cNvPr>
          <p:cNvSpPr>
            <a:spLocks noGrp="1"/>
          </p:cNvSpPr>
          <p:nvPr>
            <p:ph type="title"/>
          </p:nvPr>
        </p:nvSpPr>
        <p:spPr>
          <a:xfrm>
            <a:off x="838200" y="336549"/>
            <a:ext cx="10515600" cy="736877"/>
          </a:xfrm>
        </p:spPr>
        <p:txBody>
          <a:bodyPr/>
          <a:lstStyle/>
          <a:p>
            <a:r>
              <a:rPr lang="en-US" dirty="0"/>
              <a:t>Task1: Feedback from Last Week</a:t>
            </a:r>
          </a:p>
        </p:txBody>
      </p:sp>
      <p:sp>
        <p:nvSpPr>
          <p:cNvPr id="5" name="Content Placeholder 4">
            <a:extLst>
              <a:ext uri="{FF2B5EF4-FFF2-40B4-BE49-F238E27FC236}">
                <a16:creationId xmlns:a16="http://schemas.microsoft.com/office/drawing/2014/main" id="{0E168DB2-D475-8A0D-F651-25989689B4F7}"/>
              </a:ext>
            </a:extLst>
          </p:cNvPr>
          <p:cNvSpPr>
            <a:spLocks noGrp="1"/>
          </p:cNvSpPr>
          <p:nvPr>
            <p:ph idx="1"/>
          </p:nvPr>
        </p:nvSpPr>
        <p:spPr>
          <a:xfrm>
            <a:off x="838200" y="1280160"/>
            <a:ext cx="10515600" cy="4896803"/>
          </a:xfrm>
        </p:spPr>
        <p:txBody>
          <a:bodyPr/>
          <a:lstStyle/>
          <a:p>
            <a:pPr marL="0" indent="0">
              <a:buNone/>
            </a:pPr>
            <a:r>
              <a:rPr lang="en-US" dirty="0"/>
              <a:t>(D) Scenario</a:t>
            </a:r>
          </a:p>
          <a:p>
            <a:r>
              <a:rPr lang="en-US" dirty="0"/>
              <a:t>User action and systems response must alternate.</a:t>
            </a:r>
          </a:p>
          <a:p>
            <a:endParaRPr lang="en-US" dirty="0"/>
          </a:p>
        </p:txBody>
      </p:sp>
    </p:spTree>
    <p:extLst>
      <p:ext uri="{BB962C8B-B14F-4D97-AF65-F5344CB8AC3E}">
        <p14:creationId xmlns:p14="http://schemas.microsoft.com/office/powerpoint/2010/main" val="5622124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6549"/>
            <a:ext cx="10515600" cy="736877"/>
          </a:xfrm>
        </p:spPr>
        <p:txBody>
          <a:bodyPr/>
          <a:lstStyle/>
          <a:p>
            <a:r>
              <a:rPr lang="en-US" dirty="0"/>
              <a:t>Task1: Feedback from Last Week</a:t>
            </a:r>
          </a:p>
        </p:txBody>
      </p:sp>
      <p:sp>
        <p:nvSpPr>
          <p:cNvPr id="3" name="Content Placeholder 2"/>
          <p:cNvSpPr>
            <a:spLocks noGrp="1"/>
          </p:cNvSpPr>
          <p:nvPr>
            <p:ph idx="1"/>
          </p:nvPr>
        </p:nvSpPr>
        <p:spPr>
          <a:xfrm>
            <a:off x="838200" y="1222408"/>
            <a:ext cx="10515600" cy="5072514"/>
          </a:xfrm>
        </p:spPr>
        <p:txBody>
          <a:bodyPr>
            <a:normAutofit/>
          </a:bodyPr>
          <a:lstStyle/>
          <a:p>
            <a:pPr marL="0" indent="0">
              <a:buNone/>
            </a:pPr>
            <a:r>
              <a:rPr lang="en-US" dirty="0"/>
              <a:t>(E) Miscellaneous Remarks</a:t>
            </a:r>
          </a:p>
          <a:p>
            <a:pPr lvl="1"/>
            <a:r>
              <a:rPr lang="en-US" dirty="0"/>
              <a:t>In the cover, write down the contribution by each member: Full, Fair, Little or None.</a:t>
            </a:r>
          </a:p>
          <a:p>
            <a:pPr lvl="1"/>
            <a:r>
              <a:rPr lang="en-US" dirty="0"/>
              <a:t>Font sizes should not be too small</a:t>
            </a:r>
          </a:p>
          <a:p>
            <a:pPr lvl="2"/>
            <a:r>
              <a:rPr lang="en-US" sz="2400" dirty="0"/>
              <a:t>Font size in the transition diagram and UIs should be </a:t>
            </a:r>
            <a:r>
              <a:rPr lang="en-US" sz="2400" dirty="0">
                <a:solidFill>
                  <a:srgbClr val="FF0000"/>
                </a:solidFill>
              </a:rPr>
              <a:t>comparable</a:t>
            </a:r>
            <a:r>
              <a:rPr lang="en-US" sz="2400" dirty="0"/>
              <a:t> to the size of the </a:t>
            </a:r>
            <a:r>
              <a:rPr lang="en-US" sz="2400" dirty="0">
                <a:solidFill>
                  <a:srgbClr val="FF0000"/>
                </a:solidFill>
              </a:rPr>
              <a:t>regular text </a:t>
            </a:r>
            <a:r>
              <a:rPr lang="en-US" sz="2400" dirty="0"/>
              <a:t>in your document.</a:t>
            </a:r>
          </a:p>
          <a:p>
            <a:pPr lvl="2"/>
            <a:r>
              <a:rPr lang="en-US" sz="2400" dirty="0"/>
              <a:t>The numbers and labels for a state and UI should be a little bigger, and the text for the event/condition/action can be a little smaller. </a:t>
            </a:r>
          </a:p>
          <a:p>
            <a:pPr lvl="1"/>
            <a:endParaRPr lang="en-US" dirty="0"/>
          </a:p>
          <a:p>
            <a:pPr marL="0" indent="0">
              <a:buNone/>
            </a:pPr>
            <a:endParaRPr lang="en-US" dirty="0"/>
          </a:p>
          <a:p>
            <a:pPr marL="457200" lvl="1" indent="0">
              <a:lnSpc>
                <a:spcPct val="134000"/>
              </a:lnSpc>
              <a:spcBef>
                <a:spcPts val="600"/>
              </a:spcBef>
              <a:buNone/>
            </a:pPr>
            <a:endParaRPr lang="en-US" altLang="zh-CN" dirty="0"/>
          </a:p>
          <a:p>
            <a:pPr marL="914400" lvl="1" indent="-457200">
              <a:buFont typeface="+mj-lt"/>
              <a:buAutoNum type="arabicPeriod"/>
            </a:pPr>
            <a:endParaRPr lang="en-US" dirty="0"/>
          </a:p>
          <a:p>
            <a:pPr marL="457200" lvl="1" indent="0">
              <a:buNone/>
            </a:pPr>
            <a:endParaRPr lang="en-US" dirty="0"/>
          </a:p>
        </p:txBody>
      </p:sp>
    </p:spTree>
    <p:extLst>
      <p:ext uri="{BB962C8B-B14F-4D97-AF65-F5344CB8AC3E}">
        <p14:creationId xmlns:p14="http://schemas.microsoft.com/office/powerpoint/2010/main" val="3687268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9C885-B8A9-5D41-99F3-FCE82BA437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BCB2E5-265F-22C3-4AF3-E54FFC9EEB11}"/>
              </a:ext>
            </a:extLst>
          </p:cNvPr>
          <p:cNvSpPr>
            <a:spLocks noGrp="1"/>
          </p:cNvSpPr>
          <p:nvPr>
            <p:ph type="title"/>
          </p:nvPr>
        </p:nvSpPr>
        <p:spPr>
          <a:xfrm>
            <a:off x="838200" y="336549"/>
            <a:ext cx="10515600" cy="736877"/>
          </a:xfrm>
        </p:spPr>
        <p:txBody>
          <a:bodyPr/>
          <a:lstStyle/>
          <a:p>
            <a:r>
              <a:rPr lang="en-US" dirty="0"/>
              <a:t>Task1: Feedback from Last Week</a:t>
            </a:r>
          </a:p>
        </p:txBody>
      </p:sp>
      <p:sp>
        <p:nvSpPr>
          <p:cNvPr id="3" name="Content Placeholder 2">
            <a:extLst>
              <a:ext uri="{FF2B5EF4-FFF2-40B4-BE49-F238E27FC236}">
                <a16:creationId xmlns:a16="http://schemas.microsoft.com/office/drawing/2014/main" id="{35A5B097-52D8-7915-EBCB-CB2A72D8303F}"/>
              </a:ext>
            </a:extLst>
          </p:cNvPr>
          <p:cNvSpPr>
            <a:spLocks noGrp="1"/>
          </p:cNvSpPr>
          <p:nvPr>
            <p:ph idx="1"/>
          </p:nvPr>
        </p:nvSpPr>
        <p:spPr>
          <a:xfrm>
            <a:off x="838200" y="1222408"/>
            <a:ext cx="10515600" cy="5072514"/>
          </a:xfrm>
        </p:spPr>
        <p:txBody>
          <a:bodyPr>
            <a:normAutofit/>
          </a:bodyPr>
          <a:lstStyle/>
          <a:p>
            <a:pPr marL="0" indent="0">
              <a:buNone/>
            </a:pPr>
            <a:r>
              <a:rPr lang="en-US" dirty="0"/>
              <a:t>(F) Specific Common Errors</a:t>
            </a:r>
          </a:p>
          <a:p>
            <a:pPr lvl="1"/>
            <a:r>
              <a:rPr lang="en-US" dirty="0"/>
              <a:t>In some transition diagrams such as Search Student’s Info / Edit Interview Record, must consider the actor in the condition.</a:t>
            </a:r>
          </a:p>
          <a:p>
            <a:pPr lvl="2"/>
            <a:r>
              <a:rPr lang="en-US" dirty="0"/>
              <a:t>Otherwise, you allow the coordinator to edit the interview record.</a:t>
            </a:r>
          </a:p>
          <a:p>
            <a:pPr lvl="1"/>
            <a:endParaRPr lang="en-US" dirty="0"/>
          </a:p>
          <a:p>
            <a:pPr marL="0" indent="0">
              <a:buNone/>
            </a:pPr>
            <a:endParaRPr lang="en-US" dirty="0"/>
          </a:p>
          <a:p>
            <a:pPr marL="457200" lvl="1" indent="0">
              <a:lnSpc>
                <a:spcPct val="134000"/>
              </a:lnSpc>
              <a:spcBef>
                <a:spcPts val="600"/>
              </a:spcBef>
              <a:buNone/>
            </a:pPr>
            <a:endParaRPr lang="en-US" altLang="zh-CN" dirty="0"/>
          </a:p>
          <a:p>
            <a:pPr marL="914400" lvl="1" indent="-457200">
              <a:buFont typeface="+mj-lt"/>
              <a:buAutoNum type="arabicPeriod"/>
            </a:pPr>
            <a:endParaRPr lang="en-US" dirty="0"/>
          </a:p>
          <a:p>
            <a:pPr marL="457200" lvl="1" indent="0">
              <a:buNone/>
            </a:pPr>
            <a:endParaRPr lang="en-US" dirty="0"/>
          </a:p>
        </p:txBody>
      </p:sp>
    </p:spTree>
    <p:extLst>
      <p:ext uri="{BB962C8B-B14F-4D97-AF65-F5344CB8AC3E}">
        <p14:creationId xmlns:p14="http://schemas.microsoft.com/office/powerpoint/2010/main" val="4153508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Task2: Solution to last week’s tasks</a:t>
            </a:r>
          </a:p>
        </p:txBody>
      </p:sp>
      <p:sp>
        <p:nvSpPr>
          <p:cNvPr id="6" name="Content Placeholder 5">
            <a:extLst>
              <a:ext uri="{FF2B5EF4-FFF2-40B4-BE49-F238E27FC236}">
                <a16:creationId xmlns:a16="http://schemas.microsoft.com/office/drawing/2014/main" id="{704E15F0-F814-42A8-BD12-76F929571813}"/>
              </a:ext>
            </a:extLst>
          </p:cNvPr>
          <p:cNvSpPr>
            <a:spLocks noGrp="1"/>
          </p:cNvSpPr>
          <p:nvPr>
            <p:ph idx="1"/>
          </p:nvPr>
        </p:nvSpPr>
        <p:spPr>
          <a:xfrm>
            <a:off x="838200" y="1648691"/>
            <a:ext cx="10515600" cy="4393335"/>
          </a:xfrm>
        </p:spPr>
        <p:txBody>
          <a:bodyPr/>
          <a:lstStyle/>
          <a:p>
            <a:r>
              <a:rPr lang="en-US" dirty="0"/>
              <a:t>OK to put </a:t>
            </a:r>
            <a:r>
              <a:rPr lang="en-US" altLang="zh-CN" dirty="0"/>
              <a:t>Search Students’ Info (left hand side of next slide) in 3.1.2.</a:t>
            </a:r>
          </a:p>
          <a:p>
            <a:pPr lvl="1"/>
            <a:r>
              <a:rPr lang="en-US" altLang="zh-CN" dirty="0"/>
              <a:t>No points deducted if you did that.</a:t>
            </a:r>
          </a:p>
          <a:p>
            <a:r>
              <a:rPr lang="en-US" dirty="0"/>
              <a:t>But the combine transitions of 3.1 Search Student’s Info and 3.2 Edit Interview Record contains the same states as 3.1.2.</a:t>
            </a:r>
          </a:p>
          <a:p>
            <a:pPr lvl="1"/>
            <a:r>
              <a:rPr lang="en-US" dirty="0"/>
              <a:t>Only need to add the controls for 2B. Student Info at the far right of next slide in order to combine 3.1 with 3.2.</a:t>
            </a:r>
          </a:p>
        </p:txBody>
      </p:sp>
    </p:spTree>
    <p:extLst>
      <p:ext uri="{BB962C8B-B14F-4D97-AF65-F5344CB8AC3E}">
        <p14:creationId xmlns:p14="http://schemas.microsoft.com/office/powerpoint/2010/main" val="3878761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F4956574-2BD0-6ACC-526B-B9F9B8602D42}"/>
              </a:ext>
            </a:extLst>
          </p:cNvPr>
          <p:cNvSpPr>
            <a:spLocks noGrp="1"/>
          </p:cNvSpPr>
          <p:nvPr>
            <p:ph type="title"/>
          </p:nvPr>
        </p:nvSpPr>
        <p:spPr>
          <a:xfrm>
            <a:off x="838200" y="323584"/>
            <a:ext cx="10515600" cy="1325546"/>
          </a:xfrm>
        </p:spPr>
        <p:txBody>
          <a:bodyPr>
            <a:normAutofit/>
          </a:bodyPr>
          <a:lstStyle/>
          <a:p>
            <a:r>
              <a:rPr lang="en-US" altLang="zh-CN" dirty="0"/>
              <a:t>Transition Diagram: Search Students’ Info + Edit Interview Record</a:t>
            </a:r>
            <a:endParaRPr lang="zh-CN" altLang="en-US" dirty="0"/>
          </a:p>
        </p:txBody>
      </p:sp>
      <p:sp>
        <p:nvSpPr>
          <p:cNvPr id="7" name="矩形: 圆角 6">
            <a:extLst>
              <a:ext uri="{FF2B5EF4-FFF2-40B4-BE49-F238E27FC236}">
                <a16:creationId xmlns:a16="http://schemas.microsoft.com/office/drawing/2014/main" id="{845E03A4-8190-D72D-BBD0-EE3E8CDAE493}"/>
              </a:ext>
            </a:extLst>
          </p:cNvPr>
          <p:cNvSpPr/>
          <p:nvPr/>
        </p:nvSpPr>
        <p:spPr>
          <a:xfrm>
            <a:off x="4226411" y="3437040"/>
            <a:ext cx="2720716" cy="77878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74" dirty="0">
                <a:solidFill>
                  <a:schemeClr val="tx1"/>
                </a:solidFill>
              </a:rPr>
              <a:t>2A. Search Students' Info Page</a:t>
            </a:r>
            <a:endParaRPr lang="zh-CN" altLang="en-US" sz="1728" dirty="0">
              <a:solidFill>
                <a:schemeClr val="tx1"/>
              </a:solidFill>
            </a:endParaRPr>
          </a:p>
        </p:txBody>
      </p:sp>
      <p:sp>
        <p:nvSpPr>
          <p:cNvPr id="8" name="矩形: 圆角 7">
            <a:extLst>
              <a:ext uri="{FF2B5EF4-FFF2-40B4-BE49-F238E27FC236}">
                <a16:creationId xmlns:a16="http://schemas.microsoft.com/office/drawing/2014/main" id="{806E7B4F-1125-DAC0-B439-B00A9C9F3642}"/>
              </a:ext>
            </a:extLst>
          </p:cNvPr>
          <p:cNvSpPr/>
          <p:nvPr/>
        </p:nvSpPr>
        <p:spPr>
          <a:xfrm>
            <a:off x="9035756" y="3534061"/>
            <a:ext cx="2076668" cy="77878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tLang="zh-CN" sz="2074" dirty="0">
                <a:solidFill>
                  <a:schemeClr val="tx1"/>
                </a:solidFill>
              </a:rPr>
              <a:t>2B. Student Info Page</a:t>
            </a:r>
            <a:endParaRPr lang="zh-CN" altLang="en-US" sz="1728" dirty="0">
              <a:solidFill>
                <a:schemeClr val="tx1"/>
              </a:solidFill>
            </a:endParaRPr>
          </a:p>
        </p:txBody>
      </p:sp>
      <p:cxnSp>
        <p:nvCxnSpPr>
          <p:cNvPr id="118" name="直接箭头连接符 117">
            <a:extLst>
              <a:ext uri="{FF2B5EF4-FFF2-40B4-BE49-F238E27FC236}">
                <a16:creationId xmlns:a16="http://schemas.microsoft.com/office/drawing/2014/main" id="{31F90E10-AAFD-AE02-FDF2-EE2F1640EDD7}"/>
              </a:ext>
            </a:extLst>
          </p:cNvPr>
          <p:cNvCxnSpPr>
            <a:cxnSpLocks/>
          </p:cNvCxnSpPr>
          <p:nvPr/>
        </p:nvCxnSpPr>
        <p:spPr>
          <a:xfrm>
            <a:off x="6964301" y="3760852"/>
            <a:ext cx="20714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0" name="直接箭头连接符 119">
            <a:extLst>
              <a:ext uri="{FF2B5EF4-FFF2-40B4-BE49-F238E27FC236}">
                <a16:creationId xmlns:a16="http://schemas.microsoft.com/office/drawing/2014/main" id="{5DF1A7F7-8412-45FF-B739-8457BF58B8B0}"/>
              </a:ext>
            </a:extLst>
          </p:cNvPr>
          <p:cNvCxnSpPr>
            <a:cxnSpLocks/>
          </p:cNvCxnSpPr>
          <p:nvPr/>
        </p:nvCxnSpPr>
        <p:spPr>
          <a:xfrm flipH="1">
            <a:off x="6960987" y="3973857"/>
            <a:ext cx="20886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8" name="任意多边形: 形状 127">
            <a:extLst>
              <a:ext uri="{FF2B5EF4-FFF2-40B4-BE49-F238E27FC236}">
                <a16:creationId xmlns:a16="http://schemas.microsoft.com/office/drawing/2014/main" id="{23AB7987-9D89-EF58-099D-1701814FDD07}"/>
              </a:ext>
            </a:extLst>
          </p:cNvPr>
          <p:cNvSpPr/>
          <p:nvPr/>
        </p:nvSpPr>
        <p:spPr>
          <a:xfrm>
            <a:off x="4765952" y="2842805"/>
            <a:ext cx="1253746" cy="592177"/>
          </a:xfrm>
          <a:custGeom>
            <a:avLst/>
            <a:gdLst>
              <a:gd name="csX0" fmla="*/ 0 w 1411357"/>
              <a:gd name="csY0" fmla="*/ 636211 h 636211"/>
              <a:gd name="csX1" fmla="*/ 775253 w 1411357"/>
              <a:gd name="csY1" fmla="*/ 107 h 636211"/>
              <a:gd name="csX2" fmla="*/ 1411357 w 1411357"/>
              <a:gd name="csY2" fmla="*/ 596454 h 636211"/>
            </a:gdLst>
            <a:ahLst/>
            <a:cxnLst>
              <a:cxn ang="0">
                <a:pos x="csX0" y="csY0"/>
              </a:cxn>
              <a:cxn ang="0">
                <a:pos x="csX1" y="csY1"/>
              </a:cxn>
              <a:cxn ang="0">
                <a:pos x="csX2" y="csY2"/>
              </a:cxn>
            </a:cxnLst>
            <a:rect l="l" t="t" r="r" b="b"/>
            <a:pathLst>
              <a:path w="1411357" h="636211">
                <a:moveTo>
                  <a:pt x="0" y="636211"/>
                </a:moveTo>
                <a:cubicBezTo>
                  <a:pt x="270013" y="321472"/>
                  <a:pt x="540027" y="6733"/>
                  <a:pt x="775253" y="107"/>
                </a:cubicBezTo>
                <a:cubicBezTo>
                  <a:pt x="1010479" y="-6519"/>
                  <a:pt x="1210918" y="294967"/>
                  <a:pt x="1411357" y="596454"/>
                </a:cubicBezTo>
              </a:path>
            </a:pathLst>
          </a:cu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555"/>
          </a:p>
        </p:txBody>
      </p:sp>
      <p:sp>
        <p:nvSpPr>
          <p:cNvPr id="129" name="任意多边形: 形状 128">
            <a:extLst>
              <a:ext uri="{FF2B5EF4-FFF2-40B4-BE49-F238E27FC236}">
                <a16:creationId xmlns:a16="http://schemas.microsoft.com/office/drawing/2014/main" id="{DE594201-B6DA-CB7C-66A8-B7462847D0D7}"/>
              </a:ext>
            </a:extLst>
          </p:cNvPr>
          <p:cNvSpPr/>
          <p:nvPr/>
        </p:nvSpPr>
        <p:spPr>
          <a:xfrm rot="10800000">
            <a:off x="4842254" y="4208088"/>
            <a:ext cx="1253746" cy="397922"/>
          </a:xfrm>
          <a:custGeom>
            <a:avLst/>
            <a:gdLst>
              <a:gd name="csX0" fmla="*/ 0 w 1411357"/>
              <a:gd name="csY0" fmla="*/ 636211 h 636211"/>
              <a:gd name="csX1" fmla="*/ 775253 w 1411357"/>
              <a:gd name="csY1" fmla="*/ 107 h 636211"/>
              <a:gd name="csX2" fmla="*/ 1411357 w 1411357"/>
              <a:gd name="csY2" fmla="*/ 596454 h 636211"/>
            </a:gdLst>
            <a:ahLst/>
            <a:cxnLst>
              <a:cxn ang="0">
                <a:pos x="csX0" y="csY0"/>
              </a:cxn>
              <a:cxn ang="0">
                <a:pos x="csX1" y="csY1"/>
              </a:cxn>
              <a:cxn ang="0">
                <a:pos x="csX2" y="csY2"/>
              </a:cxn>
            </a:cxnLst>
            <a:rect l="l" t="t" r="r" b="b"/>
            <a:pathLst>
              <a:path w="1411357" h="636211">
                <a:moveTo>
                  <a:pt x="0" y="636211"/>
                </a:moveTo>
                <a:cubicBezTo>
                  <a:pt x="270013" y="321472"/>
                  <a:pt x="540027" y="6733"/>
                  <a:pt x="775253" y="107"/>
                </a:cubicBezTo>
                <a:cubicBezTo>
                  <a:pt x="1010479" y="-6519"/>
                  <a:pt x="1210918" y="294967"/>
                  <a:pt x="1411357" y="596454"/>
                </a:cubicBezTo>
              </a:path>
            </a:pathLst>
          </a:cu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555"/>
          </a:p>
        </p:txBody>
      </p:sp>
      <p:sp>
        <p:nvSpPr>
          <p:cNvPr id="130" name="文本框 44">
            <a:extLst>
              <a:ext uri="{FF2B5EF4-FFF2-40B4-BE49-F238E27FC236}">
                <a16:creationId xmlns:a16="http://schemas.microsoft.com/office/drawing/2014/main" id="{B3055381-C016-7ADB-EA51-EF23371D9B03}"/>
              </a:ext>
            </a:extLst>
          </p:cNvPr>
          <p:cNvSpPr txBox="1"/>
          <p:nvPr/>
        </p:nvSpPr>
        <p:spPr>
          <a:xfrm flipH="1">
            <a:off x="4029939" y="1668710"/>
            <a:ext cx="3027936" cy="1155957"/>
          </a:xfrm>
          <a:prstGeom prst="rect">
            <a:avLst/>
          </a:prstGeom>
          <a:noFill/>
        </p:spPr>
        <p:txBody>
          <a:bodyPr wrap="square" rtlCol="0">
            <a:spAutoFit/>
          </a:bodyPr>
          <a:lstStyle/>
          <a:p>
            <a:r>
              <a:rPr lang="en-US" altLang="zh-CN" sz="1728" dirty="0"/>
              <a:t>"Search" clicked </a:t>
            </a:r>
          </a:p>
          <a:p>
            <a:r>
              <a:rPr lang="en-US" altLang="zh-CN" sz="1728" dirty="0"/>
              <a:t>[ID valid, coordinator or faculty consultants] </a:t>
            </a:r>
          </a:p>
          <a:p>
            <a:r>
              <a:rPr lang="en-US" altLang="zh-CN" sz="1728" dirty="0"/>
              <a:t>/ show student info</a:t>
            </a:r>
            <a:r>
              <a:rPr lang="en-US" altLang="zh-CN" sz="1728" baseline="30000" dirty="0"/>
              <a:t>*</a:t>
            </a:r>
          </a:p>
        </p:txBody>
      </p:sp>
      <p:sp>
        <p:nvSpPr>
          <p:cNvPr id="131" name="文本框 44">
            <a:extLst>
              <a:ext uri="{FF2B5EF4-FFF2-40B4-BE49-F238E27FC236}">
                <a16:creationId xmlns:a16="http://schemas.microsoft.com/office/drawing/2014/main" id="{D4857CE4-52E5-B4D0-30C8-79BA9FCBEF5E}"/>
              </a:ext>
            </a:extLst>
          </p:cNvPr>
          <p:cNvSpPr txBox="1"/>
          <p:nvPr/>
        </p:nvSpPr>
        <p:spPr>
          <a:xfrm flipH="1">
            <a:off x="3846499" y="4713097"/>
            <a:ext cx="3579200" cy="624145"/>
          </a:xfrm>
          <a:prstGeom prst="rect">
            <a:avLst/>
          </a:prstGeom>
          <a:noFill/>
        </p:spPr>
        <p:txBody>
          <a:bodyPr wrap="square" rtlCol="0">
            <a:spAutoFit/>
          </a:bodyPr>
          <a:lstStyle/>
          <a:p>
            <a:r>
              <a:rPr lang="en-US" altLang="zh-CN" sz="1728" dirty="0"/>
              <a:t>"Search" clicked [no ID or invalid ID] </a:t>
            </a:r>
          </a:p>
          <a:p>
            <a:r>
              <a:rPr lang="en-US" altLang="zh-CN" sz="1728" dirty="0"/>
              <a:t>/ warning </a:t>
            </a:r>
          </a:p>
        </p:txBody>
      </p:sp>
      <p:sp>
        <p:nvSpPr>
          <p:cNvPr id="132" name="文本框 44">
            <a:extLst>
              <a:ext uri="{FF2B5EF4-FFF2-40B4-BE49-F238E27FC236}">
                <a16:creationId xmlns:a16="http://schemas.microsoft.com/office/drawing/2014/main" id="{EEC07B69-F238-B591-C627-3808E4A4E3E9}"/>
              </a:ext>
            </a:extLst>
          </p:cNvPr>
          <p:cNvSpPr txBox="1"/>
          <p:nvPr/>
        </p:nvSpPr>
        <p:spPr>
          <a:xfrm flipH="1">
            <a:off x="7293985" y="4066848"/>
            <a:ext cx="1829550" cy="331629"/>
          </a:xfrm>
          <a:prstGeom prst="rect">
            <a:avLst/>
          </a:prstGeom>
          <a:noFill/>
        </p:spPr>
        <p:txBody>
          <a:bodyPr wrap="square" rtlCol="0">
            <a:spAutoFit/>
          </a:bodyPr>
          <a:lstStyle/>
          <a:p>
            <a:r>
              <a:rPr lang="en-GB" altLang="zh-CN" sz="1555" dirty="0"/>
              <a:t>"Back" clicked</a:t>
            </a:r>
            <a:endParaRPr lang="en-US" altLang="zh-CN" sz="1555" dirty="0"/>
          </a:p>
        </p:txBody>
      </p:sp>
      <p:sp>
        <p:nvSpPr>
          <p:cNvPr id="133" name="文本框 44">
            <a:extLst>
              <a:ext uri="{FF2B5EF4-FFF2-40B4-BE49-F238E27FC236}">
                <a16:creationId xmlns:a16="http://schemas.microsoft.com/office/drawing/2014/main" id="{0948B3D3-A1AC-5089-EA40-5B2F2B0A2345}"/>
              </a:ext>
            </a:extLst>
          </p:cNvPr>
          <p:cNvSpPr txBox="1"/>
          <p:nvPr/>
        </p:nvSpPr>
        <p:spPr>
          <a:xfrm flipH="1">
            <a:off x="7057874" y="2595378"/>
            <a:ext cx="2295242" cy="1155957"/>
          </a:xfrm>
          <a:prstGeom prst="rect">
            <a:avLst/>
          </a:prstGeom>
          <a:noFill/>
        </p:spPr>
        <p:txBody>
          <a:bodyPr wrap="square" rtlCol="0">
            <a:spAutoFit/>
          </a:bodyPr>
          <a:lstStyle/>
          <a:p>
            <a:r>
              <a:rPr lang="en-US" altLang="zh-CN" sz="1728" dirty="0"/>
              <a:t>"Search" clicked </a:t>
            </a:r>
          </a:p>
          <a:p>
            <a:r>
              <a:rPr lang="en-US" altLang="zh-CN" sz="1728" dirty="0"/>
              <a:t>[ID valid, mentor] </a:t>
            </a:r>
          </a:p>
          <a:p>
            <a:r>
              <a:rPr lang="en-US" altLang="zh-CN" sz="1728" dirty="0"/>
              <a:t>/ "Save“, and "Cancel" disabled in 2B.</a:t>
            </a:r>
            <a:endParaRPr lang="en-US" altLang="zh-CN" sz="1555" dirty="0"/>
          </a:p>
        </p:txBody>
      </p:sp>
      <p:sp>
        <p:nvSpPr>
          <p:cNvPr id="137" name="任意多边形: 形状 136">
            <a:extLst>
              <a:ext uri="{FF2B5EF4-FFF2-40B4-BE49-F238E27FC236}">
                <a16:creationId xmlns:a16="http://schemas.microsoft.com/office/drawing/2014/main" id="{322AA5E4-7EE0-9396-D994-4D99F0A738F0}"/>
              </a:ext>
            </a:extLst>
          </p:cNvPr>
          <p:cNvSpPr/>
          <p:nvPr/>
        </p:nvSpPr>
        <p:spPr>
          <a:xfrm>
            <a:off x="9104549" y="2108906"/>
            <a:ext cx="747095" cy="1416905"/>
          </a:xfrm>
          <a:custGeom>
            <a:avLst/>
            <a:gdLst>
              <a:gd name="csX0" fmla="*/ 0 w 864704"/>
              <a:gd name="csY0" fmla="*/ 1639957 h 1639957"/>
              <a:gd name="csX1" fmla="*/ 337930 w 864704"/>
              <a:gd name="csY1" fmla="*/ 0 h 1639957"/>
              <a:gd name="csX2" fmla="*/ 864704 w 864704"/>
              <a:gd name="csY2" fmla="*/ 1639957 h 1639957"/>
            </a:gdLst>
            <a:ahLst/>
            <a:cxnLst>
              <a:cxn ang="0">
                <a:pos x="csX0" y="csY0"/>
              </a:cxn>
              <a:cxn ang="0">
                <a:pos x="csX1" y="csY1"/>
              </a:cxn>
              <a:cxn ang="0">
                <a:pos x="csX2" y="csY2"/>
              </a:cxn>
            </a:cxnLst>
            <a:rect l="l" t="t" r="r" b="b"/>
            <a:pathLst>
              <a:path w="864704" h="1639957">
                <a:moveTo>
                  <a:pt x="0" y="1639957"/>
                </a:moveTo>
                <a:cubicBezTo>
                  <a:pt x="96906" y="819978"/>
                  <a:pt x="193813" y="0"/>
                  <a:pt x="337930" y="0"/>
                </a:cubicBezTo>
                <a:cubicBezTo>
                  <a:pt x="482047" y="0"/>
                  <a:pt x="673375" y="819978"/>
                  <a:pt x="864704" y="1639957"/>
                </a:cubicBezTo>
              </a:path>
            </a:pathLst>
          </a:cu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555"/>
          </a:p>
        </p:txBody>
      </p:sp>
      <p:sp>
        <p:nvSpPr>
          <p:cNvPr id="140" name="文本框 44">
            <a:extLst>
              <a:ext uri="{FF2B5EF4-FFF2-40B4-BE49-F238E27FC236}">
                <a16:creationId xmlns:a16="http://schemas.microsoft.com/office/drawing/2014/main" id="{69BD43C8-6C41-7EDD-8E9B-0CF0F20768E6}"/>
              </a:ext>
            </a:extLst>
          </p:cNvPr>
          <p:cNvSpPr txBox="1"/>
          <p:nvPr/>
        </p:nvSpPr>
        <p:spPr>
          <a:xfrm flipH="1">
            <a:off x="10279062" y="2093942"/>
            <a:ext cx="2057662" cy="624145"/>
          </a:xfrm>
          <a:prstGeom prst="rect">
            <a:avLst/>
          </a:prstGeom>
          <a:noFill/>
        </p:spPr>
        <p:txBody>
          <a:bodyPr wrap="square" rtlCol="0">
            <a:spAutoFit/>
          </a:bodyPr>
          <a:lstStyle/>
          <a:p>
            <a:r>
              <a:rPr lang="en-US" altLang="zh-CN" sz="1728" dirty="0"/>
              <a:t>"Save" clicked / </a:t>
            </a:r>
          </a:p>
          <a:p>
            <a:r>
              <a:rPr lang="en-US" altLang="zh-CN" sz="1728" dirty="0"/>
              <a:t>save modified record</a:t>
            </a:r>
          </a:p>
        </p:txBody>
      </p:sp>
      <p:sp>
        <p:nvSpPr>
          <p:cNvPr id="141" name="文本框 44">
            <a:extLst>
              <a:ext uri="{FF2B5EF4-FFF2-40B4-BE49-F238E27FC236}">
                <a16:creationId xmlns:a16="http://schemas.microsoft.com/office/drawing/2014/main" id="{5B163663-A86B-C7E9-B653-8F4E7BDAF501}"/>
              </a:ext>
            </a:extLst>
          </p:cNvPr>
          <p:cNvSpPr txBox="1"/>
          <p:nvPr/>
        </p:nvSpPr>
        <p:spPr>
          <a:xfrm flipH="1">
            <a:off x="8442617" y="1208171"/>
            <a:ext cx="2051065" cy="890052"/>
          </a:xfrm>
          <a:prstGeom prst="rect">
            <a:avLst/>
          </a:prstGeom>
          <a:noFill/>
        </p:spPr>
        <p:txBody>
          <a:bodyPr wrap="square" rtlCol="0">
            <a:spAutoFit/>
          </a:bodyPr>
          <a:lstStyle/>
          <a:p>
            <a:r>
              <a:rPr lang="en-US" altLang="zh-CN" sz="1728" dirty="0"/>
              <a:t>"Edit" clicked / </a:t>
            </a:r>
          </a:p>
          <a:p>
            <a:r>
              <a:rPr lang="en-US" altLang="zh-CN" sz="1728" dirty="0"/>
              <a:t> "Save“, and "Cancel" enabled **</a:t>
            </a:r>
          </a:p>
        </p:txBody>
      </p:sp>
      <p:sp>
        <p:nvSpPr>
          <p:cNvPr id="142" name="文本框 44">
            <a:extLst>
              <a:ext uri="{FF2B5EF4-FFF2-40B4-BE49-F238E27FC236}">
                <a16:creationId xmlns:a16="http://schemas.microsoft.com/office/drawing/2014/main" id="{50BFD3BB-04AC-DD5F-8A31-9C8512778D17}"/>
              </a:ext>
            </a:extLst>
          </p:cNvPr>
          <p:cNvSpPr txBox="1"/>
          <p:nvPr/>
        </p:nvSpPr>
        <p:spPr>
          <a:xfrm flipH="1">
            <a:off x="9287257" y="4657038"/>
            <a:ext cx="2251442" cy="890052"/>
          </a:xfrm>
          <a:prstGeom prst="rect">
            <a:avLst/>
          </a:prstGeom>
          <a:noFill/>
        </p:spPr>
        <p:txBody>
          <a:bodyPr wrap="square" rtlCol="0">
            <a:spAutoFit/>
          </a:bodyPr>
          <a:lstStyle/>
          <a:p>
            <a:r>
              <a:rPr lang="en-US" altLang="zh-CN" sz="1728" dirty="0"/>
              <a:t>"Cancel" clicked / </a:t>
            </a:r>
          </a:p>
          <a:p>
            <a:r>
              <a:rPr lang="en-US" altLang="zh-CN" sz="1728" dirty="0"/>
              <a:t>restore previous record</a:t>
            </a:r>
          </a:p>
        </p:txBody>
      </p:sp>
      <p:grpSp>
        <p:nvGrpSpPr>
          <p:cNvPr id="3" name="Group 2">
            <a:extLst>
              <a:ext uri="{FF2B5EF4-FFF2-40B4-BE49-F238E27FC236}">
                <a16:creationId xmlns:a16="http://schemas.microsoft.com/office/drawing/2014/main" id="{A55DC42F-2E26-4508-83D6-8B5EFDBD6EF3}"/>
              </a:ext>
            </a:extLst>
          </p:cNvPr>
          <p:cNvGrpSpPr/>
          <p:nvPr/>
        </p:nvGrpSpPr>
        <p:grpSpPr>
          <a:xfrm>
            <a:off x="209778" y="2158073"/>
            <a:ext cx="2204929" cy="3171653"/>
            <a:chOff x="242801" y="3140193"/>
            <a:chExt cx="2552033" cy="3670940"/>
          </a:xfrm>
        </p:grpSpPr>
        <p:sp>
          <p:nvSpPr>
            <p:cNvPr id="6" name="矩形: 圆角 5">
              <a:extLst>
                <a:ext uri="{FF2B5EF4-FFF2-40B4-BE49-F238E27FC236}">
                  <a16:creationId xmlns:a16="http://schemas.microsoft.com/office/drawing/2014/main" id="{A0CEBAE7-E310-E946-37FA-2CC3444235C4}"/>
                </a:ext>
              </a:extLst>
            </p:cNvPr>
            <p:cNvSpPr/>
            <p:nvPr/>
          </p:nvSpPr>
          <p:spPr>
            <a:xfrm>
              <a:off x="360024" y="5525234"/>
              <a:ext cx="2266054" cy="100586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tLang="zh-CN" sz="2074" dirty="0">
                  <a:solidFill>
                    <a:schemeClr val="tx1"/>
                  </a:solidFill>
                </a:rPr>
                <a:t>1D. Home Page </a:t>
              </a:r>
              <a:r>
                <a:rPr lang="en-US" sz="2074" dirty="0">
                  <a:solidFill>
                    <a:schemeClr val="tx1"/>
                  </a:solidFill>
                </a:rPr>
                <a:t>faculty consultants</a:t>
              </a:r>
              <a:endParaRPr lang="zh-CN" altLang="en-US" sz="1728" dirty="0">
                <a:solidFill>
                  <a:schemeClr val="tx1"/>
                </a:solidFill>
              </a:endParaRPr>
            </a:p>
          </p:txBody>
        </p:sp>
        <p:sp>
          <p:nvSpPr>
            <p:cNvPr id="28" name="矩形: 圆角 5">
              <a:extLst>
                <a:ext uri="{FF2B5EF4-FFF2-40B4-BE49-F238E27FC236}">
                  <a16:creationId xmlns:a16="http://schemas.microsoft.com/office/drawing/2014/main" id="{C17ABE21-2481-4161-B56F-A61D2A5C35C9}"/>
                </a:ext>
              </a:extLst>
            </p:cNvPr>
            <p:cNvSpPr/>
            <p:nvPr/>
          </p:nvSpPr>
          <p:spPr>
            <a:xfrm>
              <a:off x="377410" y="4365942"/>
              <a:ext cx="2266054" cy="87587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tLang="zh-CN" sz="2074" dirty="0">
                  <a:solidFill>
                    <a:schemeClr val="tx1"/>
                  </a:solidFill>
                </a:rPr>
                <a:t>1C. Home Page </a:t>
              </a:r>
              <a:r>
                <a:rPr lang="en-US" sz="2074" dirty="0">
                  <a:solidFill>
                    <a:schemeClr val="tx1"/>
                  </a:solidFill>
                </a:rPr>
                <a:t>coordinator</a:t>
              </a:r>
              <a:endParaRPr lang="zh-CN" altLang="en-US" sz="1728" dirty="0">
                <a:solidFill>
                  <a:schemeClr val="tx1"/>
                </a:solidFill>
              </a:endParaRPr>
            </a:p>
          </p:txBody>
        </p:sp>
        <p:sp>
          <p:nvSpPr>
            <p:cNvPr id="29" name="矩形: 圆角 5">
              <a:extLst>
                <a:ext uri="{FF2B5EF4-FFF2-40B4-BE49-F238E27FC236}">
                  <a16:creationId xmlns:a16="http://schemas.microsoft.com/office/drawing/2014/main" id="{1DE9022C-12DD-4D0F-92B4-4035AAE1D37D}"/>
                </a:ext>
              </a:extLst>
            </p:cNvPr>
            <p:cNvSpPr/>
            <p:nvPr/>
          </p:nvSpPr>
          <p:spPr>
            <a:xfrm>
              <a:off x="360024" y="3282765"/>
              <a:ext cx="2266054" cy="87587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tLang="zh-CN" sz="2074" dirty="0">
                  <a:solidFill>
                    <a:schemeClr val="tx1"/>
                  </a:solidFill>
                </a:rPr>
                <a:t>1A. Home Page </a:t>
              </a:r>
              <a:endParaRPr lang="en-US" altLang="zh-CN" sz="2074" dirty="0">
                <a:solidFill>
                  <a:schemeClr val="tx1"/>
                </a:solidFill>
              </a:endParaRPr>
            </a:p>
            <a:p>
              <a:pPr algn="ctr"/>
              <a:r>
                <a:rPr lang="en-US" sz="2074" dirty="0">
                  <a:solidFill>
                    <a:schemeClr val="tx1"/>
                  </a:solidFill>
                </a:rPr>
                <a:t>mentors</a:t>
              </a:r>
              <a:endParaRPr lang="zh-CN" altLang="en-US" sz="1728" dirty="0">
                <a:solidFill>
                  <a:schemeClr val="tx1"/>
                </a:solidFill>
              </a:endParaRPr>
            </a:p>
          </p:txBody>
        </p:sp>
        <p:sp>
          <p:nvSpPr>
            <p:cNvPr id="2" name="Rectangle 1">
              <a:extLst>
                <a:ext uri="{FF2B5EF4-FFF2-40B4-BE49-F238E27FC236}">
                  <a16:creationId xmlns:a16="http://schemas.microsoft.com/office/drawing/2014/main" id="{5F387E85-C530-4BC2-B21B-2C971568B2D8}"/>
                </a:ext>
              </a:extLst>
            </p:cNvPr>
            <p:cNvSpPr/>
            <p:nvPr/>
          </p:nvSpPr>
          <p:spPr>
            <a:xfrm>
              <a:off x="242801" y="3140193"/>
              <a:ext cx="2552033" cy="3670940"/>
            </a:xfrm>
            <a:prstGeom prst="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55"/>
            </a:p>
          </p:txBody>
        </p:sp>
      </p:grpSp>
      <p:cxnSp>
        <p:nvCxnSpPr>
          <p:cNvPr id="30" name="直接箭头连接符 117">
            <a:extLst>
              <a:ext uri="{FF2B5EF4-FFF2-40B4-BE49-F238E27FC236}">
                <a16:creationId xmlns:a16="http://schemas.microsoft.com/office/drawing/2014/main" id="{B68AD5C5-4DA7-44BB-AEDF-7D718D6C2BA0}"/>
              </a:ext>
            </a:extLst>
          </p:cNvPr>
          <p:cNvCxnSpPr>
            <a:cxnSpLocks/>
            <a:stCxn id="2" idx="3"/>
            <a:endCxn id="7" idx="1"/>
          </p:cNvCxnSpPr>
          <p:nvPr/>
        </p:nvCxnSpPr>
        <p:spPr>
          <a:xfrm>
            <a:off x="2414707" y="3743899"/>
            <a:ext cx="1811705" cy="825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文本框 44">
            <a:extLst>
              <a:ext uri="{FF2B5EF4-FFF2-40B4-BE49-F238E27FC236}">
                <a16:creationId xmlns:a16="http://schemas.microsoft.com/office/drawing/2014/main" id="{E9C1B86A-27D3-4837-8D09-422036D9AC95}"/>
              </a:ext>
            </a:extLst>
          </p:cNvPr>
          <p:cNvSpPr txBox="1"/>
          <p:nvPr/>
        </p:nvSpPr>
        <p:spPr>
          <a:xfrm flipH="1">
            <a:off x="2539117" y="3011417"/>
            <a:ext cx="1879869" cy="624145"/>
          </a:xfrm>
          <a:prstGeom prst="rect">
            <a:avLst/>
          </a:prstGeom>
          <a:noFill/>
        </p:spPr>
        <p:txBody>
          <a:bodyPr wrap="square" rtlCol="0">
            <a:spAutoFit/>
          </a:bodyPr>
          <a:lstStyle/>
          <a:p>
            <a:r>
              <a:rPr lang="en-US" altLang="zh-CN" sz="1728" dirty="0"/>
              <a:t>"Search students’ info" clicked</a:t>
            </a:r>
          </a:p>
        </p:txBody>
      </p:sp>
      <p:sp>
        <p:nvSpPr>
          <p:cNvPr id="33" name="文本框 44">
            <a:extLst>
              <a:ext uri="{FF2B5EF4-FFF2-40B4-BE49-F238E27FC236}">
                <a16:creationId xmlns:a16="http://schemas.microsoft.com/office/drawing/2014/main" id="{2A04C7A2-0B8C-4A64-995C-4B24089F9E6F}"/>
              </a:ext>
            </a:extLst>
          </p:cNvPr>
          <p:cNvSpPr txBox="1"/>
          <p:nvPr/>
        </p:nvSpPr>
        <p:spPr>
          <a:xfrm flipH="1">
            <a:off x="434370" y="5719916"/>
            <a:ext cx="9960781" cy="890052"/>
          </a:xfrm>
          <a:prstGeom prst="rect">
            <a:avLst/>
          </a:prstGeom>
          <a:noFill/>
        </p:spPr>
        <p:txBody>
          <a:bodyPr wrap="square" rtlCol="0">
            <a:spAutoFit/>
          </a:bodyPr>
          <a:lstStyle/>
          <a:p>
            <a:r>
              <a:rPr lang="en-US" altLang="zh-CN" sz="1728" i="1" dirty="0"/>
              <a:t>Note: Every state after login has a “</a:t>
            </a:r>
            <a:r>
              <a:rPr lang="en-US" altLang="zh-CN" sz="1728" b="1" i="1" dirty="0">
                <a:solidFill>
                  <a:srgbClr val="FF0000"/>
                </a:solidFill>
              </a:rPr>
              <a:t>Home</a:t>
            </a:r>
            <a:r>
              <a:rPr lang="en-US" altLang="zh-CN" sz="1728" i="1" dirty="0"/>
              <a:t>” button for users to return to their respective home pages.</a:t>
            </a:r>
            <a:br>
              <a:rPr lang="en-US" altLang="zh-CN" sz="1728" i="1" dirty="0"/>
            </a:br>
            <a:r>
              <a:rPr lang="en-US" altLang="zh-CN" sz="1728" i="1" dirty="0"/>
              <a:t>* Show student info is </a:t>
            </a:r>
            <a:r>
              <a:rPr lang="en-GB" altLang="zh-CN" sz="1728" i="1" dirty="0"/>
              <a:t>2B. Student Info Page</a:t>
            </a:r>
            <a:r>
              <a:rPr lang="en-US" altLang="zh-CN" sz="1728" i="1" dirty="0"/>
              <a:t> without Edit, Save and Cancel. i.e. it’s a message box.</a:t>
            </a:r>
          </a:p>
          <a:p>
            <a:r>
              <a:rPr lang="en-US" altLang="zh-CN" sz="1728" i="1" dirty="0"/>
              <a:t>** User can add, modify or delete record, followed by Save or Cancel.</a:t>
            </a:r>
          </a:p>
        </p:txBody>
      </p:sp>
      <p:sp>
        <p:nvSpPr>
          <p:cNvPr id="9" name="Freeform: Shape 8">
            <a:extLst>
              <a:ext uri="{FF2B5EF4-FFF2-40B4-BE49-F238E27FC236}">
                <a16:creationId xmlns:a16="http://schemas.microsoft.com/office/drawing/2014/main" id="{F6BB2517-9EA3-42F2-8189-C4D4FB108BD3}"/>
              </a:ext>
            </a:extLst>
          </p:cNvPr>
          <p:cNvSpPr/>
          <p:nvPr/>
        </p:nvSpPr>
        <p:spPr>
          <a:xfrm>
            <a:off x="10236794" y="2744352"/>
            <a:ext cx="817525" cy="790046"/>
          </a:xfrm>
          <a:custGeom>
            <a:avLst/>
            <a:gdLst>
              <a:gd name="connsiteX0" fmla="*/ 0 w 946221"/>
              <a:gd name="connsiteY0" fmla="*/ 914417 h 914417"/>
              <a:gd name="connsiteX1" fmla="*/ 894945 w 946221"/>
              <a:gd name="connsiteY1" fmla="*/ 17 h 914417"/>
              <a:gd name="connsiteX2" fmla="*/ 758758 w 946221"/>
              <a:gd name="connsiteY2" fmla="*/ 894962 h 914417"/>
            </a:gdLst>
            <a:ahLst/>
            <a:cxnLst>
              <a:cxn ang="0">
                <a:pos x="connsiteX0" y="connsiteY0"/>
              </a:cxn>
              <a:cxn ang="0">
                <a:pos x="connsiteX1" y="connsiteY1"/>
              </a:cxn>
              <a:cxn ang="0">
                <a:pos x="connsiteX2" y="connsiteY2"/>
              </a:cxn>
            </a:cxnLst>
            <a:rect l="l" t="t" r="r" b="b"/>
            <a:pathLst>
              <a:path w="946221" h="914417">
                <a:moveTo>
                  <a:pt x="0" y="914417"/>
                </a:moveTo>
                <a:cubicBezTo>
                  <a:pt x="384242" y="458838"/>
                  <a:pt x="768485" y="3259"/>
                  <a:pt x="894945" y="17"/>
                </a:cubicBezTo>
                <a:cubicBezTo>
                  <a:pt x="1021405" y="-3225"/>
                  <a:pt x="890081" y="445868"/>
                  <a:pt x="758758" y="894962"/>
                </a:cubicBezTo>
              </a:path>
            </a:pathLst>
          </a:custGeom>
          <a:noFill/>
          <a:ln>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55"/>
          </a:p>
        </p:txBody>
      </p:sp>
      <p:sp>
        <p:nvSpPr>
          <p:cNvPr id="35" name="任意多边形: 形状 128">
            <a:extLst>
              <a:ext uri="{FF2B5EF4-FFF2-40B4-BE49-F238E27FC236}">
                <a16:creationId xmlns:a16="http://schemas.microsoft.com/office/drawing/2014/main" id="{6F12DE1C-9623-4539-940A-4DECE2454D5A}"/>
              </a:ext>
            </a:extLst>
          </p:cNvPr>
          <p:cNvSpPr/>
          <p:nvPr/>
        </p:nvSpPr>
        <p:spPr>
          <a:xfrm rot="10800000">
            <a:off x="9468149" y="4343130"/>
            <a:ext cx="1253746" cy="319098"/>
          </a:xfrm>
          <a:custGeom>
            <a:avLst/>
            <a:gdLst>
              <a:gd name="csX0" fmla="*/ 0 w 1411357"/>
              <a:gd name="csY0" fmla="*/ 636211 h 636211"/>
              <a:gd name="csX1" fmla="*/ 775253 w 1411357"/>
              <a:gd name="csY1" fmla="*/ 107 h 636211"/>
              <a:gd name="csX2" fmla="*/ 1411357 w 1411357"/>
              <a:gd name="csY2" fmla="*/ 596454 h 636211"/>
            </a:gdLst>
            <a:ahLst/>
            <a:cxnLst>
              <a:cxn ang="0">
                <a:pos x="csX0" y="csY0"/>
              </a:cxn>
              <a:cxn ang="0">
                <a:pos x="csX1" y="csY1"/>
              </a:cxn>
              <a:cxn ang="0">
                <a:pos x="csX2" y="csY2"/>
              </a:cxn>
            </a:cxnLst>
            <a:rect l="l" t="t" r="r" b="b"/>
            <a:pathLst>
              <a:path w="1411357" h="636211">
                <a:moveTo>
                  <a:pt x="0" y="636211"/>
                </a:moveTo>
                <a:cubicBezTo>
                  <a:pt x="270013" y="321472"/>
                  <a:pt x="540027" y="6733"/>
                  <a:pt x="775253" y="107"/>
                </a:cubicBezTo>
                <a:cubicBezTo>
                  <a:pt x="1010479" y="-6519"/>
                  <a:pt x="1210918" y="294967"/>
                  <a:pt x="1411357" y="596454"/>
                </a:cubicBezTo>
              </a:path>
            </a:pathLst>
          </a:cu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555"/>
          </a:p>
        </p:txBody>
      </p:sp>
    </p:spTree>
    <p:extLst>
      <p:ext uri="{BB962C8B-B14F-4D97-AF65-F5344CB8AC3E}">
        <p14:creationId xmlns:p14="http://schemas.microsoft.com/office/powerpoint/2010/main" val="2320001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0B0B0-ED91-ADB0-756C-994C82CEB629}"/>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EF617422-D2C1-CD5C-ED73-B0C8F9F237D5}"/>
              </a:ext>
            </a:extLst>
          </p:cNvPr>
          <p:cNvSpPr>
            <a:spLocks noGrp="1"/>
          </p:cNvSpPr>
          <p:nvPr>
            <p:ph type="title"/>
          </p:nvPr>
        </p:nvSpPr>
        <p:spPr>
          <a:xfrm>
            <a:off x="838200" y="365164"/>
            <a:ext cx="10515600" cy="1026360"/>
          </a:xfrm>
        </p:spPr>
        <p:txBody>
          <a:bodyPr>
            <a:normAutofit/>
          </a:bodyPr>
          <a:lstStyle/>
          <a:p>
            <a:r>
              <a:rPr lang="en-US" altLang="zh-CN" dirty="0"/>
              <a:t>Transition Diagram: Search Mentors’ Info</a:t>
            </a:r>
            <a:endParaRPr lang="zh-CN" altLang="en-US" dirty="0"/>
          </a:p>
        </p:txBody>
      </p:sp>
      <p:sp>
        <p:nvSpPr>
          <p:cNvPr id="3" name="矩形: 圆角 2">
            <a:extLst>
              <a:ext uri="{FF2B5EF4-FFF2-40B4-BE49-F238E27FC236}">
                <a16:creationId xmlns:a16="http://schemas.microsoft.com/office/drawing/2014/main" id="{E21BFD34-6B2C-D1E5-879F-4C83B3EF347C}"/>
              </a:ext>
            </a:extLst>
          </p:cNvPr>
          <p:cNvSpPr/>
          <p:nvPr/>
        </p:nvSpPr>
        <p:spPr>
          <a:xfrm>
            <a:off x="6096000" y="3429000"/>
            <a:ext cx="2720716" cy="77878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74" dirty="0">
                <a:solidFill>
                  <a:schemeClr val="tx1"/>
                </a:solidFill>
              </a:rPr>
              <a:t>2C. Search mentors’ info Page</a:t>
            </a:r>
            <a:endParaRPr lang="zh-CN" altLang="en-US" sz="1728" dirty="0">
              <a:solidFill>
                <a:schemeClr val="tx1"/>
              </a:solidFill>
            </a:endParaRPr>
          </a:p>
        </p:txBody>
      </p:sp>
      <p:cxnSp>
        <p:nvCxnSpPr>
          <p:cNvPr id="9" name="直接箭头连接符 8">
            <a:extLst>
              <a:ext uri="{FF2B5EF4-FFF2-40B4-BE49-F238E27FC236}">
                <a16:creationId xmlns:a16="http://schemas.microsoft.com/office/drawing/2014/main" id="{2B2463AE-0EFB-2284-17FC-5DC373CEA660}"/>
              </a:ext>
            </a:extLst>
          </p:cNvPr>
          <p:cNvCxnSpPr>
            <a:cxnSpLocks/>
            <a:stCxn id="25" idx="3"/>
          </p:cNvCxnSpPr>
          <p:nvPr/>
        </p:nvCxnSpPr>
        <p:spPr>
          <a:xfrm>
            <a:off x="2716601" y="3632471"/>
            <a:ext cx="3379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任意多边形: 形状 12">
            <a:extLst>
              <a:ext uri="{FF2B5EF4-FFF2-40B4-BE49-F238E27FC236}">
                <a16:creationId xmlns:a16="http://schemas.microsoft.com/office/drawing/2014/main" id="{FB5D56DA-05D7-DB57-8A77-2C3928993BA2}"/>
              </a:ext>
            </a:extLst>
          </p:cNvPr>
          <p:cNvSpPr/>
          <p:nvPr/>
        </p:nvSpPr>
        <p:spPr>
          <a:xfrm>
            <a:off x="6526648" y="2739351"/>
            <a:ext cx="884193" cy="678438"/>
          </a:xfrm>
          <a:custGeom>
            <a:avLst/>
            <a:gdLst>
              <a:gd name="csX0" fmla="*/ 148740 w 1023384"/>
              <a:gd name="csY0" fmla="*/ 785239 h 785239"/>
              <a:gd name="csX1" fmla="*/ 69227 w 1023384"/>
              <a:gd name="csY1" fmla="*/ 48 h 785239"/>
              <a:gd name="csX2" fmla="*/ 1023384 w 1023384"/>
              <a:gd name="csY2" fmla="*/ 755422 h 785239"/>
            </a:gdLst>
            <a:ahLst/>
            <a:cxnLst>
              <a:cxn ang="0">
                <a:pos x="csX0" y="csY0"/>
              </a:cxn>
              <a:cxn ang="0">
                <a:pos x="csX1" y="csY1"/>
              </a:cxn>
              <a:cxn ang="0">
                <a:pos x="csX2" y="csY2"/>
              </a:cxn>
            </a:cxnLst>
            <a:rect l="l" t="t" r="r" b="b"/>
            <a:pathLst>
              <a:path w="1023384" h="785239">
                <a:moveTo>
                  <a:pt x="148740" y="785239"/>
                </a:moveTo>
                <a:cubicBezTo>
                  <a:pt x="36096" y="395128"/>
                  <a:pt x="-76547" y="5017"/>
                  <a:pt x="69227" y="48"/>
                </a:cubicBezTo>
                <a:cubicBezTo>
                  <a:pt x="215001" y="-4922"/>
                  <a:pt x="619192" y="375250"/>
                  <a:pt x="1023384" y="755422"/>
                </a:cubicBezTo>
              </a:path>
            </a:pathLst>
          </a:cu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555"/>
          </a:p>
        </p:txBody>
      </p:sp>
      <p:sp>
        <p:nvSpPr>
          <p:cNvPr id="14" name="任意多边形: 形状 13">
            <a:extLst>
              <a:ext uri="{FF2B5EF4-FFF2-40B4-BE49-F238E27FC236}">
                <a16:creationId xmlns:a16="http://schemas.microsoft.com/office/drawing/2014/main" id="{A7935294-D43E-47ED-1C86-D58BE773ACE0}"/>
              </a:ext>
            </a:extLst>
          </p:cNvPr>
          <p:cNvSpPr/>
          <p:nvPr/>
        </p:nvSpPr>
        <p:spPr>
          <a:xfrm>
            <a:off x="7797269" y="2610520"/>
            <a:ext cx="918939" cy="790095"/>
          </a:xfrm>
          <a:custGeom>
            <a:avLst/>
            <a:gdLst>
              <a:gd name="csX0" fmla="*/ 0 w 1063600"/>
              <a:gd name="csY0" fmla="*/ 914473 h 914473"/>
              <a:gd name="csX1" fmla="*/ 964096 w 1063600"/>
              <a:gd name="csY1" fmla="*/ 73 h 914473"/>
              <a:gd name="csX2" fmla="*/ 983974 w 1063600"/>
              <a:gd name="csY2" fmla="*/ 874716 h 914473"/>
            </a:gdLst>
            <a:ahLst/>
            <a:cxnLst>
              <a:cxn ang="0">
                <a:pos x="csX0" y="csY0"/>
              </a:cxn>
              <a:cxn ang="0">
                <a:pos x="csX1" y="csY1"/>
              </a:cxn>
              <a:cxn ang="0">
                <a:pos x="csX2" y="csY2"/>
              </a:cxn>
            </a:cxnLst>
            <a:rect l="l" t="t" r="r" b="b"/>
            <a:pathLst>
              <a:path w="1063600" h="914473">
                <a:moveTo>
                  <a:pt x="0" y="914473"/>
                </a:moveTo>
                <a:cubicBezTo>
                  <a:pt x="400050" y="460586"/>
                  <a:pt x="800100" y="6699"/>
                  <a:pt x="964096" y="73"/>
                </a:cubicBezTo>
                <a:cubicBezTo>
                  <a:pt x="1128092" y="-6553"/>
                  <a:pt x="1056033" y="434081"/>
                  <a:pt x="983974" y="874716"/>
                </a:cubicBezTo>
              </a:path>
            </a:pathLst>
          </a:cu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555"/>
          </a:p>
        </p:txBody>
      </p:sp>
      <p:sp>
        <p:nvSpPr>
          <p:cNvPr id="16" name="任意多边形: 形状 15">
            <a:extLst>
              <a:ext uri="{FF2B5EF4-FFF2-40B4-BE49-F238E27FC236}">
                <a16:creationId xmlns:a16="http://schemas.microsoft.com/office/drawing/2014/main" id="{46B615E0-7BBD-8539-724B-973B1FFFBE6B}"/>
              </a:ext>
            </a:extLst>
          </p:cNvPr>
          <p:cNvSpPr/>
          <p:nvPr/>
        </p:nvSpPr>
        <p:spPr>
          <a:xfrm>
            <a:off x="6230237" y="4236166"/>
            <a:ext cx="738508" cy="867331"/>
          </a:xfrm>
          <a:custGeom>
            <a:avLst/>
            <a:gdLst>
              <a:gd name="csX0" fmla="*/ 854765 w 854765"/>
              <a:gd name="csY0" fmla="*/ 0 h 1003868"/>
              <a:gd name="csX1" fmla="*/ 586409 w 854765"/>
              <a:gd name="csY1" fmla="*/ 1003852 h 1003868"/>
              <a:gd name="csX2" fmla="*/ 0 w 854765"/>
              <a:gd name="csY2" fmla="*/ 19878 h 1003868"/>
            </a:gdLst>
            <a:ahLst/>
            <a:cxnLst>
              <a:cxn ang="0">
                <a:pos x="csX0" y="csY0"/>
              </a:cxn>
              <a:cxn ang="0">
                <a:pos x="csX1" y="csY1"/>
              </a:cxn>
              <a:cxn ang="0">
                <a:pos x="csX2" y="csY2"/>
              </a:cxn>
            </a:cxnLst>
            <a:rect l="l" t="t" r="r" b="b"/>
            <a:pathLst>
              <a:path w="854765" h="1003868">
                <a:moveTo>
                  <a:pt x="854765" y="0"/>
                </a:moveTo>
                <a:cubicBezTo>
                  <a:pt x="791817" y="500269"/>
                  <a:pt x="728870" y="1000539"/>
                  <a:pt x="586409" y="1003852"/>
                </a:cubicBezTo>
                <a:cubicBezTo>
                  <a:pt x="443948" y="1007165"/>
                  <a:pt x="221974" y="513521"/>
                  <a:pt x="0" y="19878"/>
                </a:cubicBezTo>
              </a:path>
            </a:pathLst>
          </a:cu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555"/>
          </a:p>
        </p:txBody>
      </p:sp>
      <p:sp>
        <p:nvSpPr>
          <p:cNvPr id="18" name="文本框 44">
            <a:extLst>
              <a:ext uri="{FF2B5EF4-FFF2-40B4-BE49-F238E27FC236}">
                <a16:creationId xmlns:a16="http://schemas.microsoft.com/office/drawing/2014/main" id="{532BB785-69A9-F8D5-2C54-7B361BABA892}"/>
              </a:ext>
            </a:extLst>
          </p:cNvPr>
          <p:cNvSpPr txBox="1"/>
          <p:nvPr/>
        </p:nvSpPr>
        <p:spPr>
          <a:xfrm flipH="1">
            <a:off x="2910512" y="2987158"/>
            <a:ext cx="2944461" cy="890052"/>
          </a:xfrm>
          <a:prstGeom prst="rect">
            <a:avLst/>
          </a:prstGeom>
          <a:noFill/>
        </p:spPr>
        <p:txBody>
          <a:bodyPr wrap="square" rtlCol="0">
            <a:spAutoFit/>
          </a:bodyPr>
          <a:lstStyle/>
          <a:p>
            <a:r>
              <a:rPr lang="en-US" altLang="zh-CN" sz="1728" dirty="0"/>
              <a:t>"Search mentors’ info" clicked  </a:t>
            </a:r>
          </a:p>
          <a:p>
            <a:r>
              <a:rPr lang="en-US" altLang="zh-CN" sz="1728" dirty="0"/>
              <a:t>/ set up search range</a:t>
            </a:r>
          </a:p>
        </p:txBody>
      </p:sp>
      <p:sp>
        <p:nvSpPr>
          <p:cNvPr id="19" name="文本框 44">
            <a:extLst>
              <a:ext uri="{FF2B5EF4-FFF2-40B4-BE49-F238E27FC236}">
                <a16:creationId xmlns:a16="http://schemas.microsoft.com/office/drawing/2014/main" id="{30631875-F1DE-32F5-609C-B563F7637447}"/>
              </a:ext>
            </a:extLst>
          </p:cNvPr>
          <p:cNvSpPr txBox="1"/>
          <p:nvPr/>
        </p:nvSpPr>
        <p:spPr>
          <a:xfrm flipH="1">
            <a:off x="5472082" y="1657689"/>
            <a:ext cx="2612845" cy="1155957"/>
          </a:xfrm>
          <a:prstGeom prst="rect">
            <a:avLst/>
          </a:prstGeom>
          <a:noFill/>
        </p:spPr>
        <p:txBody>
          <a:bodyPr wrap="square" rtlCol="0">
            <a:spAutoFit/>
          </a:bodyPr>
          <a:lstStyle/>
          <a:p>
            <a:r>
              <a:rPr lang="en-US" altLang="zh-CN" sz="1728" dirty="0"/>
              <a:t>"Search" clicked </a:t>
            </a:r>
          </a:p>
          <a:p>
            <a:r>
              <a:rPr lang="en-US" altLang="zh-CN" sz="1728" dirty="0"/>
              <a:t>[(name and email) invalid and group ID not selected] </a:t>
            </a:r>
          </a:p>
          <a:p>
            <a:r>
              <a:rPr lang="en-US" altLang="zh-CN" sz="1728" dirty="0"/>
              <a:t>/ warning </a:t>
            </a:r>
          </a:p>
        </p:txBody>
      </p:sp>
      <p:sp>
        <p:nvSpPr>
          <p:cNvPr id="20" name="文本框 44">
            <a:extLst>
              <a:ext uri="{FF2B5EF4-FFF2-40B4-BE49-F238E27FC236}">
                <a16:creationId xmlns:a16="http://schemas.microsoft.com/office/drawing/2014/main" id="{F30CF919-C486-D9FA-BBEA-69590B1B347C}"/>
              </a:ext>
            </a:extLst>
          </p:cNvPr>
          <p:cNvSpPr txBox="1"/>
          <p:nvPr/>
        </p:nvSpPr>
        <p:spPr>
          <a:xfrm flipH="1">
            <a:off x="8416084" y="1384845"/>
            <a:ext cx="3624783" cy="1421864"/>
          </a:xfrm>
          <a:prstGeom prst="rect">
            <a:avLst/>
          </a:prstGeom>
          <a:noFill/>
        </p:spPr>
        <p:txBody>
          <a:bodyPr wrap="square" rtlCol="0">
            <a:spAutoFit/>
          </a:bodyPr>
          <a:lstStyle/>
          <a:p>
            <a:r>
              <a:rPr lang="en-US" altLang="zh-CN" sz="1728" dirty="0"/>
              <a:t>"Search" clicked </a:t>
            </a:r>
          </a:p>
          <a:p>
            <a:r>
              <a:rPr lang="en-US" altLang="zh-CN" sz="1728" dirty="0"/>
              <a:t>[(name or email) valid or group ID selected] </a:t>
            </a:r>
          </a:p>
          <a:p>
            <a:r>
              <a:rPr lang="en-US" altLang="zh-CN" sz="1728" dirty="0"/>
              <a:t>/ show mentor name, email and select the group ID in group ID list</a:t>
            </a:r>
          </a:p>
        </p:txBody>
      </p:sp>
      <p:sp>
        <p:nvSpPr>
          <p:cNvPr id="21" name="文本框 44">
            <a:extLst>
              <a:ext uri="{FF2B5EF4-FFF2-40B4-BE49-F238E27FC236}">
                <a16:creationId xmlns:a16="http://schemas.microsoft.com/office/drawing/2014/main" id="{894C6535-5C64-AA50-BC15-D6E72A440CFD}"/>
              </a:ext>
            </a:extLst>
          </p:cNvPr>
          <p:cNvSpPr txBox="1"/>
          <p:nvPr/>
        </p:nvSpPr>
        <p:spPr>
          <a:xfrm flipH="1">
            <a:off x="7874222" y="5229279"/>
            <a:ext cx="3624783" cy="1155957"/>
          </a:xfrm>
          <a:prstGeom prst="rect">
            <a:avLst/>
          </a:prstGeom>
          <a:noFill/>
        </p:spPr>
        <p:txBody>
          <a:bodyPr wrap="square" rtlCol="0">
            <a:spAutoFit/>
          </a:bodyPr>
          <a:lstStyle/>
          <a:p>
            <a:r>
              <a:rPr lang="en-US" altLang="zh-CN" sz="1728" dirty="0"/>
              <a:t>“Show members” clicked </a:t>
            </a:r>
          </a:p>
          <a:p>
            <a:r>
              <a:rPr lang="en-US" altLang="zh-CN" sz="1728" dirty="0"/>
              <a:t>[group id selected]</a:t>
            </a:r>
          </a:p>
          <a:p>
            <a:r>
              <a:rPr lang="en-US" altLang="zh-CN" sz="1728" dirty="0"/>
              <a:t>/show mentor name, email and group member list</a:t>
            </a:r>
          </a:p>
        </p:txBody>
      </p:sp>
      <p:sp>
        <p:nvSpPr>
          <p:cNvPr id="22" name="文本框 44">
            <a:extLst>
              <a:ext uri="{FF2B5EF4-FFF2-40B4-BE49-F238E27FC236}">
                <a16:creationId xmlns:a16="http://schemas.microsoft.com/office/drawing/2014/main" id="{3A1DE5FF-3207-A940-9B9D-E5879183C667}"/>
              </a:ext>
            </a:extLst>
          </p:cNvPr>
          <p:cNvSpPr txBox="1"/>
          <p:nvPr/>
        </p:nvSpPr>
        <p:spPr>
          <a:xfrm flipH="1">
            <a:off x="3787135" y="5128959"/>
            <a:ext cx="3874918" cy="624145"/>
          </a:xfrm>
          <a:prstGeom prst="rect">
            <a:avLst/>
          </a:prstGeom>
          <a:noFill/>
        </p:spPr>
        <p:txBody>
          <a:bodyPr wrap="square" rtlCol="0">
            <a:spAutoFit/>
          </a:bodyPr>
          <a:lstStyle/>
          <a:p>
            <a:r>
              <a:rPr lang="en-US" altLang="zh-CN" sz="1728" dirty="0"/>
              <a:t>select a student in group member list /</a:t>
            </a:r>
          </a:p>
          <a:p>
            <a:r>
              <a:rPr lang="en-US" altLang="zh-CN" sz="1728" dirty="0"/>
              <a:t>show student's record</a:t>
            </a:r>
          </a:p>
        </p:txBody>
      </p:sp>
      <p:sp>
        <p:nvSpPr>
          <p:cNvPr id="23" name="矩形: 圆角 5">
            <a:extLst>
              <a:ext uri="{FF2B5EF4-FFF2-40B4-BE49-F238E27FC236}">
                <a16:creationId xmlns:a16="http://schemas.microsoft.com/office/drawing/2014/main" id="{800356FC-9DB8-4C63-922E-FCE940CCE9EC}"/>
              </a:ext>
            </a:extLst>
          </p:cNvPr>
          <p:cNvSpPr/>
          <p:nvPr/>
        </p:nvSpPr>
        <p:spPr>
          <a:xfrm>
            <a:off x="483420" y="3664446"/>
            <a:ext cx="1957846" cy="88842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tLang="zh-CN" sz="2074" dirty="0">
                <a:solidFill>
                  <a:schemeClr val="tx1"/>
                </a:solidFill>
              </a:rPr>
              <a:t>1D. Home Page </a:t>
            </a:r>
            <a:r>
              <a:rPr lang="en-US" sz="2074" dirty="0">
                <a:solidFill>
                  <a:schemeClr val="tx1"/>
                </a:solidFill>
              </a:rPr>
              <a:t>faculty consultants</a:t>
            </a:r>
            <a:endParaRPr lang="zh-CN" altLang="en-US" sz="1728" dirty="0">
              <a:solidFill>
                <a:schemeClr val="tx1"/>
              </a:solidFill>
            </a:endParaRPr>
          </a:p>
        </p:txBody>
      </p:sp>
      <p:sp>
        <p:nvSpPr>
          <p:cNvPr id="24" name="矩形: 圆角 5">
            <a:extLst>
              <a:ext uri="{FF2B5EF4-FFF2-40B4-BE49-F238E27FC236}">
                <a16:creationId xmlns:a16="http://schemas.microsoft.com/office/drawing/2014/main" id="{627F8768-4879-4C69-8CA6-EC1DB014FA4D}"/>
              </a:ext>
            </a:extLst>
          </p:cNvPr>
          <p:cNvSpPr/>
          <p:nvPr/>
        </p:nvSpPr>
        <p:spPr>
          <a:xfrm>
            <a:off x="443709" y="2733772"/>
            <a:ext cx="1957846" cy="75675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tLang="zh-CN" sz="2074" dirty="0">
                <a:solidFill>
                  <a:schemeClr val="tx1"/>
                </a:solidFill>
              </a:rPr>
              <a:t>1C. Home Page </a:t>
            </a:r>
            <a:r>
              <a:rPr lang="en-US" sz="2074" dirty="0">
                <a:solidFill>
                  <a:schemeClr val="tx1"/>
                </a:solidFill>
              </a:rPr>
              <a:t>coordinator</a:t>
            </a:r>
            <a:endParaRPr lang="zh-CN" altLang="en-US" sz="1728" dirty="0">
              <a:solidFill>
                <a:schemeClr val="tx1"/>
              </a:solidFill>
            </a:endParaRPr>
          </a:p>
        </p:txBody>
      </p:sp>
      <p:sp>
        <p:nvSpPr>
          <p:cNvPr id="25" name="Rectangle 24">
            <a:extLst>
              <a:ext uri="{FF2B5EF4-FFF2-40B4-BE49-F238E27FC236}">
                <a16:creationId xmlns:a16="http://schemas.microsoft.com/office/drawing/2014/main" id="{74DCB2B7-2A07-4980-BF50-FF6FE891AD74}"/>
              </a:ext>
            </a:extLst>
          </p:cNvPr>
          <p:cNvSpPr/>
          <p:nvPr/>
        </p:nvSpPr>
        <p:spPr>
          <a:xfrm>
            <a:off x="323952" y="2620990"/>
            <a:ext cx="2392649" cy="2022962"/>
          </a:xfrm>
          <a:prstGeom prst="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55"/>
          </a:p>
        </p:txBody>
      </p:sp>
      <p:sp>
        <p:nvSpPr>
          <p:cNvPr id="26" name="文本框 44">
            <a:extLst>
              <a:ext uri="{FF2B5EF4-FFF2-40B4-BE49-F238E27FC236}">
                <a16:creationId xmlns:a16="http://schemas.microsoft.com/office/drawing/2014/main" id="{948C2C0A-7DD2-44D0-936F-856C19FBA46F}"/>
              </a:ext>
            </a:extLst>
          </p:cNvPr>
          <p:cNvSpPr txBox="1"/>
          <p:nvPr/>
        </p:nvSpPr>
        <p:spPr>
          <a:xfrm flipH="1">
            <a:off x="112088" y="6142154"/>
            <a:ext cx="5016847" cy="624145"/>
          </a:xfrm>
          <a:prstGeom prst="rect">
            <a:avLst/>
          </a:prstGeom>
          <a:noFill/>
        </p:spPr>
        <p:txBody>
          <a:bodyPr wrap="square" rtlCol="0">
            <a:spAutoFit/>
          </a:bodyPr>
          <a:lstStyle/>
          <a:p>
            <a:r>
              <a:rPr lang="en-US" altLang="zh-CN" sz="1728" i="1" dirty="0"/>
              <a:t>Note: Every state after login has a “</a:t>
            </a:r>
            <a:r>
              <a:rPr lang="en-US" altLang="zh-CN" sz="1728" b="1" i="1" dirty="0">
                <a:solidFill>
                  <a:srgbClr val="FF0000"/>
                </a:solidFill>
              </a:rPr>
              <a:t>Home</a:t>
            </a:r>
            <a:r>
              <a:rPr lang="en-US" altLang="zh-CN" sz="1728" i="1" dirty="0"/>
              <a:t>” button for users to return to their respective home pages.</a:t>
            </a:r>
            <a:endParaRPr lang="zh-CN" altLang="en-US" sz="1555" i="1" dirty="0"/>
          </a:p>
        </p:txBody>
      </p:sp>
      <p:sp>
        <p:nvSpPr>
          <p:cNvPr id="7" name="Freeform: Shape 6">
            <a:extLst>
              <a:ext uri="{FF2B5EF4-FFF2-40B4-BE49-F238E27FC236}">
                <a16:creationId xmlns:a16="http://schemas.microsoft.com/office/drawing/2014/main" id="{2F41C4BC-6604-40EC-9680-285BB6BDD32D}"/>
              </a:ext>
            </a:extLst>
          </p:cNvPr>
          <p:cNvSpPr/>
          <p:nvPr/>
        </p:nvSpPr>
        <p:spPr>
          <a:xfrm>
            <a:off x="7564134" y="4277981"/>
            <a:ext cx="676906" cy="983348"/>
          </a:xfrm>
          <a:custGeom>
            <a:avLst/>
            <a:gdLst>
              <a:gd name="connsiteX0" fmla="*/ 768485 w 783466"/>
              <a:gd name="connsiteY0" fmla="*/ 0 h 1138149"/>
              <a:gd name="connsiteX1" fmla="*/ 680936 w 783466"/>
              <a:gd name="connsiteY1" fmla="*/ 1138136 h 1138149"/>
              <a:gd name="connsiteX2" fmla="*/ 0 w 783466"/>
              <a:gd name="connsiteY2" fmla="*/ 19455 h 1138149"/>
            </a:gdLst>
            <a:ahLst/>
            <a:cxnLst>
              <a:cxn ang="0">
                <a:pos x="connsiteX0" y="connsiteY0"/>
              </a:cxn>
              <a:cxn ang="0">
                <a:pos x="connsiteX1" y="connsiteY1"/>
              </a:cxn>
              <a:cxn ang="0">
                <a:pos x="connsiteX2" y="connsiteY2"/>
              </a:cxn>
            </a:cxnLst>
            <a:rect l="l" t="t" r="r" b="b"/>
            <a:pathLst>
              <a:path w="783466" h="1138149">
                <a:moveTo>
                  <a:pt x="768485" y="0"/>
                </a:moveTo>
                <a:cubicBezTo>
                  <a:pt x="788751" y="567447"/>
                  <a:pt x="809017" y="1134894"/>
                  <a:pt x="680936" y="1138136"/>
                </a:cubicBezTo>
                <a:cubicBezTo>
                  <a:pt x="552855" y="1141378"/>
                  <a:pt x="276427" y="580416"/>
                  <a:pt x="0" y="19455"/>
                </a:cubicBezTo>
              </a:path>
            </a:pathLst>
          </a:custGeom>
          <a:noFill/>
          <a:ln>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55"/>
          </a:p>
        </p:txBody>
      </p:sp>
      <p:sp>
        <p:nvSpPr>
          <p:cNvPr id="8" name="Freeform: Shape 7">
            <a:extLst>
              <a:ext uri="{FF2B5EF4-FFF2-40B4-BE49-F238E27FC236}">
                <a16:creationId xmlns:a16="http://schemas.microsoft.com/office/drawing/2014/main" id="{850A271E-41F2-44F3-8377-01552E853476}"/>
              </a:ext>
            </a:extLst>
          </p:cNvPr>
          <p:cNvSpPr/>
          <p:nvPr/>
        </p:nvSpPr>
        <p:spPr>
          <a:xfrm>
            <a:off x="8875251" y="3664446"/>
            <a:ext cx="638824" cy="378206"/>
          </a:xfrm>
          <a:custGeom>
            <a:avLst/>
            <a:gdLst>
              <a:gd name="connsiteX0" fmla="*/ 0 w 739389"/>
              <a:gd name="connsiteY0" fmla="*/ 0 h 437744"/>
              <a:gd name="connsiteX1" fmla="*/ 739302 w 739389"/>
              <a:gd name="connsiteY1" fmla="*/ 175097 h 437744"/>
              <a:gd name="connsiteX2" fmla="*/ 38910 w 739389"/>
              <a:gd name="connsiteY2" fmla="*/ 437744 h 437744"/>
            </a:gdLst>
            <a:ahLst/>
            <a:cxnLst>
              <a:cxn ang="0">
                <a:pos x="connsiteX0" y="connsiteY0"/>
              </a:cxn>
              <a:cxn ang="0">
                <a:pos x="connsiteX1" y="connsiteY1"/>
              </a:cxn>
              <a:cxn ang="0">
                <a:pos x="connsiteX2" y="connsiteY2"/>
              </a:cxn>
            </a:cxnLst>
            <a:rect l="l" t="t" r="r" b="b"/>
            <a:pathLst>
              <a:path w="739389" h="437744">
                <a:moveTo>
                  <a:pt x="0" y="0"/>
                </a:moveTo>
                <a:cubicBezTo>
                  <a:pt x="366408" y="51070"/>
                  <a:pt x="732817" y="102140"/>
                  <a:pt x="739302" y="175097"/>
                </a:cubicBezTo>
                <a:cubicBezTo>
                  <a:pt x="745787" y="248054"/>
                  <a:pt x="392348" y="342899"/>
                  <a:pt x="38910" y="437744"/>
                </a:cubicBezTo>
              </a:path>
            </a:pathLst>
          </a:custGeom>
          <a:noFill/>
          <a:ln>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55"/>
          </a:p>
        </p:txBody>
      </p:sp>
      <p:sp>
        <p:nvSpPr>
          <p:cNvPr id="27" name="文本框 44">
            <a:extLst>
              <a:ext uri="{FF2B5EF4-FFF2-40B4-BE49-F238E27FC236}">
                <a16:creationId xmlns:a16="http://schemas.microsoft.com/office/drawing/2014/main" id="{94738EFD-8176-46AD-BAE3-BE4B791DFBBA}"/>
              </a:ext>
            </a:extLst>
          </p:cNvPr>
          <p:cNvSpPr txBox="1"/>
          <p:nvPr/>
        </p:nvSpPr>
        <p:spPr>
          <a:xfrm flipH="1">
            <a:off x="9648216" y="3454675"/>
            <a:ext cx="2392649" cy="1155957"/>
          </a:xfrm>
          <a:prstGeom prst="rect">
            <a:avLst/>
          </a:prstGeom>
          <a:noFill/>
        </p:spPr>
        <p:txBody>
          <a:bodyPr wrap="square" rtlCol="0">
            <a:spAutoFit/>
          </a:bodyPr>
          <a:lstStyle/>
          <a:p>
            <a:r>
              <a:rPr lang="en-US" altLang="zh-CN" sz="1728" dirty="0"/>
              <a:t>“Show members” clicked </a:t>
            </a:r>
          </a:p>
          <a:p>
            <a:r>
              <a:rPr lang="en-US" altLang="zh-CN" sz="1728" dirty="0"/>
              <a:t>[group id not selected]</a:t>
            </a:r>
          </a:p>
          <a:p>
            <a:r>
              <a:rPr lang="en-US" altLang="zh-CN" sz="1728" dirty="0"/>
              <a:t>/warning</a:t>
            </a:r>
          </a:p>
        </p:txBody>
      </p:sp>
    </p:spTree>
    <p:extLst>
      <p:ext uri="{BB962C8B-B14F-4D97-AF65-F5344CB8AC3E}">
        <p14:creationId xmlns:p14="http://schemas.microsoft.com/office/powerpoint/2010/main" val="11353636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E575CE-43BA-F4BC-6AAD-EDBC33FC558A}"/>
              </a:ext>
            </a:extLst>
          </p:cNvPr>
          <p:cNvSpPr>
            <a:spLocks noGrp="1"/>
          </p:cNvSpPr>
          <p:nvPr>
            <p:ph type="title"/>
          </p:nvPr>
        </p:nvSpPr>
        <p:spPr>
          <a:xfrm>
            <a:off x="838200" y="365165"/>
            <a:ext cx="6410688" cy="763348"/>
          </a:xfrm>
        </p:spPr>
        <p:txBody>
          <a:bodyPr/>
          <a:lstStyle/>
          <a:p>
            <a:r>
              <a:rPr lang="en-US" altLang="zh-CN" dirty="0"/>
              <a:t>UI </a:t>
            </a:r>
            <a:endParaRPr lang="zh-CN" altLang="en-US" dirty="0"/>
          </a:p>
        </p:txBody>
      </p:sp>
      <p:sp>
        <p:nvSpPr>
          <p:cNvPr id="4" name="TextBox 5">
            <a:extLst>
              <a:ext uri="{FF2B5EF4-FFF2-40B4-BE49-F238E27FC236}">
                <a16:creationId xmlns:a16="http://schemas.microsoft.com/office/drawing/2014/main" id="{BB600464-C402-691B-A66B-1D45D80F65D3}"/>
              </a:ext>
            </a:extLst>
          </p:cNvPr>
          <p:cNvSpPr txBox="1"/>
          <p:nvPr/>
        </p:nvSpPr>
        <p:spPr>
          <a:xfrm>
            <a:off x="455440" y="2628160"/>
            <a:ext cx="2411224" cy="730713"/>
          </a:xfrm>
          <a:prstGeom prst="rect">
            <a:avLst/>
          </a:prstGeom>
          <a:noFill/>
        </p:spPr>
        <p:txBody>
          <a:bodyPr wrap="square" rtlCol="0">
            <a:spAutoFit/>
          </a:bodyPr>
          <a:lstStyle/>
          <a:p>
            <a:pPr algn="ctr"/>
            <a:r>
              <a:rPr lang="en-GB" altLang="zh-CN" sz="2074" dirty="0"/>
              <a:t>1A. Home Page </a:t>
            </a:r>
            <a:r>
              <a:rPr lang="en-US" sz="2074" dirty="0"/>
              <a:t>mentors</a:t>
            </a:r>
            <a:endParaRPr lang="zh-CN" altLang="en-US" sz="1728" dirty="0"/>
          </a:p>
        </p:txBody>
      </p:sp>
      <p:grpSp>
        <p:nvGrpSpPr>
          <p:cNvPr id="20" name="Group 19">
            <a:extLst>
              <a:ext uri="{FF2B5EF4-FFF2-40B4-BE49-F238E27FC236}">
                <a16:creationId xmlns:a16="http://schemas.microsoft.com/office/drawing/2014/main" id="{8990D807-AD59-4C28-BA31-ECD9643B6EBE}"/>
              </a:ext>
            </a:extLst>
          </p:cNvPr>
          <p:cNvGrpSpPr/>
          <p:nvPr/>
        </p:nvGrpSpPr>
        <p:grpSpPr>
          <a:xfrm>
            <a:off x="355508" y="1314580"/>
            <a:ext cx="2755501" cy="1231898"/>
            <a:chOff x="970151" y="4918397"/>
            <a:chExt cx="2790803" cy="1425826"/>
          </a:xfrm>
        </p:grpSpPr>
        <p:sp>
          <p:nvSpPr>
            <p:cNvPr id="3" name="Rectangle 2">
              <a:extLst>
                <a:ext uri="{FF2B5EF4-FFF2-40B4-BE49-F238E27FC236}">
                  <a16:creationId xmlns:a16="http://schemas.microsoft.com/office/drawing/2014/main" id="{973AB9C7-44FD-2EC6-D247-A13DB4336BDD}"/>
                </a:ext>
              </a:extLst>
            </p:cNvPr>
            <p:cNvSpPr/>
            <p:nvPr/>
          </p:nvSpPr>
          <p:spPr>
            <a:xfrm>
              <a:off x="970151" y="4918397"/>
              <a:ext cx="2790803" cy="142582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55"/>
            </a:p>
          </p:txBody>
        </p:sp>
        <p:sp>
          <p:nvSpPr>
            <p:cNvPr id="5" name="Rectangle 31">
              <a:extLst>
                <a:ext uri="{FF2B5EF4-FFF2-40B4-BE49-F238E27FC236}">
                  <a16:creationId xmlns:a16="http://schemas.microsoft.com/office/drawing/2014/main" id="{47CDDC8A-63BF-EDAC-7445-5158D580BA2E}"/>
                </a:ext>
              </a:extLst>
            </p:cNvPr>
            <p:cNvSpPr/>
            <p:nvPr/>
          </p:nvSpPr>
          <p:spPr>
            <a:xfrm>
              <a:off x="1141245" y="5666772"/>
              <a:ext cx="2434154" cy="414635"/>
            </a:xfrm>
            <a:prstGeom prst="rect">
              <a:avLst/>
            </a:prstGeom>
          </p:spPr>
          <p:style>
            <a:lnRef idx="1">
              <a:schemeClr val="accent5"/>
            </a:lnRef>
            <a:fillRef idx="2">
              <a:schemeClr val="accent5"/>
            </a:fillRef>
            <a:effectRef idx="1">
              <a:schemeClr val="accent5"/>
            </a:effectRef>
            <a:fontRef idx="minor">
              <a:schemeClr val="dk1"/>
            </a:fontRef>
          </p:style>
          <p:txBody>
            <a:bodyPr wrap="square" anchor="ctr">
              <a:spAutoFit/>
            </a:bodyPr>
            <a:lstStyle/>
            <a:p>
              <a:r>
                <a:rPr lang="en-GB" altLang="zh-CN" sz="1728" dirty="0"/>
                <a:t>Other mentor use cases</a:t>
              </a:r>
              <a:endParaRPr lang="zh-CN" altLang="en-US" sz="1382" dirty="0"/>
            </a:p>
          </p:txBody>
        </p:sp>
        <p:sp>
          <p:nvSpPr>
            <p:cNvPr id="6" name="Rectangle 31">
              <a:extLst>
                <a:ext uri="{FF2B5EF4-FFF2-40B4-BE49-F238E27FC236}">
                  <a16:creationId xmlns:a16="http://schemas.microsoft.com/office/drawing/2014/main" id="{8E4E3E47-3B81-95AA-A95C-EFF222AE9FBE}"/>
                </a:ext>
              </a:extLst>
            </p:cNvPr>
            <p:cNvSpPr/>
            <p:nvPr/>
          </p:nvSpPr>
          <p:spPr>
            <a:xfrm>
              <a:off x="1148476" y="5063773"/>
              <a:ext cx="2434154" cy="414635"/>
            </a:xfrm>
            <a:prstGeom prst="rect">
              <a:avLst/>
            </a:prstGeom>
          </p:spPr>
          <p:style>
            <a:lnRef idx="1">
              <a:schemeClr val="accent5"/>
            </a:lnRef>
            <a:fillRef idx="2">
              <a:schemeClr val="accent5"/>
            </a:fillRef>
            <a:effectRef idx="1">
              <a:schemeClr val="accent5"/>
            </a:effectRef>
            <a:fontRef idx="minor">
              <a:schemeClr val="dk1"/>
            </a:fontRef>
          </p:style>
          <p:txBody>
            <a:bodyPr wrap="square" anchor="ctr">
              <a:spAutoFit/>
            </a:bodyPr>
            <a:lstStyle/>
            <a:p>
              <a:r>
                <a:rPr lang="en-GB" altLang="zh-CN" sz="1728" dirty="0"/>
                <a:t>Search students’ info</a:t>
              </a:r>
              <a:endParaRPr lang="zh-CN" altLang="en-US" sz="1382" dirty="0"/>
            </a:p>
          </p:txBody>
        </p:sp>
      </p:grpSp>
      <p:grpSp>
        <p:nvGrpSpPr>
          <p:cNvPr id="12" name="Group 11">
            <a:extLst>
              <a:ext uri="{FF2B5EF4-FFF2-40B4-BE49-F238E27FC236}">
                <a16:creationId xmlns:a16="http://schemas.microsoft.com/office/drawing/2014/main" id="{4087F665-0FF4-4CCE-89AF-C7994666D24C}"/>
              </a:ext>
            </a:extLst>
          </p:cNvPr>
          <p:cNvGrpSpPr/>
          <p:nvPr/>
        </p:nvGrpSpPr>
        <p:grpSpPr>
          <a:xfrm>
            <a:off x="2345186" y="4100462"/>
            <a:ext cx="3160491" cy="1159002"/>
            <a:chOff x="5912736" y="4799914"/>
            <a:chExt cx="3658021" cy="1341454"/>
          </a:xfrm>
        </p:grpSpPr>
        <p:sp>
          <p:nvSpPr>
            <p:cNvPr id="8" name="Rectangle 48">
              <a:extLst>
                <a:ext uri="{FF2B5EF4-FFF2-40B4-BE49-F238E27FC236}">
                  <a16:creationId xmlns:a16="http://schemas.microsoft.com/office/drawing/2014/main" id="{4692EE3C-6E61-088F-D1FD-28C80F601723}"/>
                </a:ext>
              </a:extLst>
            </p:cNvPr>
            <p:cNvSpPr/>
            <p:nvPr/>
          </p:nvSpPr>
          <p:spPr>
            <a:xfrm>
              <a:off x="5912736" y="4799914"/>
              <a:ext cx="3658021" cy="134145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55"/>
            </a:p>
          </p:txBody>
        </p:sp>
        <p:sp>
          <p:nvSpPr>
            <p:cNvPr id="9" name="Rectangle 53">
              <a:extLst>
                <a:ext uri="{FF2B5EF4-FFF2-40B4-BE49-F238E27FC236}">
                  <a16:creationId xmlns:a16="http://schemas.microsoft.com/office/drawing/2014/main" id="{F655918C-3F2F-55CC-FAA4-215858A4332C}"/>
                </a:ext>
              </a:extLst>
            </p:cNvPr>
            <p:cNvSpPr/>
            <p:nvPr/>
          </p:nvSpPr>
          <p:spPr>
            <a:xfrm>
              <a:off x="7257835" y="4998649"/>
              <a:ext cx="1054720" cy="34119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55"/>
            </a:p>
          </p:txBody>
        </p:sp>
        <p:sp>
          <p:nvSpPr>
            <p:cNvPr id="10" name="Rectangle 55">
              <a:extLst>
                <a:ext uri="{FF2B5EF4-FFF2-40B4-BE49-F238E27FC236}">
                  <a16:creationId xmlns:a16="http://schemas.microsoft.com/office/drawing/2014/main" id="{56B87149-7016-038F-9069-CC94E633AB3C}"/>
                </a:ext>
              </a:extLst>
            </p:cNvPr>
            <p:cNvSpPr/>
            <p:nvPr/>
          </p:nvSpPr>
          <p:spPr>
            <a:xfrm>
              <a:off x="5931505" y="4974972"/>
              <a:ext cx="1441460" cy="414635"/>
            </a:xfrm>
            <a:prstGeom prst="rect">
              <a:avLst/>
            </a:prstGeom>
          </p:spPr>
          <p:txBody>
            <a:bodyPr wrap="none">
              <a:spAutoFit/>
            </a:bodyPr>
            <a:lstStyle/>
            <a:p>
              <a:r>
                <a:rPr lang="en-GB" altLang="zh-CN" sz="1728" dirty="0"/>
                <a:t>Student ID: </a:t>
              </a:r>
              <a:endParaRPr lang="zh-CN" altLang="en-US" sz="1728" dirty="0"/>
            </a:p>
          </p:txBody>
        </p:sp>
        <p:sp>
          <p:nvSpPr>
            <p:cNvPr id="11" name="Rectangle 56">
              <a:extLst>
                <a:ext uri="{FF2B5EF4-FFF2-40B4-BE49-F238E27FC236}">
                  <a16:creationId xmlns:a16="http://schemas.microsoft.com/office/drawing/2014/main" id="{1770A47B-5C41-57AD-5DC8-AFC6D9CE0B1A}"/>
                </a:ext>
              </a:extLst>
            </p:cNvPr>
            <p:cNvSpPr/>
            <p:nvPr/>
          </p:nvSpPr>
          <p:spPr>
            <a:xfrm>
              <a:off x="8488293" y="4980605"/>
              <a:ext cx="966666" cy="414635"/>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GB" altLang="zh-CN" sz="1728" dirty="0"/>
                <a:t>Search</a:t>
              </a:r>
              <a:endParaRPr lang="zh-CN" altLang="en-US" sz="1382" dirty="0"/>
            </a:p>
          </p:txBody>
        </p:sp>
      </p:grpSp>
      <p:sp>
        <p:nvSpPr>
          <p:cNvPr id="13" name="TextBox 5">
            <a:extLst>
              <a:ext uri="{FF2B5EF4-FFF2-40B4-BE49-F238E27FC236}">
                <a16:creationId xmlns:a16="http://schemas.microsoft.com/office/drawing/2014/main" id="{F7D6FA80-C24F-B8E5-C279-AA23E16F71D6}"/>
              </a:ext>
            </a:extLst>
          </p:cNvPr>
          <p:cNvSpPr txBox="1"/>
          <p:nvPr/>
        </p:nvSpPr>
        <p:spPr>
          <a:xfrm>
            <a:off x="2436641" y="5312136"/>
            <a:ext cx="3160491" cy="730713"/>
          </a:xfrm>
          <a:prstGeom prst="rect">
            <a:avLst/>
          </a:prstGeom>
          <a:noFill/>
        </p:spPr>
        <p:txBody>
          <a:bodyPr wrap="square" rtlCol="0">
            <a:spAutoFit/>
          </a:bodyPr>
          <a:lstStyle/>
          <a:p>
            <a:pPr algn="ctr"/>
            <a:r>
              <a:rPr lang="en-US" altLang="zh-CN" sz="2074" dirty="0"/>
              <a:t>2A. Search Students' Info Page</a:t>
            </a:r>
            <a:endParaRPr lang="zh-CN" altLang="en-US" sz="2074" dirty="0"/>
          </a:p>
        </p:txBody>
      </p:sp>
      <p:sp>
        <p:nvSpPr>
          <p:cNvPr id="19" name="TextBox 5">
            <a:extLst>
              <a:ext uri="{FF2B5EF4-FFF2-40B4-BE49-F238E27FC236}">
                <a16:creationId xmlns:a16="http://schemas.microsoft.com/office/drawing/2014/main" id="{2B781EC0-2411-91CF-6DE0-AC2C54D4C2A7}"/>
              </a:ext>
            </a:extLst>
          </p:cNvPr>
          <p:cNvSpPr txBox="1"/>
          <p:nvPr/>
        </p:nvSpPr>
        <p:spPr>
          <a:xfrm>
            <a:off x="8807652" y="6062857"/>
            <a:ext cx="3066292" cy="411523"/>
          </a:xfrm>
          <a:prstGeom prst="rect">
            <a:avLst/>
          </a:prstGeom>
          <a:noFill/>
        </p:spPr>
        <p:txBody>
          <a:bodyPr wrap="square" rtlCol="0">
            <a:spAutoFit/>
          </a:bodyPr>
          <a:lstStyle/>
          <a:p>
            <a:pPr algn="ctr"/>
            <a:r>
              <a:rPr lang="en-GB" altLang="zh-CN" sz="2074" dirty="0"/>
              <a:t>2B. Student Info Page</a:t>
            </a:r>
            <a:endParaRPr lang="zh-CN" altLang="en-US" sz="2074" dirty="0"/>
          </a:p>
        </p:txBody>
      </p:sp>
      <p:sp>
        <p:nvSpPr>
          <p:cNvPr id="23" name="文本框 44">
            <a:extLst>
              <a:ext uri="{FF2B5EF4-FFF2-40B4-BE49-F238E27FC236}">
                <a16:creationId xmlns:a16="http://schemas.microsoft.com/office/drawing/2014/main" id="{695B5F34-2EA4-44D9-B949-9D31AFD69715}"/>
              </a:ext>
            </a:extLst>
          </p:cNvPr>
          <p:cNvSpPr txBox="1"/>
          <p:nvPr/>
        </p:nvSpPr>
        <p:spPr>
          <a:xfrm flipH="1">
            <a:off x="145431" y="6323818"/>
            <a:ext cx="9181484" cy="358240"/>
          </a:xfrm>
          <a:prstGeom prst="rect">
            <a:avLst/>
          </a:prstGeom>
          <a:noFill/>
        </p:spPr>
        <p:txBody>
          <a:bodyPr wrap="square" rtlCol="0">
            <a:spAutoFit/>
          </a:bodyPr>
          <a:lstStyle/>
          <a:p>
            <a:r>
              <a:rPr lang="en-US" altLang="zh-CN" sz="1728" i="1" dirty="0"/>
              <a:t>Note: Every state after login has a “Home” Button for users to return to their respective home pages</a:t>
            </a:r>
            <a:endParaRPr lang="zh-CN" altLang="en-US" sz="1728" i="1" dirty="0"/>
          </a:p>
        </p:txBody>
      </p:sp>
      <p:sp>
        <p:nvSpPr>
          <p:cNvPr id="25" name="TextBox 5">
            <a:extLst>
              <a:ext uri="{FF2B5EF4-FFF2-40B4-BE49-F238E27FC236}">
                <a16:creationId xmlns:a16="http://schemas.microsoft.com/office/drawing/2014/main" id="{887218FD-34DD-49B7-A9CA-8B821338B303}"/>
              </a:ext>
            </a:extLst>
          </p:cNvPr>
          <p:cNvSpPr txBox="1"/>
          <p:nvPr/>
        </p:nvSpPr>
        <p:spPr>
          <a:xfrm>
            <a:off x="6219133" y="3069779"/>
            <a:ext cx="2411224" cy="730713"/>
          </a:xfrm>
          <a:prstGeom prst="rect">
            <a:avLst/>
          </a:prstGeom>
          <a:noFill/>
        </p:spPr>
        <p:txBody>
          <a:bodyPr wrap="square" rtlCol="0">
            <a:spAutoFit/>
          </a:bodyPr>
          <a:lstStyle/>
          <a:p>
            <a:pPr algn="ctr"/>
            <a:r>
              <a:rPr lang="en-GB" altLang="zh-CN" sz="2074" dirty="0"/>
              <a:t>1D. Home Page </a:t>
            </a:r>
            <a:r>
              <a:rPr lang="en-US" sz="2074" dirty="0"/>
              <a:t>faculty consultants</a:t>
            </a:r>
            <a:endParaRPr lang="zh-CN" altLang="en-US" sz="1728" dirty="0"/>
          </a:p>
        </p:txBody>
      </p:sp>
      <p:sp>
        <p:nvSpPr>
          <p:cNvPr id="29" name="TextBox 5">
            <a:extLst>
              <a:ext uri="{FF2B5EF4-FFF2-40B4-BE49-F238E27FC236}">
                <a16:creationId xmlns:a16="http://schemas.microsoft.com/office/drawing/2014/main" id="{74449763-EC29-4362-BEFF-3A0020B72EBF}"/>
              </a:ext>
            </a:extLst>
          </p:cNvPr>
          <p:cNvSpPr txBox="1"/>
          <p:nvPr/>
        </p:nvSpPr>
        <p:spPr>
          <a:xfrm>
            <a:off x="3305484" y="3097085"/>
            <a:ext cx="2589423" cy="730713"/>
          </a:xfrm>
          <a:prstGeom prst="rect">
            <a:avLst/>
          </a:prstGeom>
          <a:noFill/>
        </p:spPr>
        <p:txBody>
          <a:bodyPr wrap="square" rtlCol="0">
            <a:spAutoFit/>
          </a:bodyPr>
          <a:lstStyle/>
          <a:p>
            <a:pPr algn="ctr"/>
            <a:r>
              <a:rPr lang="en-GB" altLang="zh-CN" sz="2074" dirty="0"/>
              <a:t>1C. Home Page </a:t>
            </a:r>
            <a:r>
              <a:rPr lang="en-US" sz="2074" dirty="0"/>
              <a:t>coordinator</a:t>
            </a:r>
            <a:endParaRPr lang="zh-CN" altLang="en-US" sz="1728" dirty="0"/>
          </a:p>
        </p:txBody>
      </p:sp>
      <p:grpSp>
        <p:nvGrpSpPr>
          <p:cNvPr id="35" name="Group 34">
            <a:extLst>
              <a:ext uri="{FF2B5EF4-FFF2-40B4-BE49-F238E27FC236}">
                <a16:creationId xmlns:a16="http://schemas.microsoft.com/office/drawing/2014/main" id="{473408B6-2B5D-45CA-B191-AC28AE682F5F}"/>
              </a:ext>
            </a:extLst>
          </p:cNvPr>
          <p:cNvGrpSpPr/>
          <p:nvPr/>
        </p:nvGrpSpPr>
        <p:grpSpPr>
          <a:xfrm>
            <a:off x="6181629" y="1190199"/>
            <a:ext cx="2411224" cy="1767391"/>
            <a:chOff x="970150" y="1992977"/>
            <a:chExt cx="2790803" cy="2045617"/>
          </a:xfrm>
        </p:grpSpPr>
        <p:sp>
          <p:nvSpPr>
            <p:cNvPr id="24" name="Rectangle 23">
              <a:extLst>
                <a:ext uri="{FF2B5EF4-FFF2-40B4-BE49-F238E27FC236}">
                  <a16:creationId xmlns:a16="http://schemas.microsoft.com/office/drawing/2014/main" id="{C2C18E5E-8B1F-41E0-9740-A3EFE4507B9C}"/>
                </a:ext>
              </a:extLst>
            </p:cNvPr>
            <p:cNvSpPr/>
            <p:nvPr/>
          </p:nvSpPr>
          <p:spPr>
            <a:xfrm>
              <a:off x="970150" y="1992977"/>
              <a:ext cx="2790803" cy="204561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55"/>
            </a:p>
          </p:txBody>
        </p:sp>
        <p:sp>
          <p:nvSpPr>
            <p:cNvPr id="26" name="Rectangle 31">
              <a:extLst>
                <a:ext uri="{FF2B5EF4-FFF2-40B4-BE49-F238E27FC236}">
                  <a16:creationId xmlns:a16="http://schemas.microsoft.com/office/drawing/2014/main" id="{04E1245A-28C0-47ED-88A2-BAD0BD94C39D}"/>
                </a:ext>
              </a:extLst>
            </p:cNvPr>
            <p:cNvSpPr/>
            <p:nvPr/>
          </p:nvSpPr>
          <p:spPr>
            <a:xfrm>
              <a:off x="1148473" y="3168585"/>
              <a:ext cx="2434154" cy="722399"/>
            </a:xfrm>
            <a:prstGeom prst="rect">
              <a:avLst/>
            </a:prstGeom>
          </p:spPr>
          <p:style>
            <a:lnRef idx="1">
              <a:schemeClr val="accent5"/>
            </a:lnRef>
            <a:fillRef idx="2">
              <a:schemeClr val="accent5"/>
            </a:fillRef>
            <a:effectRef idx="1">
              <a:schemeClr val="accent5"/>
            </a:effectRef>
            <a:fontRef idx="minor">
              <a:schemeClr val="dk1"/>
            </a:fontRef>
          </p:style>
          <p:txBody>
            <a:bodyPr wrap="square" anchor="ctr">
              <a:spAutoFit/>
            </a:bodyPr>
            <a:lstStyle/>
            <a:p>
              <a:r>
                <a:rPr lang="en-GB" altLang="zh-CN" sz="1728" dirty="0"/>
                <a:t>Other </a:t>
              </a:r>
              <a:r>
                <a:rPr lang="en-US" sz="1728" dirty="0"/>
                <a:t>faculty consultants</a:t>
              </a:r>
              <a:r>
                <a:rPr lang="en-GB" altLang="zh-CN" sz="1728" dirty="0"/>
                <a:t> use cases</a:t>
              </a:r>
              <a:endParaRPr lang="zh-CN" altLang="en-US" sz="1382" dirty="0"/>
            </a:p>
          </p:txBody>
        </p:sp>
        <p:sp>
          <p:nvSpPr>
            <p:cNvPr id="27" name="Rectangle 31">
              <a:extLst>
                <a:ext uri="{FF2B5EF4-FFF2-40B4-BE49-F238E27FC236}">
                  <a16:creationId xmlns:a16="http://schemas.microsoft.com/office/drawing/2014/main" id="{87D47F38-FA63-4347-934D-374B44F03DFA}"/>
                </a:ext>
              </a:extLst>
            </p:cNvPr>
            <p:cNvSpPr/>
            <p:nvPr/>
          </p:nvSpPr>
          <p:spPr>
            <a:xfrm>
              <a:off x="1148475" y="2115565"/>
              <a:ext cx="2434154" cy="414635"/>
            </a:xfrm>
            <a:prstGeom prst="rect">
              <a:avLst/>
            </a:prstGeom>
          </p:spPr>
          <p:style>
            <a:lnRef idx="1">
              <a:schemeClr val="accent5"/>
            </a:lnRef>
            <a:fillRef idx="2">
              <a:schemeClr val="accent5"/>
            </a:fillRef>
            <a:effectRef idx="1">
              <a:schemeClr val="accent5"/>
            </a:effectRef>
            <a:fontRef idx="minor">
              <a:schemeClr val="dk1"/>
            </a:fontRef>
          </p:style>
          <p:txBody>
            <a:bodyPr wrap="square" anchor="ctr">
              <a:spAutoFit/>
            </a:bodyPr>
            <a:lstStyle/>
            <a:p>
              <a:r>
                <a:rPr lang="en-GB" altLang="zh-CN" sz="1728" dirty="0"/>
                <a:t>Search students’ info</a:t>
              </a:r>
              <a:endParaRPr lang="zh-CN" altLang="en-US" sz="1382" dirty="0"/>
            </a:p>
          </p:txBody>
        </p:sp>
        <p:sp>
          <p:nvSpPr>
            <p:cNvPr id="32" name="Rectangle 31">
              <a:extLst>
                <a:ext uri="{FF2B5EF4-FFF2-40B4-BE49-F238E27FC236}">
                  <a16:creationId xmlns:a16="http://schemas.microsoft.com/office/drawing/2014/main" id="{7016B5E9-BBF2-4195-AC77-8F05BB7797A7}"/>
                </a:ext>
              </a:extLst>
            </p:cNvPr>
            <p:cNvSpPr/>
            <p:nvPr/>
          </p:nvSpPr>
          <p:spPr>
            <a:xfrm>
              <a:off x="1148475" y="2631414"/>
              <a:ext cx="2434154" cy="414635"/>
            </a:xfrm>
            <a:prstGeom prst="rect">
              <a:avLst/>
            </a:prstGeom>
          </p:spPr>
          <p:style>
            <a:lnRef idx="1">
              <a:schemeClr val="accent5"/>
            </a:lnRef>
            <a:fillRef idx="2">
              <a:schemeClr val="accent5"/>
            </a:fillRef>
            <a:effectRef idx="1">
              <a:schemeClr val="accent5"/>
            </a:effectRef>
            <a:fontRef idx="minor">
              <a:schemeClr val="dk1"/>
            </a:fontRef>
          </p:style>
          <p:txBody>
            <a:bodyPr wrap="square" anchor="ctr">
              <a:spAutoFit/>
            </a:bodyPr>
            <a:lstStyle/>
            <a:p>
              <a:r>
                <a:rPr lang="en-GB" altLang="zh-CN" sz="1728" dirty="0"/>
                <a:t>Search mentors’ info</a:t>
              </a:r>
              <a:endParaRPr lang="zh-CN" altLang="en-US" sz="1382" dirty="0"/>
            </a:p>
          </p:txBody>
        </p:sp>
      </p:grpSp>
      <p:grpSp>
        <p:nvGrpSpPr>
          <p:cNvPr id="36" name="Group 35">
            <a:extLst>
              <a:ext uri="{FF2B5EF4-FFF2-40B4-BE49-F238E27FC236}">
                <a16:creationId xmlns:a16="http://schemas.microsoft.com/office/drawing/2014/main" id="{46A04537-4DF8-42F3-85E0-50648BC0086E}"/>
              </a:ext>
            </a:extLst>
          </p:cNvPr>
          <p:cNvGrpSpPr/>
          <p:nvPr/>
        </p:nvGrpSpPr>
        <p:grpSpPr>
          <a:xfrm>
            <a:off x="3483683" y="1192680"/>
            <a:ext cx="2411224" cy="1767390"/>
            <a:chOff x="4264841" y="1992978"/>
            <a:chExt cx="2790803" cy="2045616"/>
          </a:xfrm>
        </p:grpSpPr>
        <p:sp>
          <p:nvSpPr>
            <p:cNvPr id="28" name="Rectangle 27">
              <a:extLst>
                <a:ext uri="{FF2B5EF4-FFF2-40B4-BE49-F238E27FC236}">
                  <a16:creationId xmlns:a16="http://schemas.microsoft.com/office/drawing/2014/main" id="{B30D4DA0-D9B9-4BA9-9C6D-9B602A2670E4}"/>
                </a:ext>
              </a:extLst>
            </p:cNvPr>
            <p:cNvSpPr/>
            <p:nvPr/>
          </p:nvSpPr>
          <p:spPr>
            <a:xfrm>
              <a:off x="4264841" y="1992978"/>
              <a:ext cx="2790803" cy="204561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55"/>
            </a:p>
          </p:txBody>
        </p:sp>
        <p:sp>
          <p:nvSpPr>
            <p:cNvPr id="30" name="Rectangle 31">
              <a:extLst>
                <a:ext uri="{FF2B5EF4-FFF2-40B4-BE49-F238E27FC236}">
                  <a16:creationId xmlns:a16="http://schemas.microsoft.com/office/drawing/2014/main" id="{A7BCC48D-C5E0-4E82-8B7A-96D657806549}"/>
                </a:ext>
              </a:extLst>
            </p:cNvPr>
            <p:cNvSpPr/>
            <p:nvPr/>
          </p:nvSpPr>
          <p:spPr>
            <a:xfrm>
              <a:off x="4447414" y="3169372"/>
              <a:ext cx="2434154" cy="722399"/>
            </a:xfrm>
            <a:prstGeom prst="rect">
              <a:avLst/>
            </a:prstGeom>
          </p:spPr>
          <p:style>
            <a:lnRef idx="1">
              <a:schemeClr val="accent5"/>
            </a:lnRef>
            <a:fillRef idx="2">
              <a:schemeClr val="accent5"/>
            </a:fillRef>
            <a:effectRef idx="1">
              <a:schemeClr val="accent5"/>
            </a:effectRef>
            <a:fontRef idx="minor">
              <a:schemeClr val="dk1"/>
            </a:fontRef>
          </p:style>
          <p:txBody>
            <a:bodyPr wrap="square" anchor="ctr">
              <a:spAutoFit/>
            </a:bodyPr>
            <a:lstStyle/>
            <a:p>
              <a:r>
                <a:rPr lang="en-GB" altLang="zh-CN" sz="1728" dirty="0"/>
                <a:t>Other </a:t>
              </a:r>
              <a:r>
                <a:rPr lang="en-US" sz="1728" dirty="0"/>
                <a:t>coordinator</a:t>
              </a:r>
              <a:r>
                <a:rPr lang="en-GB" altLang="zh-CN" sz="1728" dirty="0"/>
                <a:t> use cases</a:t>
              </a:r>
              <a:endParaRPr lang="zh-CN" altLang="en-US" sz="1382" dirty="0"/>
            </a:p>
          </p:txBody>
        </p:sp>
        <p:sp>
          <p:nvSpPr>
            <p:cNvPr id="31" name="Rectangle 31">
              <a:extLst>
                <a:ext uri="{FF2B5EF4-FFF2-40B4-BE49-F238E27FC236}">
                  <a16:creationId xmlns:a16="http://schemas.microsoft.com/office/drawing/2014/main" id="{28C63C10-CE80-43E1-BF63-6362BD860243}"/>
                </a:ext>
              </a:extLst>
            </p:cNvPr>
            <p:cNvSpPr/>
            <p:nvPr/>
          </p:nvSpPr>
          <p:spPr>
            <a:xfrm>
              <a:off x="4443166" y="2123372"/>
              <a:ext cx="2434154" cy="414635"/>
            </a:xfrm>
            <a:prstGeom prst="rect">
              <a:avLst/>
            </a:prstGeom>
          </p:spPr>
          <p:style>
            <a:lnRef idx="1">
              <a:schemeClr val="accent5"/>
            </a:lnRef>
            <a:fillRef idx="2">
              <a:schemeClr val="accent5"/>
            </a:fillRef>
            <a:effectRef idx="1">
              <a:schemeClr val="accent5"/>
            </a:effectRef>
            <a:fontRef idx="minor">
              <a:schemeClr val="dk1"/>
            </a:fontRef>
          </p:style>
          <p:txBody>
            <a:bodyPr wrap="square" anchor="ctr">
              <a:spAutoFit/>
            </a:bodyPr>
            <a:lstStyle/>
            <a:p>
              <a:r>
                <a:rPr lang="en-GB" altLang="zh-CN" sz="1728" dirty="0"/>
                <a:t>Search students’ info</a:t>
              </a:r>
              <a:endParaRPr lang="zh-CN" altLang="en-US" sz="1382" dirty="0"/>
            </a:p>
          </p:txBody>
        </p:sp>
        <p:sp>
          <p:nvSpPr>
            <p:cNvPr id="33" name="Rectangle 31">
              <a:extLst>
                <a:ext uri="{FF2B5EF4-FFF2-40B4-BE49-F238E27FC236}">
                  <a16:creationId xmlns:a16="http://schemas.microsoft.com/office/drawing/2014/main" id="{F83E6447-ABBB-45F2-9E19-D4C0769C2D11}"/>
                </a:ext>
              </a:extLst>
            </p:cNvPr>
            <p:cNvSpPr/>
            <p:nvPr/>
          </p:nvSpPr>
          <p:spPr>
            <a:xfrm>
              <a:off x="4443166" y="2663257"/>
              <a:ext cx="2434154" cy="414635"/>
            </a:xfrm>
            <a:prstGeom prst="rect">
              <a:avLst/>
            </a:prstGeom>
          </p:spPr>
          <p:style>
            <a:lnRef idx="1">
              <a:schemeClr val="accent5"/>
            </a:lnRef>
            <a:fillRef idx="2">
              <a:schemeClr val="accent5"/>
            </a:fillRef>
            <a:effectRef idx="1">
              <a:schemeClr val="accent5"/>
            </a:effectRef>
            <a:fontRef idx="minor">
              <a:schemeClr val="dk1"/>
            </a:fontRef>
          </p:style>
          <p:txBody>
            <a:bodyPr wrap="square" anchor="ctr">
              <a:spAutoFit/>
            </a:bodyPr>
            <a:lstStyle/>
            <a:p>
              <a:r>
                <a:rPr lang="en-GB" altLang="zh-CN" sz="1728" dirty="0"/>
                <a:t>Search mentors’ info</a:t>
              </a:r>
              <a:endParaRPr lang="zh-CN" altLang="en-US" sz="1382" dirty="0"/>
            </a:p>
          </p:txBody>
        </p:sp>
      </p:grpSp>
      <p:sp>
        <p:nvSpPr>
          <p:cNvPr id="14" name="Rectangle 48">
            <a:extLst>
              <a:ext uri="{FF2B5EF4-FFF2-40B4-BE49-F238E27FC236}">
                <a16:creationId xmlns:a16="http://schemas.microsoft.com/office/drawing/2014/main" id="{C0135E45-E152-AA08-245D-9CCC6CF9358B}"/>
              </a:ext>
            </a:extLst>
          </p:cNvPr>
          <p:cNvSpPr/>
          <p:nvPr/>
        </p:nvSpPr>
        <p:spPr>
          <a:xfrm>
            <a:off x="8744951" y="3120262"/>
            <a:ext cx="3160491" cy="280078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55"/>
          </a:p>
        </p:txBody>
      </p:sp>
      <p:sp>
        <p:nvSpPr>
          <p:cNvPr id="15" name="Rectangle 59">
            <a:extLst>
              <a:ext uri="{FF2B5EF4-FFF2-40B4-BE49-F238E27FC236}">
                <a16:creationId xmlns:a16="http://schemas.microsoft.com/office/drawing/2014/main" id="{F9027C78-4B8A-E36C-4E75-9FD5FA34653B}"/>
              </a:ext>
            </a:extLst>
          </p:cNvPr>
          <p:cNvSpPr/>
          <p:nvPr/>
        </p:nvSpPr>
        <p:spPr>
          <a:xfrm>
            <a:off x="10388558" y="4904166"/>
            <a:ext cx="835189" cy="358240"/>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GB" altLang="zh-CN" sz="1728" dirty="0"/>
              <a:t>Edit</a:t>
            </a:r>
            <a:endParaRPr lang="zh-CN" altLang="en-US" sz="1382" dirty="0"/>
          </a:p>
        </p:txBody>
      </p:sp>
      <p:sp>
        <p:nvSpPr>
          <p:cNvPr id="16" name="Rectangle 59">
            <a:extLst>
              <a:ext uri="{FF2B5EF4-FFF2-40B4-BE49-F238E27FC236}">
                <a16:creationId xmlns:a16="http://schemas.microsoft.com/office/drawing/2014/main" id="{33ED1276-D0DC-2972-F69F-354746697CAB}"/>
              </a:ext>
            </a:extLst>
          </p:cNvPr>
          <p:cNvSpPr/>
          <p:nvPr/>
        </p:nvSpPr>
        <p:spPr>
          <a:xfrm>
            <a:off x="9337764" y="5474184"/>
            <a:ext cx="835189" cy="358240"/>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GB" altLang="zh-CN" sz="1728" dirty="0"/>
              <a:t>Save</a:t>
            </a:r>
            <a:endParaRPr lang="zh-CN" altLang="en-US" sz="1210" dirty="0"/>
          </a:p>
        </p:txBody>
      </p:sp>
      <p:sp>
        <p:nvSpPr>
          <p:cNvPr id="17" name="Rectangle 59">
            <a:extLst>
              <a:ext uri="{FF2B5EF4-FFF2-40B4-BE49-F238E27FC236}">
                <a16:creationId xmlns:a16="http://schemas.microsoft.com/office/drawing/2014/main" id="{D8A783C6-F6A7-C1DB-AB52-0DD9C49543AE}"/>
              </a:ext>
            </a:extLst>
          </p:cNvPr>
          <p:cNvSpPr/>
          <p:nvPr/>
        </p:nvSpPr>
        <p:spPr>
          <a:xfrm>
            <a:off x="9326914" y="4890346"/>
            <a:ext cx="835189" cy="358240"/>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GB" altLang="zh-CN" sz="1728" dirty="0"/>
              <a:t>Back</a:t>
            </a:r>
            <a:endParaRPr lang="zh-CN" altLang="en-US" sz="1382" dirty="0"/>
          </a:p>
        </p:txBody>
      </p:sp>
      <p:sp>
        <p:nvSpPr>
          <p:cNvPr id="18" name="Rectangle 59">
            <a:extLst>
              <a:ext uri="{FF2B5EF4-FFF2-40B4-BE49-F238E27FC236}">
                <a16:creationId xmlns:a16="http://schemas.microsoft.com/office/drawing/2014/main" id="{32E725C1-2ABA-D6B2-A4A0-648F56B03A98}"/>
              </a:ext>
            </a:extLst>
          </p:cNvPr>
          <p:cNvSpPr/>
          <p:nvPr/>
        </p:nvSpPr>
        <p:spPr>
          <a:xfrm>
            <a:off x="10420820" y="5436877"/>
            <a:ext cx="835189" cy="358240"/>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GB" altLang="zh-CN" sz="1728" dirty="0"/>
              <a:t>Cancel</a:t>
            </a:r>
            <a:endParaRPr lang="zh-CN" altLang="en-US" sz="1210" dirty="0"/>
          </a:p>
        </p:txBody>
      </p:sp>
      <p:sp>
        <p:nvSpPr>
          <p:cNvPr id="21" name="Rectangle 53">
            <a:extLst>
              <a:ext uri="{FF2B5EF4-FFF2-40B4-BE49-F238E27FC236}">
                <a16:creationId xmlns:a16="http://schemas.microsoft.com/office/drawing/2014/main" id="{B9162CD6-57B5-6222-7996-59BBF0707414}"/>
              </a:ext>
            </a:extLst>
          </p:cNvPr>
          <p:cNvSpPr/>
          <p:nvPr/>
        </p:nvSpPr>
        <p:spPr>
          <a:xfrm>
            <a:off x="8869819" y="3326404"/>
            <a:ext cx="2822360" cy="29478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tLang="zh-CN" sz="1728" dirty="0">
                <a:solidFill>
                  <a:schemeClr val="accent5"/>
                </a:solidFill>
              </a:rPr>
              <a:t>display other info here</a:t>
            </a:r>
            <a:endParaRPr lang="zh-CN" altLang="en-US" sz="1728" dirty="0">
              <a:solidFill>
                <a:schemeClr val="accent5"/>
              </a:solidFill>
            </a:endParaRPr>
          </a:p>
        </p:txBody>
      </p:sp>
      <p:sp>
        <p:nvSpPr>
          <p:cNvPr id="22" name="Rectangle 53">
            <a:extLst>
              <a:ext uri="{FF2B5EF4-FFF2-40B4-BE49-F238E27FC236}">
                <a16:creationId xmlns:a16="http://schemas.microsoft.com/office/drawing/2014/main" id="{51B8D89B-0462-4974-54AC-4DE1EEB55651}"/>
              </a:ext>
            </a:extLst>
          </p:cNvPr>
          <p:cNvSpPr/>
          <p:nvPr/>
        </p:nvSpPr>
        <p:spPr>
          <a:xfrm>
            <a:off x="8869818" y="3836920"/>
            <a:ext cx="2822360" cy="8411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tLang="zh-CN" sz="1728" dirty="0">
                <a:solidFill>
                  <a:schemeClr val="accent5"/>
                </a:solidFill>
              </a:rPr>
              <a:t>display records here, if exists</a:t>
            </a:r>
            <a:endParaRPr lang="zh-CN" altLang="en-US" sz="1728" dirty="0">
              <a:solidFill>
                <a:schemeClr val="accent5"/>
              </a:solidFill>
            </a:endParaRPr>
          </a:p>
        </p:txBody>
      </p:sp>
    </p:spTree>
    <p:extLst>
      <p:ext uri="{BB962C8B-B14F-4D97-AF65-F5344CB8AC3E}">
        <p14:creationId xmlns:p14="http://schemas.microsoft.com/office/powerpoint/2010/main" val="34020089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0DEC3-72A1-B9DE-BD94-4EA08388548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8CC89AE-4BA2-0F88-7B76-F4624DAC3CF9}"/>
              </a:ext>
            </a:extLst>
          </p:cNvPr>
          <p:cNvSpPr>
            <a:spLocks noGrp="1"/>
          </p:cNvSpPr>
          <p:nvPr>
            <p:ph type="title"/>
          </p:nvPr>
        </p:nvSpPr>
        <p:spPr/>
        <p:txBody>
          <a:bodyPr>
            <a:normAutofit/>
          </a:bodyPr>
          <a:lstStyle/>
          <a:p>
            <a:r>
              <a:rPr lang="en-US" altLang="zh-CN" dirty="0"/>
              <a:t>UI (continue)</a:t>
            </a:r>
            <a:endParaRPr lang="zh-CN" altLang="en-US" dirty="0"/>
          </a:p>
        </p:txBody>
      </p:sp>
      <p:sp>
        <p:nvSpPr>
          <p:cNvPr id="29" name="Rectangle 7">
            <a:extLst>
              <a:ext uri="{FF2B5EF4-FFF2-40B4-BE49-F238E27FC236}">
                <a16:creationId xmlns:a16="http://schemas.microsoft.com/office/drawing/2014/main" id="{FABB3707-575B-47E2-BFA1-CC1B346A3AFA}"/>
              </a:ext>
            </a:extLst>
          </p:cNvPr>
          <p:cNvSpPr>
            <a:spLocks noChangeArrowheads="1"/>
          </p:cNvSpPr>
          <p:nvPr>
            <p:custDataLst>
              <p:tags r:id="rId1"/>
            </p:custDataLst>
          </p:nvPr>
        </p:nvSpPr>
        <p:spPr bwMode="auto">
          <a:xfrm>
            <a:off x="4863141" y="3015707"/>
            <a:ext cx="294616" cy="320950"/>
          </a:xfrm>
          <a:prstGeom prst="rect">
            <a:avLst/>
          </a:prstGeom>
          <a:solidFill>
            <a:srgbClr val="C00000"/>
          </a:solidFill>
          <a:ln w="25400">
            <a:solidFill>
              <a:srgbClr val="385D8A"/>
            </a:solidFill>
            <a:miter lim="800000"/>
          </a:ln>
        </p:spPr>
        <p:txBody>
          <a:bodyPr anchor="ctr"/>
          <a:lstStyle>
            <a:lvl1pPr>
              <a:spcBef>
                <a:spcPct val="20000"/>
              </a:spcBef>
              <a:buFont typeface="Arial" panose="020B060402020209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90204" pitchFamily="34" charset="0"/>
              <a:buNone/>
            </a:pPr>
            <a:endParaRPr lang="en-US" altLang="zh-CN" sz="1555" dirty="0">
              <a:solidFill>
                <a:srgbClr val="FFFFFF"/>
              </a:solidFill>
              <a:ea typeface="宋体" pitchFamily="2" charset="-122"/>
            </a:endParaRPr>
          </a:p>
        </p:txBody>
      </p:sp>
      <p:grpSp>
        <p:nvGrpSpPr>
          <p:cNvPr id="3" name="Group 2">
            <a:extLst>
              <a:ext uri="{FF2B5EF4-FFF2-40B4-BE49-F238E27FC236}">
                <a16:creationId xmlns:a16="http://schemas.microsoft.com/office/drawing/2014/main" id="{69CF79A0-6545-4C1E-A163-2A050D873C0F}"/>
              </a:ext>
            </a:extLst>
          </p:cNvPr>
          <p:cNvGrpSpPr/>
          <p:nvPr/>
        </p:nvGrpSpPr>
        <p:grpSpPr>
          <a:xfrm>
            <a:off x="2016327" y="2203390"/>
            <a:ext cx="7715386" cy="4189436"/>
            <a:chOff x="2333742" y="2550202"/>
            <a:chExt cx="8929956" cy="4848945"/>
          </a:xfrm>
        </p:grpSpPr>
        <p:sp>
          <p:nvSpPr>
            <p:cNvPr id="8" name="Rectangle 48">
              <a:extLst>
                <a:ext uri="{FF2B5EF4-FFF2-40B4-BE49-F238E27FC236}">
                  <a16:creationId xmlns:a16="http://schemas.microsoft.com/office/drawing/2014/main" id="{222B4B76-09C1-ACAB-77BD-FBDFAEE4AE1A}"/>
                </a:ext>
              </a:extLst>
            </p:cNvPr>
            <p:cNvSpPr/>
            <p:nvPr/>
          </p:nvSpPr>
          <p:spPr>
            <a:xfrm>
              <a:off x="2333742" y="2550202"/>
              <a:ext cx="8929956" cy="41656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55"/>
            </a:p>
          </p:txBody>
        </p:sp>
        <p:sp>
          <p:nvSpPr>
            <p:cNvPr id="9" name="Rectangle 53">
              <a:extLst>
                <a:ext uri="{FF2B5EF4-FFF2-40B4-BE49-F238E27FC236}">
                  <a16:creationId xmlns:a16="http://schemas.microsoft.com/office/drawing/2014/main" id="{1A81E6F9-000F-6CFC-C9F8-5FF4353E2C1C}"/>
                </a:ext>
              </a:extLst>
            </p:cNvPr>
            <p:cNvSpPr/>
            <p:nvPr/>
          </p:nvSpPr>
          <p:spPr>
            <a:xfrm>
              <a:off x="4545938" y="2605228"/>
              <a:ext cx="1458734" cy="34119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55" dirty="0"/>
            </a:p>
          </p:txBody>
        </p:sp>
        <p:sp>
          <p:nvSpPr>
            <p:cNvPr id="10" name="Rectangle 55">
              <a:extLst>
                <a:ext uri="{FF2B5EF4-FFF2-40B4-BE49-F238E27FC236}">
                  <a16:creationId xmlns:a16="http://schemas.microsoft.com/office/drawing/2014/main" id="{1B01C389-F2E1-131D-7632-B88240D68D06}"/>
                </a:ext>
              </a:extLst>
            </p:cNvPr>
            <p:cNvSpPr/>
            <p:nvPr/>
          </p:nvSpPr>
          <p:spPr>
            <a:xfrm>
              <a:off x="2408682" y="2581552"/>
              <a:ext cx="2143685" cy="476306"/>
            </a:xfrm>
            <a:prstGeom prst="rect">
              <a:avLst/>
            </a:prstGeom>
          </p:spPr>
          <p:txBody>
            <a:bodyPr wrap="square">
              <a:spAutoFit/>
            </a:bodyPr>
            <a:lstStyle/>
            <a:p>
              <a:r>
                <a:rPr lang="en-GB" altLang="zh-CN" sz="2074" dirty="0"/>
                <a:t>mentor name: </a:t>
              </a:r>
              <a:endParaRPr lang="zh-CN" altLang="en-US" sz="2074" dirty="0"/>
            </a:p>
          </p:txBody>
        </p:sp>
        <p:sp>
          <p:nvSpPr>
            <p:cNvPr id="11" name="Rectangle 56">
              <a:extLst>
                <a:ext uri="{FF2B5EF4-FFF2-40B4-BE49-F238E27FC236}">
                  <a16:creationId xmlns:a16="http://schemas.microsoft.com/office/drawing/2014/main" id="{E8322170-5934-BFAA-7094-425695EA7A81}"/>
                </a:ext>
              </a:extLst>
            </p:cNvPr>
            <p:cNvSpPr/>
            <p:nvPr/>
          </p:nvSpPr>
          <p:spPr>
            <a:xfrm>
              <a:off x="8536700" y="3340727"/>
              <a:ext cx="1310554" cy="476306"/>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GB" altLang="zh-CN" sz="2074" dirty="0"/>
                <a:t>Search</a:t>
              </a:r>
              <a:endParaRPr lang="zh-CN" altLang="en-US" sz="1555" dirty="0"/>
            </a:p>
          </p:txBody>
        </p:sp>
        <p:sp>
          <p:nvSpPr>
            <p:cNvPr id="12" name="Rectangle 59">
              <a:extLst>
                <a:ext uri="{FF2B5EF4-FFF2-40B4-BE49-F238E27FC236}">
                  <a16:creationId xmlns:a16="http://schemas.microsoft.com/office/drawing/2014/main" id="{6F2E4ACE-F588-EA30-2353-63085CA391DA}"/>
                </a:ext>
              </a:extLst>
            </p:cNvPr>
            <p:cNvSpPr/>
            <p:nvPr/>
          </p:nvSpPr>
          <p:spPr>
            <a:xfrm>
              <a:off x="10057610" y="3340727"/>
              <a:ext cx="966666" cy="476306"/>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GB" altLang="zh-CN" sz="2074" dirty="0"/>
                <a:t>Back</a:t>
              </a:r>
              <a:endParaRPr lang="zh-CN" altLang="en-US" sz="1555" dirty="0"/>
            </a:p>
          </p:txBody>
        </p:sp>
        <p:sp>
          <p:nvSpPr>
            <p:cNvPr id="13" name="TextBox 5">
              <a:extLst>
                <a:ext uri="{FF2B5EF4-FFF2-40B4-BE49-F238E27FC236}">
                  <a16:creationId xmlns:a16="http://schemas.microsoft.com/office/drawing/2014/main" id="{345A64A6-FECB-7E18-BDBD-7BD207ECFB94}"/>
                </a:ext>
              </a:extLst>
            </p:cNvPr>
            <p:cNvSpPr txBox="1"/>
            <p:nvPr/>
          </p:nvSpPr>
          <p:spPr>
            <a:xfrm>
              <a:off x="2333742" y="6922841"/>
              <a:ext cx="8929956" cy="476306"/>
            </a:xfrm>
            <a:prstGeom prst="rect">
              <a:avLst/>
            </a:prstGeom>
            <a:noFill/>
          </p:spPr>
          <p:txBody>
            <a:bodyPr wrap="square" rtlCol="0">
              <a:spAutoFit/>
            </a:bodyPr>
            <a:lstStyle/>
            <a:p>
              <a:pPr algn="ctr"/>
              <a:r>
                <a:rPr lang="en-US" altLang="zh-CN" sz="2074" dirty="0"/>
                <a:t>2C. Search mentors’ info Page</a:t>
              </a:r>
              <a:endParaRPr lang="zh-CN" altLang="en-US" sz="2074" dirty="0"/>
            </a:p>
          </p:txBody>
        </p:sp>
        <p:sp>
          <p:nvSpPr>
            <p:cNvPr id="22" name="Rectangle 53">
              <a:extLst>
                <a:ext uri="{FF2B5EF4-FFF2-40B4-BE49-F238E27FC236}">
                  <a16:creationId xmlns:a16="http://schemas.microsoft.com/office/drawing/2014/main" id="{447E1710-31FF-F324-9E6C-D3D11D84CC07}"/>
                </a:ext>
              </a:extLst>
            </p:cNvPr>
            <p:cNvSpPr/>
            <p:nvPr/>
          </p:nvSpPr>
          <p:spPr>
            <a:xfrm>
              <a:off x="2561263" y="4175309"/>
              <a:ext cx="8474913" cy="97359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74" dirty="0">
                  <a:solidFill>
                    <a:schemeClr val="accent5"/>
                  </a:solidFill>
                </a:rPr>
                <a:t>display group member list here, if any</a:t>
              </a:r>
              <a:endParaRPr lang="zh-CN" altLang="en-US" sz="2074" dirty="0">
                <a:solidFill>
                  <a:schemeClr val="accent5"/>
                </a:solidFill>
              </a:endParaRPr>
            </a:p>
          </p:txBody>
        </p:sp>
        <p:sp>
          <p:nvSpPr>
            <p:cNvPr id="20" name="Rectangle 53">
              <a:extLst>
                <a:ext uri="{FF2B5EF4-FFF2-40B4-BE49-F238E27FC236}">
                  <a16:creationId xmlns:a16="http://schemas.microsoft.com/office/drawing/2014/main" id="{BF9DF500-EF10-0AB6-CBE4-884FC33897B6}"/>
                </a:ext>
              </a:extLst>
            </p:cNvPr>
            <p:cNvSpPr/>
            <p:nvPr/>
          </p:nvSpPr>
          <p:spPr>
            <a:xfrm>
              <a:off x="2561263" y="5442437"/>
              <a:ext cx="8474913" cy="97359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74" dirty="0">
                  <a:solidFill>
                    <a:schemeClr val="accent5"/>
                  </a:solidFill>
                </a:rPr>
                <a:t>display students' record here, if any</a:t>
              </a:r>
              <a:endParaRPr lang="zh-CN" altLang="en-US" sz="2074" dirty="0">
                <a:solidFill>
                  <a:schemeClr val="accent5"/>
                </a:solidFill>
              </a:endParaRPr>
            </a:p>
          </p:txBody>
        </p:sp>
        <p:sp>
          <p:nvSpPr>
            <p:cNvPr id="23" name="Rectangle 53">
              <a:extLst>
                <a:ext uri="{FF2B5EF4-FFF2-40B4-BE49-F238E27FC236}">
                  <a16:creationId xmlns:a16="http://schemas.microsoft.com/office/drawing/2014/main" id="{ED637791-A506-2475-105B-E8329E4A51F0}"/>
                </a:ext>
              </a:extLst>
            </p:cNvPr>
            <p:cNvSpPr/>
            <p:nvPr/>
          </p:nvSpPr>
          <p:spPr>
            <a:xfrm>
              <a:off x="4522257" y="3017532"/>
              <a:ext cx="1458734" cy="34119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55" dirty="0"/>
            </a:p>
          </p:txBody>
        </p:sp>
        <p:sp>
          <p:nvSpPr>
            <p:cNvPr id="24" name="Rectangle 55">
              <a:extLst>
                <a:ext uri="{FF2B5EF4-FFF2-40B4-BE49-F238E27FC236}">
                  <a16:creationId xmlns:a16="http://schemas.microsoft.com/office/drawing/2014/main" id="{4DD11E94-CC82-50A1-33FB-0FAA5A7D06B8}"/>
                </a:ext>
              </a:extLst>
            </p:cNvPr>
            <p:cNvSpPr/>
            <p:nvPr/>
          </p:nvSpPr>
          <p:spPr>
            <a:xfrm>
              <a:off x="2408680" y="3026340"/>
              <a:ext cx="2041005" cy="476306"/>
            </a:xfrm>
            <a:prstGeom prst="rect">
              <a:avLst/>
            </a:prstGeom>
          </p:spPr>
          <p:txBody>
            <a:bodyPr wrap="square">
              <a:spAutoFit/>
            </a:bodyPr>
            <a:lstStyle/>
            <a:p>
              <a:r>
                <a:rPr lang="en-GB" altLang="zh-CN" sz="2074" dirty="0"/>
                <a:t>mentor email: </a:t>
              </a:r>
              <a:endParaRPr lang="zh-CN" altLang="en-US" sz="2074" dirty="0"/>
            </a:p>
          </p:txBody>
        </p:sp>
        <p:sp>
          <p:nvSpPr>
            <p:cNvPr id="25" name="Rectangle 53">
              <a:extLst>
                <a:ext uri="{FF2B5EF4-FFF2-40B4-BE49-F238E27FC236}">
                  <a16:creationId xmlns:a16="http://schemas.microsoft.com/office/drawing/2014/main" id="{199E8996-A86C-FD29-E490-22560D794527}"/>
                </a:ext>
              </a:extLst>
            </p:cNvPr>
            <p:cNvSpPr/>
            <p:nvPr/>
          </p:nvSpPr>
          <p:spPr>
            <a:xfrm>
              <a:off x="4115856" y="3483461"/>
              <a:ext cx="1458734" cy="398317"/>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55" dirty="0">
                  <a:solidFill>
                    <a:schemeClr val="bg1"/>
                  </a:solidFill>
                </a:rPr>
                <a:t>Group ID List</a:t>
              </a:r>
              <a:endParaRPr lang="zh-CN" altLang="en-US" sz="1555" dirty="0">
                <a:solidFill>
                  <a:schemeClr val="bg1"/>
                </a:solidFill>
              </a:endParaRPr>
            </a:p>
          </p:txBody>
        </p:sp>
        <p:sp>
          <p:nvSpPr>
            <p:cNvPr id="26" name="Rectangle 55">
              <a:extLst>
                <a:ext uri="{FF2B5EF4-FFF2-40B4-BE49-F238E27FC236}">
                  <a16:creationId xmlns:a16="http://schemas.microsoft.com/office/drawing/2014/main" id="{E1D76AD2-FBB6-261C-0CC6-2FBE02969E2B}"/>
                </a:ext>
              </a:extLst>
            </p:cNvPr>
            <p:cNvSpPr/>
            <p:nvPr/>
          </p:nvSpPr>
          <p:spPr>
            <a:xfrm>
              <a:off x="2436089" y="3459785"/>
              <a:ext cx="1717833" cy="476306"/>
            </a:xfrm>
            <a:prstGeom prst="rect">
              <a:avLst/>
            </a:prstGeom>
          </p:spPr>
          <p:txBody>
            <a:bodyPr wrap="square">
              <a:spAutoFit/>
            </a:bodyPr>
            <a:lstStyle/>
            <a:p>
              <a:r>
                <a:rPr lang="en-GB" altLang="zh-CN" sz="2074" dirty="0"/>
                <a:t>group id: </a:t>
              </a:r>
              <a:endParaRPr lang="zh-CN" altLang="en-US" sz="2074" dirty="0"/>
            </a:p>
          </p:txBody>
        </p:sp>
        <p:sp>
          <p:nvSpPr>
            <p:cNvPr id="27" name="Rectangle 56">
              <a:extLst>
                <a:ext uri="{FF2B5EF4-FFF2-40B4-BE49-F238E27FC236}">
                  <a16:creationId xmlns:a16="http://schemas.microsoft.com/office/drawing/2014/main" id="{A0668BC0-84B7-4DFD-AE74-713A8F760010}"/>
                </a:ext>
              </a:extLst>
            </p:cNvPr>
            <p:cNvSpPr/>
            <p:nvPr/>
          </p:nvSpPr>
          <p:spPr>
            <a:xfrm>
              <a:off x="8691902" y="2761756"/>
              <a:ext cx="2143685" cy="476306"/>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altLang="zh-CN" sz="2074" dirty="0"/>
                <a:t>Show members</a:t>
              </a:r>
              <a:endParaRPr lang="zh-CN" altLang="en-US" sz="1555" dirty="0"/>
            </a:p>
          </p:txBody>
        </p:sp>
        <p:sp>
          <p:nvSpPr>
            <p:cNvPr id="30" name="Flowchart: Merge 29">
              <a:extLst>
                <a:ext uri="{FF2B5EF4-FFF2-40B4-BE49-F238E27FC236}">
                  <a16:creationId xmlns:a16="http://schemas.microsoft.com/office/drawing/2014/main" id="{0F226024-81B0-4037-B046-F776FEE0B4A8}"/>
                </a:ext>
              </a:extLst>
            </p:cNvPr>
            <p:cNvSpPr/>
            <p:nvPr/>
          </p:nvSpPr>
          <p:spPr>
            <a:xfrm>
              <a:off x="5666806" y="3546910"/>
              <a:ext cx="248285" cy="267335"/>
            </a:xfrm>
            <a:prstGeom prst="flowChartMerg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sz="1555" dirty="0"/>
            </a:p>
          </p:txBody>
        </p:sp>
      </p:grpSp>
    </p:spTree>
    <p:extLst>
      <p:ext uri="{BB962C8B-B14F-4D97-AF65-F5344CB8AC3E}">
        <p14:creationId xmlns:p14="http://schemas.microsoft.com/office/powerpoint/2010/main" val="34943331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6549"/>
            <a:ext cx="10515600" cy="736877"/>
          </a:xfrm>
        </p:spPr>
        <p:txBody>
          <a:bodyPr/>
          <a:lstStyle/>
          <a:p>
            <a:r>
              <a:rPr lang="en-US" dirty="0"/>
              <a:t>Task4: New tasks this week</a:t>
            </a:r>
          </a:p>
        </p:txBody>
      </p:sp>
      <p:sp>
        <p:nvSpPr>
          <p:cNvPr id="3" name="Content Placeholder 2"/>
          <p:cNvSpPr>
            <a:spLocks noGrp="1"/>
          </p:cNvSpPr>
          <p:nvPr>
            <p:ph idx="1"/>
          </p:nvPr>
        </p:nvSpPr>
        <p:spPr>
          <a:xfrm>
            <a:off x="838200" y="1222408"/>
            <a:ext cx="10515600" cy="5072514"/>
          </a:xfrm>
        </p:spPr>
        <p:txBody>
          <a:bodyPr>
            <a:normAutofit lnSpcReduction="10000"/>
          </a:bodyPr>
          <a:lstStyle/>
          <a:p>
            <a:pPr marL="514350" indent="-514350">
              <a:lnSpc>
                <a:spcPct val="134000"/>
              </a:lnSpc>
              <a:spcBef>
                <a:spcPts val="600"/>
              </a:spcBef>
              <a:buFont typeface="+mj-lt"/>
              <a:buAutoNum type="arabicPeriod"/>
            </a:pPr>
            <a:r>
              <a:rPr lang="en-US" altLang="zh-CN" dirty="0"/>
              <a:t>Students update the SRS according to the feedback.</a:t>
            </a:r>
          </a:p>
          <a:p>
            <a:pPr marL="514350" indent="-514350">
              <a:lnSpc>
                <a:spcPct val="134000"/>
              </a:lnSpc>
              <a:spcBef>
                <a:spcPts val="600"/>
              </a:spcBef>
              <a:buFont typeface="+mj-lt"/>
              <a:buAutoNum type="arabicPeriod"/>
            </a:pPr>
            <a:r>
              <a:rPr lang="en-US" altLang="zh-CN" dirty="0"/>
              <a:t>Create the </a:t>
            </a:r>
            <a:r>
              <a:rPr lang="en-US" altLang="zh-CN" dirty="0">
                <a:solidFill>
                  <a:srgbClr val="0070C0"/>
                </a:solidFill>
              </a:rPr>
              <a:t>state transition</a:t>
            </a:r>
            <a:r>
              <a:rPr lang="en-US" altLang="zh-CN" dirty="0"/>
              <a:t>, and </a:t>
            </a:r>
            <a:r>
              <a:rPr lang="en-US" altLang="zh-CN" dirty="0">
                <a:solidFill>
                  <a:srgbClr val="0070C0"/>
                </a:solidFill>
              </a:rPr>
              <a:t>UI diagrams </a:t>
            </a:r>
            <a:r>
              <a:rPr lang="en-US" altLang="zh-CN" dirty="0"/>
              <a:t>for </a:t>
            </a:r>
            <a:r>
              <a:rPr lang="en-US" altLang="zh-CN" dirty="0">
                <a:solidFill>
                  <a:srgbClr val="FF0000"/>
                </a:solidFill>
              </a:rPr>
              <a:t>all use cases</a:t>
            </a:r>
            <a:r>
              <a:rPr lang="en-US" altLang="zh-CN" dirty="0"/>
              <a:t>.</a:t>
            </a:r>
          </a:p>
          <a:p>
            <a:pPr lvl="1">
              <a:lnSpc>
                <a:spcPct val="134000"/>
              </a:lnSpc>
              <a:spcBef>
                <a:spcPts val="600"/>
              </a:spcBef>
            </a:pPr>
            <a:r>
              <a:rPr lang="en-US" altLang="zh-CN" dirty="0"/>
              <a:t>You should change the numbering for the transition diagrams; section 3.1 is for Login, section 3.2 for Search Student Info, etc.</a:t>
            </a:r>
          </a:p>
          <a:p>
            <a:pPr lvl="1">
              <a:lnSpc>
                <a:spcPct val="134000"/>
              </a:lnSpc>
              <a:spcBef>
                <a:spcPts val="600"/>
              </a:spcBef>
            </a:pPr>
            <a:r>
              <a:rPr lang="en-US" altLang="zh-CN" dirty="0"/>
              <a:t>List the important (goal-oriented) use cases first, then the support and maintenance use cases later.</a:t>
            </a:r>
          </a:p>
          <a:p>
            <a:pPr lvl="1">
              <a:lnSpc>
                <a:spcPct val="134000"/>
              </a:lnSpc>
              <a:spcBef>
                <a:spcPts val="600"/>
              </a:spcBef>
            </a:pPr>
            <a:r>
              <a:rPr lang="en-US" altLang="zh-CN" dirty="0"/>
              <a:t>For better readability, put related use cases into the same transition diagram.</a:t>
            </a:r>
          </a:p>
          <a:p>
            <a:pPr marL="514350" indent="-514350">
              <a:lnSpc>
                <a:spcPct val="134000"/>
              </a:lnSpc>
              <a:spcBef>
                <a:spcPts val="600"/>
              </a:spcBef>
              <a:buFont typeface="+mj-lt"/>
              <a:buAutoNum type="arabicPeriod"/>
            </a:pPr>
            <a:r>
              <a:rPr lang="en-US" dirty="0"/>
              <a:t>Create the basic </a:t>
            </a:r>
            <a:r>
              <a:rPr lang="en-US" dirty="0">
                <a:solidFill>
                  <a:srgbClr val="0070C0"/>
                </a:solidFill>
              </a:rPr>
              <a:t>scenarios</a:t>
            </a:r>
            <a:r>
              <a:rPr lang="en-US" dirty="0"/>
              <a:t> for </a:t>
            </a:r>
            <a:r>
              <a:rPr lang="en-US" dirty="0">
                <a:solidFill>
                  <a:srgbClr val="FF0000"/>
                </a:solidFill>
              </a:rPr>
              <a:t>all important use cases</a:t>
            </a:r>
            <a:r>
              <a:rPr lang="en-US" dirty="0"/>
              <a:t>.</a:t>
            </a:r>
          </a:p>
          <a:p>
            <a:pPr lvl="1">
              <a:lnSpc>
                <a:spcPct val="134000"/>
              </a:lnSpc>
              <a:spcBef>
                <a:spcPts val="600"/>
              </a:spcBef>
            </a:pPr>
            <a:r>
              <a:rPr lang="en-US" dirty="0"/>
              <a:t>That helps you to figure out the transition diagram. </a:t>
            </a:r>
          </a:p>
          <a:p>
            <a:pPr marL="457200" lvl="1" indent="0">
              <a:buNone/>
            </a:pPr>
            <a:endParaRPr lang="en-US" dirty="0"/>
          </a:p>
        </p:txBody>
      </p:sp>
    </p:spTree>
    <p:extLst>
      <p:ext uri="{BB962C8B-B14F-4D97-AF65-F5344CB8AC3E}">
        <p14:creationId xmlns:p14="http://schemas.microsoft.com/office/powerpoint/2010/main" val="29239090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6549"/>
            <a:ext cx="10515600" cy="920751"/>
          </a:xfrm>
        </p:spPr>
        <p:txBody>
          <a:bodyPr/>
          <a:lstStyle/>
          <a:p>
            <a:r>
              <a:rPr lang="en-US" dirty="0"/>
              <a:t>Submission</a:t>
            </a:r>
          </a:p>
        </p:txBody>
      </p:sp>
      <p:sp>
        <p:nvSpPr>
          <p:cNvPr id="3" name="Content Placeholder 2"/>
          <p:cNvSpPr>
            <a:spLocks noGrp="1"/>
          </p:cNvSpPr>
          <p:nvPr>
            <p:ph idx="1"/>
          </p:nvPr>
        </p:nvSpPr>
        <p:spPr>
          <a:xfrm>
            <a:off x="838200" y="1400175"/>
            <a:ext cx="10515600" cy="4776788"/>
          </a:xfrm>
        </p:spPr>
        <p:txBody>
          <a:bodyPr>
            <a:normAutofit/>
          </a:bodyPr>
          <a:lstStyle/>
          <a:p>
            <a:pPr>
              <a:lnSpc>
                <a:spcPct val="120000"/>
              </a:lnSpc>
              <a:spcBef>
                <a:spcPct val="0"/>
              </a:spcBef>
            </a:pPr>
            <a:r>
              <a:rPr lang="en-US" altLang="zh-CN" sz="3000" dirty="0">
                <a:ea typeface="宋体" panose="02010600030101010101" pitchFamily="2" charset="-122"/>
              </a:rPr>
              <a:t>Each group (company) submits the partial SRS and UI file (</a:t>
            </a:r>
            <a:r>
              <a:rPr lang="en-US" altLang="zh-CN" sz="3000" dirty="0">
                <a:solidFill>
                  <a:srgbClr val="FF0000"/>
                </a:solidFill>
                <a:ea typeface="宋体" panose="02010600030101010101" pitchFamily="2" charset="-122"/>
              </a:rPr>
              <a:t>two documents,</a:t>
            </a:r>
            <a:r>
              <a:rPr lang="en-US" altLang="zh-CN" sz="3000" dirty="0">
                <a:solidFill>
                  <a:srgbClr val="C00000"/>
                </a:solidFill>
                <a:ea typeface="宋体" panose="02010600030101010101" pitchFamily="2" charset="-122"/>
              </a:rPr>
              <a:t> </a:t>
            </a:r>
            <a:r>
              <a:rPr lang="en-US" altLang="zh-CN" sz="3000" dirty="0">
                <a:solidFill>
                  <a:srgbClr val="FF0000"/>
                </a:solidFill>
                <a:ea typeface="宋体" panose="02010600030101010101" pitchFamily="2" charset="-122"/>
              </a:rPr>
              <a:t>ONE</a:t>
            </a:r>
            <a:r>
              <a:rPr lang="en-US" altLang="zh-CN" sz="3000" dirty="0">
                <a:ea typeface="宋体" panose="02010600030101010101" pitchFamily="2" charset="-122"/>
              </a:rPr>
              <a:t> </a:t>
            </a:r>
            <a:r>
              <a:rPr lang="en-US" altLang="zh-CN" sz="3000" dirty="0">
                <a:solidFill>
                  <a:srgbClr val="FF0000"/>
                </a:solidFill>
                <a:ea typeface="宋体" panose="02010600030101010101" pitchFamily="2" charset="-122"/>
              </a:rPr>
              <a:t>copy</a:t>
            </a:r>
            <a:r>
              <a:rPr lang="en-US" altLang="zh-CN" sz="3000" dirty="0">
                <a:ea typeface="宋体" panose="02010600030101010101" pitchFamily="2" charset="-122"/>
              </a:rPr>
              <a:t>) into iSpace and GitHub .</a:t>
            </a:r>
          </a:p>
          <a:p>
            <a:pPr lvl="1">
              <a:lnSpc>
                <a:spcPct val="120000"/>
              </a:lnSpc>
              <a:spcBef>
                <a:spcPct val="0"/>
              </a:spcBef>
            </a:pPr>
            <a:r>
              <a:rPr lang="en-US" dirty="0">
                <a:solidFill>
                  <a:srgbClr val="FF0000"/>
                </a:solidFill>
              </a:rPr>
              <a:t>Deadline: noon, Saturday 28 March 2026.</a:t>
            </a:r>
          </a:p>
          <a:p>
            <a:pPr lvl="1">
              <a:lnSpc>
                <a:spcPct val="120000"/>
              </a:lnSpc>
              <a:spcBef>
                <a:spcPct val="0"/>
              </a:spcBef>
            </a:pPr>
            <a:r>
              <a:rPr lang="en-US" dirty="0"/>
              <a:t>Don’t submit too close to the deadline!</a:t>
            </a:r>
          </a:p>
          <a:p>
            <a:pPr lvl="1"/>
            <a:r>
              <a:rPr lang="en-US" dirty="0"/>
              <a:t>On the cover of the SRS next to the student names, leaders (with the support of most of the team) indicate how much each member contributed: Full, Fair, Little or None.</a:t>
            </a:r>
          </a:p>
          <a:p>
            <a:pPr marL="0" indent="0">
              <a:buNone/>
            </a:pPr>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p:txBody>
      </p:sp>
    </p:spTree>
    <p:extLst>
      <p:ext uri="{BB962C8B-B14F-4D97-AF65-F5344CB8AC3E}">
        <p14:creationId xmlns:p14="http://schemas.microsoft.com/office/powerpoint/2010/main" val="124107183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1701</TotalTime>
  <Words>1545</Words>
  <Application>Microsoft Macintosh PowerPoint</Application>
  <PresentationFormat>宽屏</PresentationFormat>
  <Paragraphs>175</Paragraphs>
  <Slides>17</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17</vt:i4>
      </vt:variant>
    </vt:vector>
  </HeadingPairs>
  <TitlesOfParts>
    <vt:vector size="23" baseType="lpstr">
      <vt:lpstr>SimSun</vt:lpstr>
      <vt:lpstr>SimSun</vt:lpstr>
      <vt:lpstr>Arial</vt:lpstr>
      <vt:lpstr>Calibri</vt:lpstr>
      <vt:lpstr>Calibri Light</vt:lpstr>
      <vt:lpstr>Office Theme</vt:lpstr>
      <vt:lpstr> Lab 5 Tasks</vt:lpstr>
      <vt:lpstr>Main Tasks</vt:lpstr>
      <vt:lpstr>Task1: Feedback from Last Week</vt:lpstr>
      <vt:lpstr>Task1: Feedback from Last Week</vt:lpstr>
      <vt:lpstr>Task1: Feedback from Last Week</vt:lpstr>
      <vt:lpstr>Task1: Feedback from Last Week</vt:lpstr>
      <vt:lpstr>Task1: Feedback from Last Week</vt:lpstr>
      <vt:lpstr>Task1: Feedback from Last Week</vt:lpstr>
      <vt:lpstr>Task1: Feedback from Last Week</vt:lpstr>
      <vt:lpstr>Task1: Feedback from Last Week</vt:lpstr>
      <vt:lpstr>Task2: Solution to last week’s tasks</vt:lpstr>
      <vt:lpstr>Transition Diagram: Search Students’ Info + Edit Interview Record</vt:lpstr>
      <vt:lpstr>Transition Diagram: Search Mentors’ Info</vt:lpstr>
      <vt:lpstr>UI </vt:lpstr>
      <vt:lpstr>UI (continue)</vt:lpstr>
      <vt:lpstr>Task4: New tasks this week</vt:lpstr>
      <vt:lpstr>Submission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3 Week 3</dc:title>
  <dc:creator>TEST</dc:creator>
  <cp:lastModifiedBy>Tosaka YANG</cp:lastModifiedBy>
  <cp:revision>199</cp:revision>
  <cp:lastPrinted>2022-03-18T03:13:27Z</cp:lastPrinted>
  <dcterms:created xsi:type="dcterms:W3CDTF">2022-03-01T07:50:56Z</dcterms:created>
  <dcterms:modified xsi:type="dcterms:W3CDTF">2026-03-26T03:07:25Z</dcterms:modified>
</cp:coreProperties>
</file>