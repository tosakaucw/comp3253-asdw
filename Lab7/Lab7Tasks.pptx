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4120" r:id="rId3"/>
  </p:sldMasterIdLst>
  <p:notesMasterIdLst>
    <p:notesMasterId r:id="rId19"/>
  </p:notesMasterIdLst>
  <p:sldIdLst>
    <p:sldId id="425" r:id="rId4"/>
    <p:sldId id="398" r:id="rId5"/>
    <p:sldId id="434" r:id="rId6"/>
    <p:sldId id="449" r:id="rId7"/>
    <p:sldId id="451" r:id="rId8"/>
    <p:sldId id="450" r:id="rId9"/>
    <p:sldId id="418" r:id="rId10"/>
    <p:sldId id="452" r:id="rId11"/>
    <p:sldId id="453" r:id="rId12"/>
    <p:sldId id="420" r:id="rId13"/>
    <p:sldId id="429" r:id="rId14"/>
    <p:sldId id="430" r:id="rId15"/>
    <p:sldId id="399" r:id="rId16"/>
    <p:sldId id="439" r:id="rId17"/>
    <p:sldId id="440" r:id="rId1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n Fe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1C3C"/>
    <a:srgbClr val="FF3300"/>
    <a:srgbClr val="067AFA"/>
    <a:srgbClr val="A5CFFD"/>
    <a:srgbClr val="09C709"/>
    <a:srgbClr val="4A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87" autoAdjust="0"/>
    <p:restoredTop sz="94270" autoAdjust="0"/>
  </p:normalViewPr>
  <p:slideViewPr>
    <p:cSldViewPr>
      <p:cViewPr varScale="1">
        <p:scale>
          <a:sx n="108" d="100"/>
          <a:sy n="108" d="100"/>
        </p:scale>
        <p:origin x="88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737A495-3CC2-4D7E-B5BE-2B2C15A330D1}" type="datetimeFigureOut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10244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panose="020B0604020202020204" pitchFamily="34" charset="0"/>
              <a:buNone/>
              <a:defRPr sz="1300">
                <a:latin typeface="Calibri" panose="020F0502020204030204" pitchFamily="34" charset="0"/>
              </a:defRPr>
            </a:lvl1pPr>
          </a:lstStyle>
          <a:p>
            <a:fld id="{9EBD3F9D-0335-49DF-A84F-12D88468DA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4928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56BA3B-B8FB-4BB8-9D9D-F7C51220B51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024397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4414A7-25B4-448E-B95C-101554796CA6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106230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4414A7-25B4-448E-B95C-101554796CA6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188385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48DAF2-2EC3-4028-B405-AFE6695D9DC0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639325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3BF8CF-E775-4536-82EA-0A2BB5F0B718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626162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3BF8CF-E775-4536-82EA-0A2BB5F0B718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80529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B81E0-C5DA-4036-A088-ED52F146BEAB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7074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38A2D-FCFB-4822-BCA4-7502644641CB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04585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D7AF1-98EA-4A09-9B43-2471578D0DEC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82919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7A5FD-89C6-41A8-ABE6-48F2648CB39C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2817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0F305-6A68-426D-9C30-6D00CDAB640B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8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8232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58652-274F-4055-A06A-D9553AD32783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32489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09B76-BABB-4AC7-9279-ACB5AB95E1F9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3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7771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7FDC0-1A57-4966-AC4C-2FEF28757F42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309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D8C3A-3660-4CA7-BF85-689A75AA8688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56868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AD37C-C0E7-44FC-B7D5-E91425AD82F5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296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6CBD33-7776-49B1-9508-99E38795DC5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165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A85BD-C684-4423-9F8E-F2FD6BD5553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94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5CA2F-A977-4F68-85B4-C612C8C9953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3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99A8A8-BB63-4E10-A7FF-026CD61CCE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3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A7CA9-C633-435F-9CE1-267F79E69A3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651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C6E65-80C4-4115-B6A4-06839A77409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970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F8818D-D9B4-461B-BDF8-B100BAC61D4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431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F452A3-4483-47B8-8FC1-38EE75498EF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59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1F6AF6-49A3-451E-8B1B-07170DD6E9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32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EF2A0-F101-466F-ADD9-F2CFD315862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34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19718D-C64F-4497-BCDC-26D7F1476A8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7605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9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8" indent="0" algn="ctr">
              <a:buNone/>
              <a:defRPr sz="1500"/>
            </a:lvl2pPr>
            <a:lvl3pPr marL="685796" indent="0" algn="ctr">
              <a:buNone/>
              <a:defRPr sz="1350"/>
            </a:lvl3pPr>
            <a:lvl4pPr marL="1028694" indent="0" algn="ctr">
              <a:buNone/>
              <a:defRPr sz="1200"/>
            </a:lvl4pPr>
            <a:lvl5pPr marL="1371591" indent="0" algn="ctr">
              <a:buNone/>
              <a:defRPr sz="1200"/>
            </a:lvl5pPr>
            <a:lvl6pPr marL="1714489" indent="0" algn="ctr">
              <a:buNone/>
              <a:defRPr sz="1200"/>
            </a:lvl6pPr>
            <a:lvl7pPr marL="2057387" indent="0" algn="ctr">
              <a:buNone/>
              <a:defRPr sz="1200"/>
            </a:lvl7pPr>
            <a:lvl8pPr marL="2400285" indent="0" algn="ctr">
              <a:buNone/>
              <a:defRPr sz="1200"/>
            </a:lvl8pPr>
            <a:lvl9pPr marL="2743182" indent="0" algn="ctr">
              <a:buNone/>
              <a:defRPr sz="12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21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205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9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8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8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8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65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6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6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2585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8" indent="0">
              <a:buNone/>
              <a:defRPr sz="1500" b="1"/>
            </a:lvl2pPr>
            <a:lvl3pPr marL="685796" indent="0">
              <a:buNone/>
              <a:defRPr sz="1350" b="1"/>
            </a:lvl3pPr>
            <a:lvl4pPr marL="1028694" indent="0">
              <a:buNone/>
              <a:defRPr sz="1200" b="1"/>
            </a:lvl4pPr>
            <a:lvl5pPr marL="1371591" indent="0">
              <a:buNone/>
              <a:defRPr sz="1200" b="1"/>
            </a:lvl5pPr>
            <a:lvl6pPr marL="1714489" indent="0">
              <a:buNone/>
              <a:defRPr sz="1200" b="1"/>
            </a:lvl6pPr>
            <a:lvl7pPr marL="2057387" indent="0">
              <a:buNone/>
              <a:defRPr sz="1200" b="1"/>
            </a:lvl7pPr>
            <a:lvl8pPr marL="2400285" indent="0">
              <a:buNone/>
              <a:defRPr sz="1200" b="1"/>
            </a:lvl8pPr>
            <a:lvl9pPr marL="2743182" indent="0">
              <a:buNone/>
              <a:defRPr sz="12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6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8" indent="0">
              <a:buNone/>
              <a:defRPr sz="1500" b="1"/>
            </a:lvl2pPr>
            <a:lvl3pPr marL="685796" indent="0">
              <a:buNone/>
              <a:defRPr sz="1350" b="1"/>
            </a:lvl3pPr>
            <a:lvl4pPr marL="1028694" indent="0">
              <a:buNone/>
              <a:defRPr sz="1200" b="1"/>
            </a:lvl4pPr>
            <a:lvl5pPr marL="1371591" indent="0">
              <a:buNone/>
              <a:defRPr sz="1200" b="1"/>
            </a:lvl5pPr>
            <a:lvl6pPr marL="1714489" indent="0">
              <a:buNone/>
              <a:defRPr sz="1200" b="1"/>
            </a:lvl6pPr>
            <a:lvl7pPr marL="2057387" indent="0">
              <a:buNone/>
              <a:defRPr sz="1200" b="1"/>
            </a:lvl7pPr>
            <a:lvl8pPr marL="2400285" indent="0">
              <a:buNone/>
              <a:defRPr sz="1200" b="1"/>
            </a:lvl8pPr>
            <a:lvl9pPr marL="2743182" indent="0">
              <a:buNone/>
              <a:defRPr sz="12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6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878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2312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1502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1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8" indent="0">
              <a:buNone/>
              <a:defRPr sz="1050"/>
            </a:lvl2pPr>
            <a:lvl3pPr marL="685796" indent="0">
              <a:buNone/>
              <a:defRPr sz="900"/>
            </a:lvl3pPr>
            <a:lvl4pPr marL="1028694" indent="0">
              <a:buNone/>
              <a:defRPr sz="750"/>
            </a:lvl4pPr>
            <a:lvl5pPr marL="1371591" indent="0">
              <a:buNone/>
              <a:defRPr sz="750"/>
            </a:lvl5pPr>
            <a:lvl6pPr marL="1714489" indent="0">
              <a:buNone/>
              <a:defRPr sz="750"/>
            </a:lvl6pPr>
            <a:lvl7pPr marL="2057387" indent="0">
              <a:buNone/>
              <a:defRPr sz="750"/>
            </a:lvl7pPr>
            <a:lvl8pPr marL="2400285" indent="0">
              <a:buNone/>
              <a:defRPr sz="750"/>
            </a:lvl8pPr>
            <a:lvl9pPr marL="2743182" indent="0">
              <a:buNone/>
              <a:defRPr sz="75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81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1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8" indent="0">
              <a:buNone/>
              <a:defRPr sz="2100"/>
            </a:lvl2pPr>
            <a:lvl3pPr marL="685796" indent="0">
              <a:buNone/>
              <a:defRPr sz="1800"/>
            </a:lvl3pPr>
            <a:lvl4pPr marL="1028694" indent="0">
              <a:buNone/>
              <a:defRPr sz="1500"/>
            </a:lvl4pPr>
            <a:lvl5pPr marL="1371591" indent="0">
              <a:buNone/>
              <a:defRPr sz="1500"/>
            </a:lvl5pPr>
            <a:lvl6pPr marL="1714489" indent="0">
              <a:buNone/>
              <a:defRPr sz="1500"/>
            </a:lvl6pPr>
            <a:lvl7pPr marL="2057387" indent="0">
              <a:buNone/>
              <a:defRPr sz="1500"/>
            </a:lvl7pPr>
            <a:lvl8pPr marL="2400285" indent="0">
              <a:buNone/>
              <a:defRPr sz="1500"/>
            </a:lvl8pPr>
            <a:lvl9pPr marL="2743182" indent="0">
              <a:buNone/>
              <a:defRPr sz="15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8" indent="0">
              <a:buNone/>
              <a:defRPr sz="1050"/>
            </a:lvl2pPr>
            <a:lvl3pPr marL="685796" indent="0">
              <a:buNone/>
              <a:defRPr sz="900"/>
            </a:lvl3pPr>
            <a:lvl4pPr marL="1028694" indent="0">
              <a:buNone/>
              <a:defRPr sz="750"/>
            </a:lvl4pPr>
            <a:lvl5pPr marL="1371591" indent="0">
              <a:buNone/>
              <a:defRPr sz="750"/>
            </a:lvl5pPr>
            <a:lvl6pPr marL="1714489" indent="0">
              <a:buNone/>
              <a:defRPr sz="750"/>
            </a:lvl6pPr>
            <a:lvl7pPr marL="2057387" indent="0">
              <a:buNone/>
              <a:defRPr sz="750"/>
            </a:lvl7pPr>
            <a:lvl8pPr marL="2400285" indent="0">
              <a:buNone/>
              <a:defRPr sz="750"/>
            </a:lvl8pPr>
            <a:lvl9pPr marL="2743182" indent="0">
              <a:buNone/>
              <a:defRPr sz="75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401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486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05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Slides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solidFill>
                  <a:srgbClr val="898989"/>
                </a:solidFill>
                <a:latin typeface="Calibri" pitchFamily="34" charset="0"/>
                <a:ea typeface="宋体" charset="-122"/>
                <a:cs typeface="Arial" charset="0"/>
              </a:defRPr>
            </a:lvl1pPr>
          </a:lstStyle>
          <a:p>
            <a:pPr>
              <a:defRPr/>
            </a:pPr>
            <a:fld id="{748379AE-440F-4761-B994-54352EFF2E3B}" type="datetime1">
              <a:rPr lang="en-US" altLang="zh-CN"/>
              <a:pPr>
                <a:defRPr/>
              </a:pPr>
              <a:t>4/15/2026</a:t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2484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099" r:id="rId8"/>
    <p:sldLayoutId id="2147484100" r:id="rId9"/>
    <p:sldLayoutId id="214748410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744A336-3302-411B-91B1-5356FAB95B0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05" r:id="rId4"/>
    <p:sldLayoutId id="2147484106" r:id="rId5"/>
    <p:sldLayoutId id="2147484107" r:id="rId6"/>
    <p:sldLayoutId id="2147484108" r:id="rId7"/>
    <p:sldLayoutId id="2147484109" r:id="rId8"/>
    <p:sldLayoutId id="2147484110" r:id="rId9"/>
    <p:sldLayoutId id="2147484111" r:id="rId10"/>
    <p:sldLayoutId id="214748411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62BB0-1030-4CC0-9A75-2BC0B8E8271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433ED-42E1-4C0B-8EBC-4536D7EBF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79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122" r:id="rId2"/>
    <p:sldLayoutId id="2147484123" r:id="rId3"/>
    <p:sldLayoutId id="2147484124" r:id="rId4"/>
    <p:sldLayoutId id="2147484125" r:id="rId5"/>
    <p:sldLayoutId id="2147484126" r:id="rId6"/>
    <p:sldLayoutId id="2147484127" r:id="rId7"/>
    <p:sldLayoutId id="2147484128" r:id="rId8"/>
    <p:sldLayoutId id="2147484129" r:id="rId9"/>
    <p:sldLayoutId id="2147484130" r:id="rId10"/>
    <p:sldLayoutId id="2147484131" r:id="rId11"/>
  </p:sldLayoutIdLst>
  <p:txStyles>
    <p:titleStyle>
      <a:lvl1pPr algn="l" defTabSz="68579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9" indent="-171449" algn="l" defTabSz="6857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47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44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42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40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8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36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34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31" indent="-171449" algn="l" defTabSz="68579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8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6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4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1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9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87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85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82" algn="l" defTabSz="68579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00248"/>
            <a:ext cx="6858000" cy="1889474"/>
          </a:xfrm>
        </p:spPr>
        <p:txBody>
          <a:bodyPr/>
          <a:lstStyle/>
          <a:p>
            <a:r>
              <a:rPr lang="en-US" dirty="0"/>
              <a:t>Lab 7 Tasks</a:t>
            </a:r>
            <a:br>
              <a:rPr lang="en-US" dirty="0"/>
            </a:br>
            <a:r>
              <a:rPr lang="en-US" dirty="0"/>
              <a:t>Architectural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Workshop</a:t>
            </a:r>
          </a:p>
          <a:p>
            <a:r>
              <a:rPr lang="en-US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60418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Tasks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1488" y="1525588"/>
            <a:ext cx="8229600" cy="3274976"/>
          </a:xfrm>
        </p:spPr>
        <p:txBody>
          <a:bodyPr/>
          <a:lstStyle/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zh-CN" sz="2400" dirty="0">
                <a:ea typeface="宋体" panose="02010600030101010101" pitchFamily="2" charset="-122"/>
              </a:rPr>
              <a:t>Teacher 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Gives feedback on the class and sequence diagrams,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Gives an updated long project description,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Gives a solution for the class diagram,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Explains the architecture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design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template.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zh-CN" sz="2400" dirty="0">
                <a:ea typeface="宋体" panose="02010600030101010101" pitchFamily="2" charset="-122"/>
              </a:rPr>
              <a:t>Students 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Update the class and sequence diagrams,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Prepare the architecture design document.</a:t>
            </a:r>
          </a:p>
        </p:txBody>
      </p:sp>
      <p:sp>
        <p:nvSpPr>
          <p:cNvPr id="13316" name="Date Placeholder 3"/>
          <p:cNvSpPr txBox="1">
            <a:spLocks noGrp="1" noChangeArrowheads="1"/>
          </p:cNvSpPr>
          <p:nvPr/>
        </p:nvSpPr>
        <p:spPr bwMode="auto">
          <a:xfrm>
            <a:off x="471488" y="63309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2F2E3C02-0B1B-42DF-8189-712BBED5D7D3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4/15/2026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7C78F0C8-59D6-4840-BEBA-C3583FDACCFA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FE89-70C3-AA21-8D7D-87E66C0C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847457-BE1D-07F7-D1F0-21FD33E25941}"/>
              </a:ext>
            </a:extLst>
          </p:cNvPr>
          <p:cNvSpPr txBox="1"/>
          <p:nvPr/>
        </p:nvSpPr>
        <p:spPr>
          <a:xfrm>
            <a:off x="784894" y="1371654"/>
            <a:ext cx="767320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Completeness: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Most groups did well, but the following were missing in some groups.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Missing classes: Faculty, Department and Major.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Missing associations: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Each faculty has some faculty consultants,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Each department has a coordinator,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Each major has several MCP groups.</a:t>
            </a:r>
            <a:endParaRPr lang="en-US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5C14842-94BD-E74F-E721-F2D25A4465D5}"/>
              </a:ext>
            </a:extLst>
          </p:cNvPr>
          <p:cNvSpPr txBox="1">
            <a:spLocks/>
          </p:cNvSpPr>
          <p:nvPr/>
        </p:nvSpPr>
        <p:spPr>
          <a:xfrm>
            <a:off x="457308" y="457278"/>
            <a:ext cx="8229600" cy="68578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Task 1A:</a:t>
            </a:r>
            <a:r>
              <a:rPr lang="zh-CN" altLang="en-US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Class Diagram Feedback</a:t>
            </a:r>
            <a:endParaRPr lang="zh-CN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3506706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FE89-70C3-AA21-8D7D-87E66C0C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847457-BE1D-07F7-D1F0-21FD33E25941}"/>
              </a:ext>
            </a:extLst>
          </p:cNvPr>
          <p:cNvSpPr txBox="1"/>
          <p:nvPr/>
        </p:nvSpPr>
        <p:spPr>
          <a:xfrm>
            <a:off x="784894" y="1371654"/>
            <a:ext cx="7825599" cy="378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Consistency</a:t>
            </a:r>
            <a:r>
              <a:rPr lang="en-US" sz="2400" dirty="0">
                <a:latin typeface="+mn-lt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Operation in a class should operate on the attributes in this class, not the operation as a user. 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E.g., </a:t>
            </a:r>
            <a:r>
              <a:rPr lang="en-US" altLang="zh-CN" sz="2400" kern="100" dirty="0" err="1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setFacultyConsultants</a:t>
            </a: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kern="100" dirty="0" err="1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setSupportingStaff</a:t>
            </a: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  are not operations of the Admin class.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That would violate the OO rule “tell the other guy”.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See next page, a slide from Lecture 6</a:t>
            </a:r>
            <a:endParaRPr lang="zh-CN" altLang="zh-CN" sz="2400" kern="100" dirty="0"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5C14842-94BD-E74F-E721-F2D25A4465D5}"/>
              </a:ext>
            </a:extLst>
          </p:cNvPr>
          <p:cNvSpPr txBox="1">
            <a:spLocks/>
          </p:cNvSpPr>
          <p:nvPr/>
        </p:nvSpPr>
        <p:spPr>
          <a:xfrm>
            <a:off x="457308" y="457278"/>
            <a:ext cx="8229600" cy="68578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Task 1A:</a:t>
            </a:r>
            <a:r>
              <a:rPr lang="zh-CN" altLang="en-US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Class Diagram Feedback</a:t>
            </a:r>
            <a:endParaRPr lang="zh-CN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405733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5098" y="926855"/>
            <a:ext cx="6172123" cy="857240"/>
          </a:xfrm>
        </p:spPr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  <a:ea typeface="SimSun" panose="02010600030101010101" pitchFamily="2" charset="-122"/>
              </a:rPr>
              <a:t>Operations in a Class </a:t>
            </a:r>
          </a:p>
        </p:txBody>
      </p:sp>
      <p:sp>
        <p:nvSpPr>
          <p:cNvPr id="14" name="Content Placeholder 2"/>
          <p:cNvSpPr>
            <a:spLocks noChangeArrowheads="1"/>
          </p:cNvSpPr>
          <p:nvPr/>
        </p:nvSpPr>
        <p:spPr bwMode="auto">
          <a:xfrm>
            <a:off x="1361473" y="1638465"/>
            <a:ext cx="6467951" cy="424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2199" indent="-222199" defTabSz="296266" eaLnBrk="1" fontAlgn="auto" hangingPunct="1">
              <a:spcAft>
                <a:spcPts val="0"/>
              </a:spcAft>
            </a:pPr>
            <a:r>
              <a:rPr lang="en-US" altLang="zh-CN" sz="1800" dirty="0">
                <a:solidFill>
                  <a:srgbClr val="FF0000"/>
                </a:solidFill>
                <a:ea typeface="等线" panose="02010600030101010101" pitchFamily="2" charset="-122"/>
                <a:cs typeface="+mn-cs"/>
              </a:rPr>
              <a:t>Operations in a class </a:t>
            </a:r>
            <a:r>
              <a:rPr lang="en-US" altLang="zh-CN" sz="1800" dirty="0">
                <a:solidFill>
                  <a:prstClr val="black"/>
                </a:solidFill>
                <a:ea typeface="等线" panose="02010600030101010101" pitchFamily="2" charset="-122"/>
                <a:cs typeface="+mn-cs"/>
              </a:rPr>
              <a:t>must be the operation </a:t>
            </a:r>
            <a:r>
              <a:rPr lang="en-US" altLang="zh-CN" sz="1800" dirty="0">
                <a:solidFill>
                  <a:srgbClr val="FF0000"/>
                </a:solidFill>
                <a:ea typeface="等线" panose="02010600030101010101" pitchFamily="2" charset="-122"/>
                <a:cs typeface="+mn-cs"/>
              </a:rPr>
              <a:t>working on the attributes of this class</a:t>
            </a:r>
            <a:r>
              <a:rPr lang="en-US" altLang="zh-CN" sz="1800" dirty="0">
                <a:solidFill>
                  <a:prstClr val="black"/>
                </a:solidFill>
                <a:ea typeface="等线" panose="02010600030101010101" pitchFamily="2" charset="-122"/>
                <a:cs typeface="+mn-cs"/>
              </a:rPr>
              <a:t>. </a:t>
            </a: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r>
              <a:rPr lang="en-US" altLang="zh-CN" sz="1800" dirty="0">
                <a:solidFill>
                  <a:prstClr val="black"/>
                </a:solidFill>
                <a:ea typeface="等线" panose="02010600030101010101" pitchFamily="2" charset="-122"/>
                <a:cs typeface="+mn-cs"/>
              </a:rPr>
              <a:t>Operation in a class is not an operation of object of this class to other class in the application usage.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48D9058-D012-4989-862C-B659D61FA35E}"/>
              </a:ext>
            </a:extLst>
          </p:cNvPr>
          <p:cNvGraphicFramePr>
            <a:graphicFrameLocks noGrp="1"/>
          </p:cNvGraphicFramePr>
          <p:nvPr/>
        </p:nvGraphicFramePr>
        <p:xfrm>
          <a:off x="2491486" y="3781102"/>
          <a:ext cx="894726" cy="646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726">
                  <a:extLst>
                    <a:ext uri="{9D8B030D-6E8A-4147-A177-3AD203B41FA5}">
                      <a16:colId xmlns:a16="http://schemas.microsoft.com/office/drawing/2014/main" val="145460758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zh-CN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2084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105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marL="0" marR="0" lvl="0" indent="0" algn="l" defTabSz="10583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0632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8D9058-D012-4989-862C-B659D61FA35E}"/>
              </a:ext>
            </a:extLst>
          </p:cNvPr>
          <p:cNvGraphicFramePr>
            <a:graphicFrameLocks noGrp="1"/>
          </p:cNvGraphicFramePr>
          <p:nvPr/>
        </p:nvGraphicFramePr>
        <p:xfrm>
          <a:off x="4681597" y="3771888"/>
          <a:ext cx="769675" cy="66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675">
                  <a:extLst>
                    <a:ext uri="{9D8B030D-6E8A-4147-A177-3AD203B41FA5}">
                      <a16:colId xmlns:a16="http://schemas.microsoft.com/office/drawing/2014/main" val="145460758"/>
                    </a:ext>
                  </a:extLst>
                </a:gridCol>
              </a:tblGrid>
              <a:tr h="1896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Line</a:t>
                      </a:r>
                      <a:endParaRPr lang="zh-CN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20841"/>
                  </a:ext>
                </a:extLst>
              </a:tr>
              <a:tr h="287766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Point1, point2</a:t>
                      </a: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1050"/>
                  </a:ext>
                </a:extLst>
              </a:tr>
              <a:tr h="189691">
                <a:tc>
                  <a:txBody>
                    <a:bodyPr/>
                    <a:lstStyle/>
                    <a:p>
                      <a:pPr marL="0" marR="0" lvl="0" indent="0" algn="l" defTabSz="10583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0632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48D9058-D012-4989-862C-B659D61FA35E}"/>
              </a:ext>
            </a:extLst>
          </p:cNvPr>
          <p:cNvGraphicFramePr>
            <a:graphicFrameLocks noGrp="1"/>
          </p:cNvGraphicFramePr>
          <p:nvPr/>
        </p:nvGraphicFramePr>
        <p:xfrm>
          <a:off x="2542061" y="2343192"/>
          <a:ext cx="844151" cy="646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151">
                  <a:extLst>
                    <a:ext uri="{9D8B030D-6E8A-4147-A177-3AD203B41FA5}">
                      <a16:colId xmlns:a16="http://schemas.microsoft.com/office/drawing/2014/main" val="145460758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zh-CN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2084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105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marL="0" marR="0" lvl="0" indent="0" algn="l" defTabSz="10583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0632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48D9058-D012-4989-862C-B659D61FA35E}"/>
              </a:ext>
            </a:extLst>
          </p:cNvPr>
          <p:cNvGraphicFramePr>
            <a:graphicFrameLocks noGrp="1"/>
          </p:cNvGraphicFramePr>
          <p:nvPr/>
        </p:nvGraphicFramePr>
        <p:xfrm>
          <a:off x="4679773" y="2343192"/>
          <a:ext cx="726168" cy="646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168">
                  <a:extLst>
                    <a:ext uri="{9D8B030D-6E8A-4147-A177-3AD203B41FA5}">
                      <a16:colId xmlns:a16="http://schemas.microsoft.com/office/drawing/2014/main" val="145460758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Document</a:t>
                      </a:r>
                      <a:endParaRPr lang="zh-CN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2084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105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marL="0" marR="0" lvl="0" indent="0" algn="l" defTabSz="10583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0632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943202" y="3043003"/>
            <a:ext cx="500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96266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If a user can edit the document, to which class Edit() belong to? User or Document?</a:t>
            </a:r>
            <a:endParaRPr lang="zh-CN" altLang="en-US" sz="15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19949" y="4446634"/>
            <a:ext cx="54824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96266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If a user can draw a line, to which class should Draw() belong to? User or Line?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1657464" y="3573910"/>
            <a:ext cx="58290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1361473" y="2705628"/>
            <a:ext cx="9076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96266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Example 1</a:t>
            </a:r>
            <a:endParaRPr lang="zh-CN" altLang="en-US" sz="135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14103" y="3904159"/>
            <a:ext cx="9076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96266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Example 2</a:t>
            </a:r>
            <a:endParaRPr lang="zh-CN" altLang="en-US" sz="135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325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3A33-F670-6A43-A2CB-EC681E42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9E6719-6B96-4080-0972-CD9F7FBCBAF8}"/>
              </a:ext>
            </a:extLst>
          </p:cNvPr>
          <p:cNvSpPr txBox="1"/>
          <p:nvPr/>
        </p:nvSpPr>
        <p:spPr>
          <a:xfrm>
            <a:off x="784895" y="1371654"/>
            <a:ext cx="75744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Redundancy:</a:t>
            </a:r>
          </a:p>
          <a:p>
            <a:pPr marL="800100"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When a user role does an operation on an object, it does not mean this role class has an association with the class of that object. </a:t>
            </a:r>
          </a:p>
          <a:p>
            <a:pPr marL="1257300" lvl="2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E.g., handle, setup, manage, edit, reply are not associations in most cases. </a:t>
            </a:r>
          </a:p>
          <a:p>
            <a:pPr marL="800100"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See next page, a slide from Lecture 6.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F21E488-8F88-773C-0C96-F51FED4758B1}"/>
              </a:ext>
            </a:extLst>
          </p:cNvPr>
          <p:cNvSpPr txBox="1">
            <a:spLocks/>
          </p:cNvSpPr>
          <p:nvPr/>
        </p:nvSpPr>
        <p:spPr>
          <a:xfrm>
            <a:off x="457308" y="457278"/>
            <a:ext cx="8229600" cy="68578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Task 1A:</a:t>
            </a:r>
            <a:r>
              <a:rPr lang="zh-CN" altLang="en-US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Class Diagram Feedback</a:t>
            </a:r>
            <a:endParaRPr lang="zh-CN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5552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5098" y="926855"/>
            <a:ext cx="6172123" cy="857240"/>
          </a:xfrm>
        </p:spPr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  <a:ea typeface="SimSun" panose="02010600030101010101" pitchFamily="2" charset="-122"/>
              </a:rPr>
              <a:t>Association between Classes </a:t>
            </a:r>
          </a:p>
        </p:txBody>
      </p:sp>
      <p:sp>
        <p:nvSpPr>
          <p:cNvPr id="14" name="Content Placeholder 2"/>
          <p:cNvSpPr>
            <a:spLocks noChangeArrowheads="1"/>
          </p:cNvSpPr>
          <p:nvPr/>
        </p:nvSpPr>
        <p:spPr bwMode="auto">
          <a:xfrm>
            <a:off x="1361473" y="1638465"/>
            <a:ext cx="6467951" cy="384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2199" indent="-222199" defTabSz="296266" eaLnBrk="1" fontAlgn="auto" hangingPunct="1">
              <a:spcAft>
                <a:spcPts val="0"/>
              </a:spcAft>
            </a:pPr>
            <a:r>
              <a:rPr lang="en-US" altLang="zh-CN" sz="1800" dirty="0">
                <a:solidFill>
                  <a:srgbClr val="FF0000"/>
                </a:solidFill>
                <a:ea typeface="等线" panose="02010600030101010101" pitchFamily="2" charset="-122"/>
                <a:cs typeface="+mn-cs"/>
              </a:rPr>
              <a:t>Association between classes </a:t>
            </a:r>
            <a:r>
              <a:rPr lang="en-US" altLang="zh-CN" sz="1800" dirty="0">
                <a:solidFill>
                  <a:prstClr val="black"/>
                </a:solidFill>
                <a:ea typeface="等线" panose="02010600030101010101" pitchFamily="2" charset="-122"/>
                <a:cs typeface="+mn-cs"/>
              </a:rPr>
              <a:t>is created because two </a:t>
            </a:r>
            <a:r>
              <a:rPr lang="en-US" altLang="zh-CN" sz="1800" dirty="0">
                <a:solidFill>
                  <a:srgbClr val="FF0000"/>
                </a:solidFill>
                <a:ea typeface="等线" panose="02010600030101010101" pitchFamily="2" charset="-122"/>
                <a:cs typeface="+mn-cs"/>
              </a:rPr>
              <a:t>participating classes </a:t>
            </a:r>
            <a:r>
              <a:rPr lang="en-US" altLang="zh-CN" sz="1800" dirty="0">
                <a:solidFill>
                  <a:prstClr val="black"/>
                </a:solidFill>
                <a:ea typeface="等线" panose="02010600030101010101" pitchFamily="2" charset="-122"/>
                <a:cs typeface="+mn-cs"/>
              </a:rPr>
              <a:t>have information dependency, not because the object represented by the class has some operation on another system</a:t>
            </a: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endParaRPr lang="en-US" altLang="zh-CN" sz="1800" dirty="0">
              <a:solidFill>
                <a:prstClr val="black"/>
              </a:solidFill>
              <a:ea typeface="等线" panose="02010600030101010101" pitchFamily="2" charset="-122"/>
              <a:cs typeface="+mn-cs"/>
            </a:endParaRPr>
          </a:p>
          <a:p>
            <a:pPr marL="222199" indent="-222199" defTabSz="296266" eaLnBrk="1" fontAlgn="auto" hangingPunct="1">
              <a:spcAft>
                <a:spcPts val="0"/>
              </a:spcAft>
            </a:pPr>
            <a:r>
              <a:rPr lang="en-US" altLang="zh-CN" sz="1800" dirty="0">
                <a:solidFill>
                  <a:prstClr val="black"/>
                </a:solidFill>
                <a:ea typeface="等线" panose="02010600030101010101" pitchFamily="2" charset="-122"/>
                <a:cs typeface="+mn-cs"/>
              </a:rPr>
              <a:t>Not every verb is an association. Only when two classes have some static (state) relationship, there is an association.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48D9058-D012-4989-862C-B659D61FA35E}"/>
              </a:ext>
            </a:extLst>
          </p:cNvPr>
          <p:cNvGraphicFramePr>
            <a:graphicFrameLocks noGrp="1"/>
          </p:cNvGraphicFramePr>
          <p:nvPr/>
        </p:nvGraphicFramePr>
        <p:xfrm>
          <a:off x="2736779" y="2668182"/>
          <a:ext cx="844151" cy="646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151">
                  <a:extLst>
                    <a:ext uri="{9D8B030D-6E8A-4147-A177-3AD203B41FA5}">
                      <a16:colId xmlns:a16="http://schemas.microsoft.com/office/drawing/2014/main" val="145460758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zh-CN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2084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105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marL="0" marR="0" lvl="0" indent="0" algn="l" defTabSz="10583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0632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48D9058-D012-4989-862C-B659D61FA35E}"/>
              </a:ext>
            </a:extLst>
          </p:cNvPr>
          <p:cNvGraphicFramePr>
            <a:graphicFrameLocks noGrp="1"/>
          </p:cNvGraphicFramePr>
          <p:nvPr/>
        </p:nvGraphicFramePr>
        <p:xfrm>
          <a:off x="4874492" y="2668182"/>
          <a:ext cx="726168" cy="646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168">
                  <a:extLst>
                    <a:ext uri="{9D8B030D-6E8A-4147-A177-3AD203B41FA5}">
                      <a16:colId xmlns:a16="http://schemas.microsoft.com/office/drawing/2014/main" val="145460758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Document</a:t>
                      </a:r>
                      <a:endParaRPr lang="zh-CN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2084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105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marL="0" marR="0" lvl="0" indent="0" algn="l" defTabSz="10583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</a:endParaRPr>
                    </a:p>
                  </a:txBody>
                  <a:tcPr marL="51434" marR="51434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06321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>
            <a:stCxn id="13" idx="3"/>
            <a:endCxn id="15" idx="1"/>
          </p:cNvCxnSpPr>
          <p:nvPr/>
        </p:nvCxnSpPr>
        <p:spPr>
          <a:xfrm>
            <a:off x="3580931" y="2991443"/>
            <a:ext cx="1293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93221" y="3409550"/>
            <a:ext cx="62509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96266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If a user can edit the document, is edit an association? </a:t>
            </a:r>
          </a:p>
          <a:p>
            <a:pPr marL="257173" indent="-257173" defTabSz="296266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If the edit work in the document needs to be tracked according to user’s information, then edit is an association</a:t>
            </a:r>
          </a:p>
          <a:p>
            <a:pPr marL="257173" indent="-257173" defTabSz="296266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If the edit work in the document will not record any user information, the association is not needed.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5218" y="2731759"/>
            <a:ext cx="53636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96266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+mn-cs"/>
              </a:rPr>
              <a:t>Edit?</a:t>
            </a:r>
            <a:endParaRPr lang="zh-CN" altLang="en-US" sz="135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361474" y="2514636"/>
            <a:ext cx="6482741" cy="23491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79" tIns="34290" rIns="68579" bIns="34290" numCol="1" rtlCol="0" anchor="t" anchorCtr="0" compatLnSpc="1">
            <a:prstTxWarp prst="textNoShape">
              <a:avLst/>
            </a:prstTxWarp>
          </a:bodyPr>
          <a:lstStyle/>
          <a:p>
            <a:pPr defTabSz="685796" eaLnBrk="1" hangingPunct="1"/>
            <a:endParaRPr lang="zh-CN" altLang="en-US" sz="135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83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C0EE-486C-9E02-9A64-15C3E4C4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ACD5D-ECA1-B9CE-8F95-0FE9F421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Task 1A: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Class Diagram Feedback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2C820C-405A-E755-4F19-56067563E4AB}"/>
              </a:ext>
            </a:extLst>
          </p:cNvPr>
          <p:cNvSpPr txBox="1"/>
          <p:nvPr/>
        </p:nvSpPr>
        <p:spPr>
          <a:xfrm>
            <a:off x="348219" y="1363415"/>
            <a:ext cx="57477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2199" indent="-222199" algn="just">
              <a:buFont typeface="Wingdings" panose="05000000000000000000" pitchFamily="2" charset="2"/>
              <a:buChar char="Ø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Notation</a:t>
            </a:r>
            <a:endParaRPr lang="en-US" altLang="zh-CN" sz="2000" kern="100" dirty="0"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8465" lvl="1" indent="-222199" algn="just"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Some crossing lines can be avoided,</a:t>
            </a:r>
            <a:endParaRPr lang="zh-CN" altLang="zh-CN" sz="2400" kern="100" dirty="0"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8465" lvl="1" indent="-222199" algn="just"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Fonts too small, too much line spacing,</a:t>
            </a:r>
            <a:endParaRPr lang="zh-CN" altLang="zh-CN" sz="2400" kern="100" dirty="0"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8465" lvl="1" indent="-222199" algn="just"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n-lt"/>
                <a:ea typeface="等线" panose="02010600030101010101" pitchFamily="2" charset="-122"/>
                <a:cs typeface="Times New Roman" panose="02020603050405020304" pitchFamily="18" charset="0"/>
              </a:rPr>
              <a:t>Inheritance symbol is a triangle, not an arrow.</a:t>
            </a:r>
            <a:endParaRPr lang="zh-CN" altLang="zh-CN" sz="2400" kern="100" dirty="0"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30" y="3598834"/>
            <a:ext cx="7369339" cy="2855481"/>
          </a:xfrm>
          <a:prstGeom prst="rect">
            <a:avLst/>
          </a:prstGeom>
        </p:spPr>
      </p:pic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7619920" y="1799653"/>
            <a:ext cx="0" cy="53338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752" y="2333039"/>
            <a:ext cx="2623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This arrow should not be used as inheritance symbol.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619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8D5E90-F0CB-FC8B-20F0-964CB384F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38268"/>
            <a:ext cx="8134240" cy="5181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Task 1B:</a:t>
            </a:r>
            <a:r>
              <a:rPr lang="zh-CN" altLang="en-US" sz="3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Update to the project long description</a:t>
            </a:r>
            <a:endParaRPr lang="en-US" sz="3200" dirty="0"/>
          </a:p>
          <a:p>
            <a:r>
              <a:rPr lang="en-US" sz="2800" dirty="0"/>
              <a:t>Version 1.2 is now in iSpace.</a:t>
            </a:r>
          </a:p>
          <a:p>
            <a:pPr lvl="1"/>
            <a:r>
              <a:rPr lang="en-US" sz="2500" dirty="0"/>
              <a:t>The changes are highlighted in the </a:t>
            </a:r>
            <a:r>
              <a:rPr lang="en-US" sz="2500"/>
              <a:t>updated version.</a:t>
            </a:r>
          </a:p>
          <a:p>
            <a:pPr lvl="1"/>
            <a:r>
              <a:rPr lang="en-US" sz="2500" dirty="0"/>
              <a:t>One small change section 2.1.</a:t>
            </a:r>
          </a:p>
          <a:p>
            <a:pPr lvl="1"/>
            <a:r>
              <a:rPr lang="en-US" sz="2500" dirty="0"/>
              <a:t>One small change in Appendix B.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Task 1C:</a:t>
            </a:r>
            <a:r>
              <a:rPr lang="zh-CN" altLang="en-US" sz="3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a Solution to Class Diagram</a:t>
            </a:r>
            <a:endParaRPr lang="en-US" sz="3200" dirty="0"/>
          </a:p>
          <a:p>
            <a:r>
              <a:rPr lang="en-US" sz="2800" dirty="0"/>
              <a:t>Please use the class diagram in the next slide in all future labs.</a:t>
            </a:r>
          </a:p>
          <a:p>
            <a:pPr lvl="1"/>
            <a:r>
              <a:rPr lang="en-US" sz="2500" dirty="0"/>
              <a:t>Other solutions are possible, but for constancy in grading, we want all teams to use the same class diagram.</a:t>
            </a:r>
          </a:p>
        </p:txBody>
      </p:sp>
    </p:spTree>
    <p:extLst>
      <p:ext uri="{BB962C8B-B14F-4D97-AF65-F5344CB8AC3E}">
        <p14:creationId xmlns:p14="http://schemas.microsoft.com/office/powerpoint/2010/main" val="301680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4494-61E1-CC0F-DA65-43FA0109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2C792-2695-56AD-F5EB-FC35E547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82"/>
            <a:ext cx="1515209" cy="994160"/>
          </a:xfrm>
        </p:spPr>
        <p:txBody>
          <a:bodyPr>
            <a:normAutofit/>
          </a:bodyPr>
          <a:lstStyle/>
          <a:p>
            <a:r>
              <a:rPr lang="en-US" altLang="zh-CN" sz="2074" dirty="0"/>
              <a:t>Sample Solution</a:t>
            </a:r>
            <a:endParaRPr lang="zh-CN" altLang="en-US" sz="2074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82"/>
            <a:ext cx="8873112" cy="508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7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84"/>
            <a:ext cx="8229600" cy="1143000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Task 1D:</a:t>
            </a:r>
            <a:r>
              <a:rPr lang="zh-CN" altLang="en-US" sz="36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Architecture Design Template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9519" y="1447851"/>
            <a:ext cx="8229600" cy="1587981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Teacher explains the architecture design template. The template is available on iSpace.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Remember to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update </a:t>
            </a:r>
            <a:r>
              <a:rPr lang="en-US" altLang="zh-CN" sz="2400" dirty="0">
                <a:ea typeface="宋体" panose="02010600030101010101" pitchFamily="2" charset="-122"/>
              </a:rPr>
              <a:t>the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table of content </a:t>
            </a:r>
            <a:r>
              <a:rPr lang="en-US" altLang="zh-CN" sz="2400" dirty="0">
                <a:ea typeface="宋体" panose="02010600030101010101" pitchFamily="2" charset="-122"/>
              </a:rPr>
              <a:t>after finishing the document.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520E32FA-3EFB-4693-9D38-E03A62F4AF7D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4/15/2026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EF139479-DA7B-4332-896E-9B17B3B77FD1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39518" y="3585561"/>
            <a:ext cx="4156284" cy="205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kern="0" dirty="0">
                <a:ea typeface="宋体" panose="02010600030101010101" pitchFamily="2" charset="-122"/>
              </a:rPr>
              <a:t>Main points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kern="0" dirty="0">
                <a:solidFill>
                  <a:srgbClr val="FF0000"/>
                </a:solidFill>
                <a:ea typeface="宋体" panose="02010600030101010101" pitchFamily="2" charset="-122"/>
              </a:rPr>
              <a:t>Section 2.3</a:t>
            </a:r>
            <a:r>
              <a:rPr lang="en-US" altLang="zh-CN" kern="0" dirty="0">
                <a:ea typeface="宋体" panose="02010600030101010101" pitchFamily="2" charset="-122"/>
              </a:rPr>
              <a:t>: Whole architecture: refer to this slide in </a:t>
            </a:r>
            <a:r>
              <a:rPr lang="en-US" altLang="zh-CN" kern="0" dirty="0">
                <a:solidFill>
                  <a:srgbClr val="FF0000"/>
                </a:solidFill>
                <a:ea typeface="宋体" panose="02010600030101010101" pitchFamily="2" charset="-122"/>
              </a:rPr>
              <a:t>Lecture 10.</a:t>
            </a:r>
            <a:endParaRPr lang="en-US" altLang="zh-CN" kern="0" dirty="0"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854" y="3210230"/>
            <a:ext cx="3606405" cy="25047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97469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84"/>
            <a:ext cx="8229600" cy="687445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Task 1D:</a:t>
            </a:r>
            <a:r>
              <a:rPr lang="zh-CN" altLang="en-US" sz="36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Architecture Design Template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912" y="929046"/>
            <a:ext cx="8229600" cy="215300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Main points (continue)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Each</a:t>
            </a:r>
            <a:r>
              <a:rPr lang="en-US" altLang="zh-CN" sz="2400" dirty="0">
                <a:ea typeface="宋体" panose="02010600030101010101" pitchFamily="2" charset="-122"/>
              </a:rPr>
              <a:t> subsection describes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one</a:t>
            </a:r>
            <a:r>
              <a:rPr lang="en-US" altLang="zh-CN" sz="2400" dirty="0">
                <a:ea typeface="宋体" panose="02010600030101010101" pitchFamily="2" charset="-122"/>
              </a:rPr>
              <a:t> subsystem, i.e. 3.1 for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one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subsystem, 3.2 for another subsystem, etc.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Section 3.#, 3.#.1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and 3.#.2:  Refer to these slides in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Lecture 10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520E32FA-3EFB-4693-9D38-E03A62F4AF7D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4/15/2026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EF139479-DA7B-4332-896E-9B17B3B77FD1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9" y="3294270"/>
            <a:ext cx="3738513" cy="25217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919" y="3079856"/>
            <a:ext cx="4063881" cy="29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73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704" y="1066862"/>
            <a:ext cx="8229600" cy="4419484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Task 2A:</a:t>
            </a: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Update the class diagram in SRS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Students update the class diagram according to the feedback.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Please use the class diagram we gave in an earlier slide.</a:t>
            </a: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Task 2B:</a:t>
            </a: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Finish the Architecture Design Document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Students finish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Architecture Design</a:t>
            </a:r>
            <a:r>
              <a:rPr lang="en-US" altLang="zh-CN" sz="2800" dirty="0">
                <a:ea typeface="宋体" panose="02010600030101010101" pitchFamily="2" charset="-122"/>
              </a:rPr>
              <a:t> Document according to the template.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Do not make the text too long.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E.g. sections 1.1 and 2.2 should have a maximum of 3 to 5 sentences each, and don’t make the sentences </a:t>
            </a:r>
            <a:r>
              <a:rPr lang="en-US" altLang="zh-CN" sz="2400">
                <a:ea typeface="宋体" panose="02010600030101010101" pitchFamily="2" charset="-122"/>
              </a:rPr>
              <a:t>too long.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571500" indent="-457200" eaLnBrk="1" hangingPunct="1">
              <a:spcBef>
                <a:spcPct val="0"/>
              </a:spcBef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7652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9766C6C1-BD22-4AB6-83A4-80DB890BA1DF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4/15/2026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7653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A2E82CBB-B4C0-4BE0-927A-A78F8DE3B9B0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13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47BCE6-2D34-D1FC-D4D7-D0F91E5D7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84"/>
            <a:ext cx="8229600" cy="687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sz="3600" kern="0" dirty="0">
                <a:solidFill>
                  <a:srgbClr val="FF0000"/>
                </a:solidFill>
                <a:ea typeface="宋体" panose="02010600030101010101" pitchFamily="2" charset="-122"/>
              </a:rPr>
              <a:t>Task 2 for Students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7475"/>
            <a:ext cx="8229600" cy="796925"/>
          </a:xfrm>
        </p:spPr>
        <p:txBody>
          <a:bodyPr/>
          <a:lstStyle/>
          <a:p>
            <a:r>
              <a:rPr lang="en-US" altLang="zh-CN" sz="3600">
                <a:solidFill>
                  <a:srgbClr val="FF0000"/>
                </a:solidFill>
                <a:ea typeface="宋体" panose="02010600030101010101" pitchFamily="2" charset="-122"/>
              </a:rPr>
              <a:t>Submission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60"/>
            <a:ext cx="8305690" cy="490214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Each team (company) submits the following documents (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ONE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copy </a:t>
            </a:r>
            <a:r>
              <a:rPr lang="en-US" altLang="zh-CN" sz="2800" dirty="0">
                <a:ea typeface="宋体" panose="02010600030101010101" pitchFamily="2" charset="-122"/>
              </a:rPr>
              <a:t>each) to iSpace and </a:t>
            </a:r>
            <a:r>
              <a:rPr lang="en-US" altLang="zh-CN" sz="2800" dirty="0" err="1">
                <a:ea typeface="宋体" panose="02010600030101010101" pitchFamily="2" charset="-122"/>
              </a:rPr>
              <a:t>GitLab</a:t>
            </a:r>
            <a:r>
              <a:rPr lang="en-US" altLang="zh-CN" sz="2800" dirty="0">
                <a:ea typeface="宋体" panose="02010600030101010101" pitchFamily="2" charset="-122"/>
              </a:rPr>
              <a:t>:</a:t>
            </a:r>
          </a:p>
          <a:p>
            <a:pPr marL="914400" lvl="1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zh-CN" sz="2400" dirty="0">
                <a:ea typeface="宋体" panose="02010600030101010101" pitchFamily="2" charset="-122"/>
              </a:rPr>
              <a:t>The updated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SRS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architecture design </a:t>
            </a:r>
            <a:r>
              <a:rPr lang="en-US" altLang="zh-CN" sz="2400" dirty="0">
                <a:ea typeface="宋体" panose="02010600030101010101" pitchFamily="2" charset="-122"/>
              </a:rPr>
              <a:t>document</a:t>
            </a:r>
          </a:p>
          <a:p>
            <a:pPr marL="514350" indent="-457200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800" dirty="0">
              <a:ea typeface="宋体" panose="02010600030101010101" pitchFamily="2" charset="-122"/>
            </a:endParaRPr>
          </a:p>
          <a:p>
            <a:pPr lvl="1"/>
            <a:r>
              <a:rPr lang="en-US" sz="2400" dirty="0"/>
              <a:t>On the cover of the documents next to the student names, leaders (with the support of most of the team) indicate how much each member contributed: Full, Fair, Little or None.</a:t>
            </a:r>
          </a:p>
        </p:txBody>
      </p:sp>
      <p:sp>
        <p:nvSpPr>
          <p:cNvPr id="29700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60350F6B-E59B-4939-AADB-845969D87479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4/15/2026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9701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7ADAB489-4017-458A-B66C-C1BA77EA922D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14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8976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7475"/>
            <a:ext cx="8229600" cy="796925"/>
          </a:xfrm>
        </p:spPr>
        <p:txBody>
          <a:bodyPr/>
          <a:lstStyle/>
          <a:p>
            <a:r>
              <a:rPr lang="en-US" altLang="zh-CN" sz="3600">
                <a:solidFill>
                  <a:srgbClr val="FF0000"/>
                </a:solidFill>
                <a:ea typeface="宋体" panose="02010600030101010101" pitchFamily="2" charset="-122"/>
              </a:rPr>
              <a:t>Submission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60"/>
            <a:ext cx="8305690" cy="4902140"/>
          </a:xfrm>
        </p:spPr>
        <p:txBody>
          <a:bodyPr/>
          <a:lstStyle/>
          <a:p>
            <a:pPr lvl="1"/>
            <a:r>
              <a:rPr lang="en-US" dirty="0"/>
              <a:t>Note: two grades will be given:</a:t>
            </a:r>
          </a:p>
          <a:p>
            <a:pPr lvl="2"/>
            <a:r>
              <a:rPr lang="en-US" dirty="0"/>
              <a:t>Text (workshop rubric)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Architecture design (SE rubric: models)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Deadline*:  Sat 18 Apr, 11:59 pm</a:t>
            </a: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11430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1400" dirty="0">
                <a:solidFill>
                  <a:prstClr val="black"/>
                </a:solidFill>
              </a:rPr>
              <a:t>* Usually, we give a few more minutes of grace period, in case of any network or unusual problems. But please respect the deadline; the length of the grace period is NOT guaranteed.</a:t>
            </a:r>
            <a:endParaRPr lang="en-US" sz="1400" dirty="0"/>
          </a:p>
        </p:txBody>
      </p:sp>
      <p:sp>
        <p:nvSpPr>
          <p:cNvPr id="29700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60350F6B-E59B-4939-AADB-845969D87479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4/15/2026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9701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7ADAB489-4017-458A-B66C-C1BA77EA922D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15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977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2513</TotalTime>
  <Pages>0</Pages>
  <Words>2496</Words>
  <Characters>0</Characters>
  <Application>Microsoft Office PowerPoint</Application>
  <DocSecurity>0</DocSecurity>
  <PresentationFormat>On-screen Show (4:3)</PresentationFormat>
  <Lines>0</Lines>
  <Paragraphs>225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等线</vt:lpstr>
      <vt:lpstr>等线 Light</vt:lpstr>
      <vt:lpstr>宋体</vt:lpstr>
      <vt:lpstr>宋体</vt:lpstr>
      <vt:lpstr>Arial</vt:lpstr>
      <vt:lpstr>Calibri</vt:lpstr>
      <vt:lpstr>Calibri Light</vt:lpstr>
      <vt:lpstr>Wingdings</vt:lpstr>
      <vt:lpstr>Office Theme</vt:lpstr>
      <vt:lpstr>自定义设计方案</vt:lpstr>
      <vt:lpstr>1_Office Theme</vt:lpstr>
      <vt:lpstr>Lab 7 Tasks Architectural Design</vt:lpstr>
      <vt:lpstr>Tasks</vt:lpstr>
      <vt:lpstr>PowerPoint Presentation</vt:lpstr>
      <vt:lpstr>PowerPoint Presentation</vt:lpstr>
      <vt:lpstr>Operations in a Class </vt:lpstr>
      <vt:lpstr>PowerPoint Presentation</vt:lpstr>
      <vt:lpstr>Association between Classes </vt:lpstr>
      <vt:lpstr>Task 1A: Class Diagram Feedback</vt:lpstr>
      <vt:lpstr>PowerPoint Presentation</vt:lpstr>
      <vt:lpstr>Sample Solution</vt:lpstr>
      <vt:lpstr>Task 1D: Architecture Design Template</vt:lpstr>
      <vt:lpstr>Task 1D: Architecture Design Template</vt:lpstr>
      <vt:lpstr>PowerPoint Presentation</vt:lpstr>
      <vt:lpstr>Submission</vt:lpstr>
      <vt:lpstr>Submission</vt:lpstr>
    </vt:vector>
  </TitlesOfParts>
  <Company>UIC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j f</cp:lastModifiedBy>
  <cp:revision>500</cp:revision>
  <cp:lastPrinted>2019-01-21T07:39:02Z</cp:lastPrinted>
  <dcterms:created xsi:type="dcterms:W3CDTF">2008-11-17T01:56:52Z</dcterms:created>
  <dcterms:modified xsi:type="dcterms:W3CDTF">2026-04-15T14:34:30Z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2052-9.1.0.4249</vt:lpwstr>
  </property>
</Properties>
</file>