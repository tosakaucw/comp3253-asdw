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7"/>
  </p:notesMasterIdLst>
  <p:sldIdLst>
    <p:sldId id="256" r:id="rId3"/>
    <p:sldId id="258" r:id="rId4"/>
    <p:sldId id="410" r:id="rId5"/>
    <p:sldId id="411" r:id="rId6"/>
    <p:sldId id="412" r:id="rId7"/>
    <p:sldId id="413" r:id="rId8"/>
    <p:sldId id="414" r:id="rId9"/>
    <p:sldId id="415" r:id="rId10"/>
    <p:sldId id="320" r:id="rId11"/>
    <p:sldId id="321" r:id="rId12"/>
    <p:sldId id="404" r:id="rId13"/>
    <p:sldId id="408" r:id="rId14"/>
    <p:sldId id="290" r:id="rId15"/>
    <p:sldId id="269" r:id="rId16"/>
    <p:sldId id="262" r:id="rId17"/>
    <p:sldId id="311" r:id="rId18"/>
    <p:sldId id="274" r:id="rId19"/>
    <p:sldId id="416" r:id="rId20"/>
    <p:sldId id="417" r:id="rId21"/>
    <p:sldId id="328" r:id="rId22"/>
    <p:sldId id="289" r:id="rId23"/>
    <p:sldId id="329" r:id="rId24"/>
    <p:sldId id="282" r:id="rId25"/>
    <p:sldId id="273" r:id="rId26"/>
  </p:sldIdLst>
  <p:sldSz cx="12192000" cy="6858000"/>
  <p:notesSz cx="6799263"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208" autoAdjust="0"/>
    <p:restoredTop sz="91030" autoAdjust="0"/>
  </p:normalViewPr>
  <p:slideViewPr>
    <p:cSldViewPr snapToGrid="0">
      <p:cViewPr varScale="1">
        <p:scale>
          <a:sx n="92" d="100"/>
          <a:sy n="92" d="100"/>
        </p:scale>
        <p:origin x="108"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347" cy="49821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1342" y="0"/>
            <a:ext cx="2946347" cy="498215"/>
          </a:xfrm>
          <a:prstGeom prst="rect">
            <a:avLst/>
          </a:prstGeom>
        </p:spPr>
        <p:txBody>
          <a:bodyPr vert="horz" lIns="91440" tIns="45720" rIns="91440" bIns="45720" rtlCol="0"/>
          <a:lstStyle>
            <a:lvl1pPr algn="r">
              <a:defRPr sz="1200"/>
            </a:lvl1pPr>
          </a:lstStyle>
          <a:p>
            <a:fld id="{ED4CC0D4-2CA0-4538-B4B4-AA77F5080DF4}" type="datetimeFigureOut">
              <a:rPr lang="en-US" smtClean="0"/>
              <a:t>3/18/2026</a:t>
            </a:fld>
            <a:endParaRPr lang="en-US"/>
          </a:p>
        </p:txBody>
      </p:sp>
      <p:sp>
        <p:nvSpPr>
          <p:cNvPr id="4" name="Slide Image Placeholder 3"/>
          <p:cNvSpPr>
            <a:spLocks noGrp="1" noRot="1" noChangeAspect="1"/>
          </p:cNvSpPr>
          <p:nvPr>
            <p:ph type="sldImg" idx="2"/>
          </p:nvPr>
        </p:nvSpPr>
        <p:spPr>
          <a:xfrm>
            <a:off x="422275" y="1241425"/>
            <a:ext cx="5954713" cy="335121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927" y="4778722"/>
            <a:ext cx="5439410" cy="390986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31600"/>
            <a:ext cx="2946347" cy="498214"/>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1342" y="9431600"/>
            <a:ext cx="2946347" cy="498214"/>
          </a:xfrm>
          <a:prstGeom prst="rect">
            <a:avLst/>
          </a:prstGeom>
        </p:spPr>
        <p:txBody>
          <a:bodyPr vert="horz" lIns="91440" tIns="45720" rIns="91440" bIns="45720" rtlCol="0" anchor="b"/>
          <a:lstStyle>
            <a:lvl1pPr algn="r">
              <a:defRPr sz="1200"/>
            </a:lvl1pPr>
          </a:lstStyle>
          <a:p>
            <a:fld id="{2E4534A5-BF54-4EC2-B747-83A27F457E9D}" type="slidenum">
              <a:rPr lang="en-US" smtClean="0"/>
              <a:t>‹#›</a:t>
            </a:fld>
            <a:endParaRPr lang="en-US"/>
          </a:p>
        </p:txBody>
      </p:sp>
    </p:spTree>
    <p:extLst>
      <p:ext uri="{BB962C8B-B14F-4D97-AF65-F5344CB8AC3E}">
        <p14:creationId xmlns:p14="http://schemas.microsoft.com/office/powerpoint/2010/main" val="86814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ChangeArrowheads="1" noTextEdit="1"/>
          </p:cNvSpPr>
          <p:nvPr>
            <p:ph type="sldImg"/>
          </p:nvPr>
        </p:nvSpPr>
        <p:spPr>
          <a:xfrm>
            <a:off x="419100" y="1241425"/>
            <a:ext cx="5956300" cy="3351213"/>
          </a:xfrm>
        </p:spPr>
      </p:sp>
      <p:sp>
        <p:nvSpPr>
          <p:cNvPr id="2662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zh-CN"/>
              <a:t>1. Project introduction  I simply shows the students first simple version of the project description which is on iSpace already</a:t>
            </a:r>
          </a:p>
          <a:p>
            <a:r>
              <a:rPr lang="en-US" altLang="zh-CN"/>
              <a:t>2. Interview skills introduce very common interview skills used in industry like email, phone, face to face, question list</a:t>
            </a:r>
          </a:p>
          <a:p>
            <a:r>
              <a:rPr lang="en-US" altLang="zh-CN"/>
              <a:t>3. The purpose to explain SRS is for students to further understand, before start a software development, what should be known. Students shall ask the questions so they can fill in the SRS document. So question list version 2 should be more complete and organized.  </a:t>
            </a:r>
          </a:p>
          <a:p>
            <a:r>
              <a:rPr lang="en-US" altLang="zh-CN"/>
              <a:t>4. Students should not ask the questions in the following areas. These are not issues in “Software Requirements”</a:t>
            </a:r>
          </a:p>
          <a:p>
            <a:r>
              <a:rPr lang="en-GB" altLang="zh-CN"/>
              <a:t>Cost</a:t>
            </a:r>
          </a:p>
          <a:p>
            <a:r>
              <a:rPr lang="en-GB" altLang="zh-CN"/>
              <a:t>– Delivery schedules</a:t>
            </a:r>
          </a:p>
          <a:p>
            <a:r>
              <a:rPr lang="en-GB" altLang="zh-CN"/>
              <a:t>– Reporting procedures</a:t>
            </a:r>
          </a:p>
          <a:p>
            <a:r>
              <a:rPr lang="en-GB" altLang="zh-CN"/>
              <a:t>– Software development methods</a:t>
            </a:r>
          </a:p>
          <a:p>
            <a:r>
              <a:rPr lang="en-GB" altLang="zh-CN"/>
              <a:t>– Quality assurance</a:t>
            </a:r>
          </a:p>
          <a:p>
            <a:r>
              <a:rPr lang="en-GB" altLang="zh-CN"/>
              <a:t>– Validation and verification criteria</a:t>
            </a:r>
          </a:p>
          <a:p>
            <a:r>
              <a:rPr lang="en-GB" altLang="zh-CN"/>
              <a:t>– Acceptance procedures.</a:t>
            </a:r>
          </a:p>
          <a:p>
            <a:r>
              <a:rPr lang="en-US" altLang="zh-CN"/>
              <a:t>5. So far, we will not tell students the development language that will be used. The decision on language should be put as late as possible.</a:t>
            </a:r>
          </a:p>
          <a:p>
            <a:r>
              <a:rPr lang="en-US" altLang="zh-CN"/>
              <a:t>6. We will behave in the role of customer or client who knows very little about computers. Students should ask in a way that such clients are able to understand. Therefore, they should avoid the use of jargon.</a:t>
            </a:r>
          </a:p>
          <a:p>
            <a:r>
              <a:rPr lang="en-US" altLang="zh-CN"/>
              <a:t>7. In the SRS template, there is an explanation about each section. More attentions should be paid here:</a:t>
            </a:r>
          </a:p>
          <a:p>
            <a:r>
              <a:rPr lang="en-US" altLang="zh-CN"/>
              <a:t>1)Section 1.1 is not the purpose of this project, it is the purpose of this document.</a:t>
            </a:r>
          </a:p>
          <a:p>
            <a:r>
              <a:rPr lang="en-US" altLang="zh-CN"/>
              <a:t>2)References are not software engineering books. It is about the documents in a company which is related to this system and can help understand this system. </a:t>
            </a:r>
          </a:p>
          <a:p>
            <a:r>
              <a:rPr lang="en-US" altLang="zh-CN"/>
              <a:t>3)Software interface exists only when a software system is a subsystem or a module of a whole system. 4)Hardware exists when embedded software is developed.</a:t>
            </a:r>
          </a:p>
        </p:txBody>
      </p:sp>
      <p:sp>
        <p:nvSpPr>
          <p:cNvPr id="26628"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spcBef>
                <a:spcPct val="30000"/>
              </a:spcBef>
              <a:defRPr sz="1200">
                <a:solidFill>
                  <a:schemeClr val="tx1"/>
                </a:solidFill>
                <a:latin typeface="Calibri" panose="020F0502020204030204" pitchFamily="34" charset="0"/>
              </a:defRPr>
            </a:lvl1pPr>
            <a:lvl2pPr marL="742950" indent="-285750" defTabSz="955675">
              <a:spcBef>
                <a:spcPct val="30000"/>
              </a:spcBef>
              <a:defRPr sz="1200">
                <a:solidFill>
                  <a:schemeClr val="tx1"/>
                </a:solidFill>
                <a:latin typeface="Calibri" panose="020F0502020204030204" pitchFamily="34" charset="0"/>
              </a:defRPr>
            </a:lvl2pPr>
            <a:lvl3pPr marL="1143000" indent="-228600" defTabSz="955675">
              <a:spcBef>
                <a:spcPct val="30000"/>
              </a:spcBef>
              <a:defRPr sz="1200">
                <a:solidFill>
                  <a:schemeClr val="tx1"/>
                </a:solidFill>
                <a:latin typeface="Calibri" panose="020F0502020204030204" pitchFamily="34" charset="0"/>
              </a:defRPr>
            </a:lvl3pPr>
            <a:lvl4pPr marL="1600200" indent="-228600" defTabSz="955675">
              <a:spcBef>
                <a:spcPct val="30000"/>
              </a:spcBef>
              <a:defRPr sz="1200">
                <a:solidFill>
                  <a:schemeClr val="tx1"/>
                </a:solidFill>
                <a:latin typeface="Calibri" panose="020F0502020204030204" pitchFamily="34" charset="0"/>
              </a:defRPr>
            </a:lvl4pPr>
            <a:lvl5pPr marL="2057400" indent="-228600" defTabSz="955675">
              <a:spcBef>
                <a:spcPct val="30000"/>
              </a:spcBef>
              <a:defRPr sz="1200">
                <a:solidFill>
                  <a:schemeClr val="tx1"/>
                </a:solidFill>
                <a:latin typeface="Calibri" panose="020F0502020204030204" pitchFamily="34" charset="0"/>
              </a:defRPr>
            </a:lvl5pPr>
            <a:lvl6pPr marL="2514600" indent="-228600" defTabSz="955675"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55675"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55675"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55675"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buFontTx/>
              <a:buNone/>
            </a:pPr>
            <a:fld id="{26B655D1-F2AE-4683-BBF5-E00E2C2318DC}" type="slidenum">
              <a:rPr lang="en-US" altLang="zh-CN" sz="1300" smtClean="0"/>
              <a:pPr>
                <a:spcBef>
                  <a:spcPct val="0"/>
                </a:spcBef>
                <a:buFontTx/>
                <a:buNone/>
              </a:pPr>
              <a:t>11</a:t>
            </a:fld>
            <a:endParaRPr lang="en-US" altLang="zh-CN"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xfrm>
            <a:off x="131763" y="1347788"/>
            <a:ext cx="6473825" cy="3641725"/>
          </a:xfrm>
        </p:spPr>
      </p:sp>
      <p:sp>
        <p:nvSpPr>
          <p:cNvPr id="307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zh-CN"/>
              <a:t>1. Project introduction  I simply shows the students first simple version of the project description which is on iSpace already</a:t>
            </a:r>
          </a:p>
          <a:p>
            <a:r>
              <a:rPr lang="en-US" altLang="zh-CN"/>
              <a:t>2. Interview skills introduce very common interview skills used in industry like email, phone, face to face, question list</a:t>
            </a:r>
          </a:p>
          <a:p>
            <a:r>
              <a:rPr lang="en-US" altLang="zh-CN"/>
              <a:t>3. The purpose to explain SRS is for students to further understand, before start a software development, what should be known. Students shall ask the questions so they can fill in the SRS document. So question list version 2 should be more complete and organized.  </a:t>
            </a:r>
          </a:p>
          <a:p>
            <a:r>
              <a:rPr lang="en-US" altLang="zh-CN"/>
              <a:t>4. Students should not ask the questions in the following areas. These are not issues in “Software Requirements”</a:t>
            </a:r>
          </a:p>
          <a:p>
            <a:r>
              <a:rPr lang="en-GB" altLang="zh-CN"/>
              <a:t>Cost</a:t>
            </a:r>
          </a:p>
          <a:p>
            <a:r>
              <a:rPr lang="en-GB" altLang="zh-CN"/>
              <a:t>– Delivery schedules</a:t>
            </a:r>
          </a:p>
          <a:p>
            <a:r>
              <a:rPr lang="en-GB" altLang="zh-CN"/>
              <a:t>– Reporting procedures</a:t>
            </a:r>
          </a:p>
          <a:p>
            <a:r>
              <a:rPr lang="en-GB" altLang="zh-CN"/>
              <a:t>– Software development methods</a:t>
            </a:r>
          </a:p>
          <a:p>
            <a:r>
              <a:rPr lang="en-GB" altLang="zh-CN"/>
              <a:t>– Quality assurance</a:t>
            </a:r>
          </a:p>
          <a:p>
            <a:r>
              <a:rPr lang="en-GB" altLang="zh-CN"/>
              <a:t>– Validation and verification criteria</a:t>
            </a:r>
          </a:p>
          <a:p>
            <a:r>
              <a:rPr lang="en-GB" altLang="zh-CN"/>
              <a:t>– Acceptance procedures.</a:t>
            </a:r>
          </a:p>
          <a:p>
            <a:r>
              <a:rPr lang="en-US" altLang="zh-CN"/>
              <a:t>5. So far, we will not tell students the development language that will be used. The decision on language should be put as late as possible.</a:t>
            </a:r>
          </a:p>
          <a:p>
            <a:r>
              <a:rPr lang="en-US" altLang="zh-CN"/>
              <a:t>6. We will behave in the role of customer or client who knows very little about computers. Students should ask in a way that such clients are able to understand. Therefore, they should avoid the use of jargon.</a:t>
            </a:r>
          </a:p>
          <a:p>
            <a:r>
              <a:rPr lang="en-US" altLang="zh-CN"/>
              <a:t>7. In the SRS template, there is an explanation about each section. More attentions should be paid here:</a:t>
            </a:r>
          </a:p>
          <a:p>
            <a:r>
              <a:rPr lang="en-US" altLang="zh-CN"/>
              <a:t>1)Section 1.1 is not the purpose of this project, it is the purpose of this document.</a:t>
            </a:r>
          </a:p>
          <a:p>
            <a:r>
              <a:rPr lang="en-US" altLang="zh-CN"/>
              <a:t>2)References are not software engineering books. It is about the documents in a company which is related to this system and can help understand this system. </a:t>
            </a:r>
          </a:p>
          <a:p>
            <a:r>
              <a:rPr lang="en-US" altLang="zh-CN"/>
              <a:t>3)Software interface exists only when a software system is a subsystem or a module of a whole system. 4)Hardware exists when embedded software is developed.</a:t>
            </a:r>
          </a:p>
        </p:txBody>
      </p:sp>
      <p:sp>
        <p:nvSpPr>
          <p:cNvPr id="3072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spcBef>
                <a:spcPct val="30000"/>
              </a:spcBef>
              <a:defRPr sz="1200">
                <a:solidFill>
                  <a:schemeClr val="tx1"/>
                </a:solidFill>
                <a:latin typeface="Calibri" panose="020F0502020204030204" pitchFamily="34" charset="0"/>
              </a:defRPr>
            </a:lvl1pPr>
            <a:lvl2pPr marL="742950" indent="-285750" defTabSz="955675">
              <a:spcBef>
                <a:spcPct val="30000"/>
              </a:spcBef>
              <a:defRPr sz="1200">
                <a:solidFill>
                  <a:schemeClr val="tx1"/>
                </a:solidFill>
                <a:latin typeface="Calibri" panose="020F0502020204030204" pitchFamily="34" charset="0"/>
              </a:defRPr>
            </a:lvl2pPr>
            <a:lvl3pPr marL="1143000" indent="-228600" defTabSz="955675">
              <a:spcBef>
                <a:spcPct val="30000"/>
              </a:spcBef>
              <a:defRPr sz="1200">
                <a:solidFill>
                  <a:schemeClr val="tx1"/>
                </a:solidFill>
                <a:latin typeface="Calibri" panose="020F0502020204030204" pitchFamily="34" charset="0"/>
              </a:defRPr>
            </a:lvl3pPr>
            <a:lvl4pPr marL="1600200" indent="-228600" defTabSz="955675">
              <a:spcBef>
                <a:spcPct val="30000"/>
              </a:spcBef>
              <a:defRPr sz="1200">
                <a:solidFill>
                  <a:schemeClr val="tx1"/>
                </a:solidFill>
                <a:latin typeface="Calibri" panose="020F0502020204030204" pitchFamily="34" charset="0"/>
              </a:defRPr>
            </a:lvl4pPr>
            <a:lvl5pPr marL="2057400" indent="-228600" defTabSz="955675">
              <a:spcBef>
                <a:spcPct val="30000"/>
              </a:spcBef>
              <a:defRPr sz="1200">
                <a:solidFill>
                  <a:schemeClr val="tx1"/>
                </a:solidFill>
                <a:latin typeface="Calibri" panose="020F0502020204030204" pitchFamily="34" charset="0"/>
              </a:defRPr>
            </a:lvl5pPr>
            <a:lvl6pPr marL="2514600" indent="-228600" defTabSz="955675"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55675"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55675"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55675"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buFontTx/>
              <a:buNone/>
            </a:pPr>
            <a:fld id="{44514AD6-AEAF-4BC8-A0E2-6AED36AE224C}" type="slidenum">
              <a:rPr lang="en-US" altLang="zh-CN" sz="1300" smtClean="0"/>
              <a:pPr>
                <a:spcBef>
                  <a:spcPct val="0"/>
                </a:spcBef>
                <a:buFontTx/>
                <a:buNone/>
              </a:pPr>
              <a:t>12</a:t>
            </a:fld>
            <a:endParaRPr lang="en-US" altLang="zh-CN" sz="1300"/>
          </a:p>
        </p:txBody>
      </p:sp>
    </p:spTree>
    <p:extLst>
      <p:ext uri="{BB962C8B-B14F-4D97-AF65-F5344CB8AC3E}">
        <p14:creationId xmlns:p14="http://schemas.microsoft.com/office/powerpoint/2010/main" val="12433906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xfrm>
            <a:off x="131763" y="1347788"/>
            <a:ext cx="6473825" cy="3641725"/>
          </a:xfrm>
        </p:spPr>
      </p:sp>
      <p:sp>
        <p:nvSpPr>
          <p:cNvPr id="307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zh-CN"/>
              <a:t>1. Project introduction  I simply shows the students first simple version of the project description which is on iSpace already</a:t>
            </a:r>
          </a:p>
          <a:p>
            <a:r>
              <a:rPr lang="en-US" altLang="zh-CN"/>
              <a:t>2. Interview skills introduce very common interview skills used in industry like email, phone, face to face, question list</a:t>
            </a:r>
          </a:p>
          <a:p>
            <a:r>
              <a:rPr lang="en-US" altLang="zh-CN"/>
              <a:t>3. The purpose to explain SRS is for students to further understand, before start a software development, what should be known. Students shall ask the questions so they can fill in the SRS document. So question list version 2 should be more complete and organized.  </a:t>
            </a:r>
          </a:p>
          <a:p>
            <a:r>
              <a:rPr lang="en-US" altLang="zh-CN"/>
              <a:t>4. Students should not ask the questions in the following areas. These are not issues in “Software Requirements”</a:t>
            </a:r>
          </a:p>
          <a:p>
            <a:r>
              <a:rPr lang="en-GB" altLang="zh-CN"/>
              <a:t>Cost</a:t>
            </a:r>
          </a:p>
          <a:p>
            <a:r>
              <a:rPr lang="en-GB" altLang="zh-CN"/>
              <a:t>– Delivery schedules</a:t>
            </a:r>
          </a:p>
          <a:p>
            <a:r>
              <a:rPr lang="en-GB" altLang="zh-CN"/>
              <a:t>– Reporting procedures</a:t>
            </a:r>
          </a:p>
          <a:p>
            <a:r>
              <a:rPr lang="en-GB" altLang="zh-CN"/>
              <a:t>– Software development methods</a:t>
            </a:r>
          </a:p>
          <a:p>
            <a:r>
              <a:rPr lang="en-GB" altLang="zh-CN"/>
              <a:t>– Quality assurance</a:t>
            </a:r>
          </a:p>
          <a:p>
            <a:r>
              <a:rPr lang="en-GB" altLang="zh-CN"/>
              <a:t>– Validation and verification criteria</a:t>
            </a:r>
          </a:p>
          <a:p>
            <a:r>
              <a:rPr lang="en-GB" altLang="zh-CN"/>
              <a:t>– Acceptance procedures.</a:t>
            </a:r>
          </a:p>
          <a:p>
            <a:r>
              <a:rPr lang="en-US" altLang="zh-CN"/>
              <a:t>5. So far, we will not tell students the development language that will be used. The decision on language should be put as late as possible.</a:t>
            </a:r>
          </a:p>
          <a:p>
            <a:r>
              <a:rPr lang="en-US" altLang="zh-CN"/>
              <a:t>6. We will behave in the role of customer or client who knows very little about computers. Students should ask in a way that such clients are able to understand. Therefore, they should avoid the use of jargon.</a:t>
            </a:r>
          </a:p>
          <a:p>
            <a:r>
              <a:rPr lang="en-US" altLang="zh-CN"/>
              <a:t>7. In the SRS template, there is an explanation about each section. More attentions should be paid here:</a:t>
            </a:r>
          </a:p>
          <a:p>
            <a:r>
              <a:rPr lang="en-US" altLang="zh-CN"/>
              <a:t>1)Section 1.1 is not the purpose of this project, it is the purpose of this document.</a:t>
            </a:r>
          </a:p>
          <a:p>
            <a:r>
              <a:rPr lang="en-US" altLang="zh-CN"/>
              <a:t>2)References are not software engineering books. It is about the documents in a company which is related to this system and can help understand this system. </a:t>
            </a:r>
          </a:p>
          <a:p>
            <a:r>
              <a:rPr lang="en-US" altLang="zh-CN"/>
              <a:t>3)Software interface exists only when a software system is a subsystem or a module of a whole system. 4)Hardware exists when embedded software is developed.</a:t>
            </a:r>
          </a:p>
        </p:txBody>
      </p:sp>
      <p:sp>
        <p:nvSpPr>
          <p:cNvPr id="30724" name="Slide Number Placeholder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5675">
              <a:spcBef>
                <a:spcPct val="30000"/>
              </a:spcBef>
              <a:defRPr sz="1200">
                <a:solidFill>
                  <a:schemeClr val="tx1"/>
                </a:solidFill>
                <a:latin typeface="Calibri" panose="020F0502020204030204" pitchFamily="34" charset="0"/>
              </a:defRPr>
            </a:lvl1pPr>
            <a:lvl2pPr marL="742950" indent="-285750" defTabSz="955675">
              <a:spcBef>
                <a:spcPct val="30000"/>
              </a:spcBef>
              <a:defRPr sz="1200">
                <a:solidFill>
                  <a:schemeClr val="tx1"/>
                </a:solidFill>
                <a:latin typeface="Calibri" panose="020F0502020204030204" pitchFamily="34" charset="0"/>
              </a:defRPr>
            </a:lvl2pPr>
            <a:lvl3pPr marL="1143000" indent="-228600" defTabSz="955675">
              <a:spcBef>
                <a:spcPct val="30000"/>
              </a:spcBef>
              <a:defRPr sz="1200">
                <a:solidFill>
                  <a:schemeClr val="tx1"/>
                </a:solidFill>
                <a:latin typeface="Calibri" panose="020F0502020204030204" pitchFamily="34" charset="0"/>
              </a:defRPr>
            </a:lvl3pPr>
            <a:lvl4pPr marL="1600200" indent="-228600" defTabSz="955675">
              <a:spcBef>
                <a:spcPct val="30000"/>
              </a:spcBef>
              <a:defRPr sz="1200">
                <a:solidFill>
                  <a:schemeClr val="tx1"/>
                </a:solidFill>
                <a:latin typeface="Calibri" panose="020F0502020204030204" pitchFamily="34" charset="0"/>
              </a:defRPr>
            </a:lvl4pPr>
            <a:lvl5pPr marL="2057400" indent="-228600" defTabSz="955675">
              <a:spcBef>
                <a:spcPct val="30000"/>
              </a:spcBef>
              <a:defRPr sz="1200">
                <a:solidFill>
                  <a:schemeClr val="tx1"/>
                </a:solidFill>
                <a:latin typeface="Calibri" panose="020F0502020204030204" pitchFamily="34" charset="0"/>
              </a:defRPr>
            </a:lvl5pPr>
            <a:lvl6pPr marL="2514600" indent="-228600" defTabSz="955675" eaLnBrk="0" fontAlgn="base" hangingPunct="0">
              <a:spcBef>
                <a:spcPct val="30000"/>
              </a:spcBef>
              <a:spcAft>
                <a:spcPct val="0"/>
              </a:spcAft>
              <a:defRPr sz="1200">
                <a:solidFill>
                  <a:schemeClr val="tx1"/>
                </a:solidFill>
                <a:latin typeface="Calibri" panose="020F0502020204030204" pitchFamily="34" charset="0"/>
              </a:defRPr>
            </a:lvl6pPr>
            <a:lvl7pPr marL="2971800" indent="-228600" defTabSz="955675" eaLnBrk="0" fontAlgn="base" hangingPunct="0">
              <a:spcBef>
                <a:spcPct val="30000"/>
              </a:spcBef>
              <a:spcAft>
                <a:spcPct val="0"/>
              </a:spcAft>
              <a:defRPr sz="1200">
                <a:solidFill>
                  <a:schemeClr val="tx1"/>
                </a:solidFill>
                <a:latin typeface="Calibri" panose="020F0502020204030204" pitchFamily="34" charset="0"/>
              </a:defRPr>
            </a:lvl7pPr>
            <a:lvl8pPr marL="3429000" indent="-228600" defTabSz="955675" eaLnBrk="0" fontAlgn="base" hangingPunct="0">
              <a:spcBef>
                <a:spcPct val="30000"/>
              </a:spcBef>
              <a:spcAft>
                <a:spcPct val="0"/>
              </a:spcAft>
              <a:defRPr sz="1200">
                <a:solidFill>
                  <a:schemeClr val="tx1"/>
                </a:solidFill>
                <a:latin typeface="Calibri" panose="020F0502020204030204" pitchFamily="34" charset="0"/>
              </a:defRPr>
            </a:lvl8pPr>
            <a:lvl9pPr marL="3886200" indent="-228600" defTabSz="955675"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buFontTx/>
              <a:buNone/>
            </a:pPr>
            <a:fld id="{44514AD6-AEAF-4BC8-A0E2-6AED36AE224C}" type="slidenum">
              <a:rPr lang="en-US" altLang="zh-CN" sz="1300" smtClean="0"/>
              <a:pPr>
                <a:spcBef>
                  <a:spcPct val="0"/>
                </a:spcBef>
                <a:buFontTx/>
                <a:buNone/>
              </a:pPr>
              <a:t>13</a:t>
            </a:fld>
            <a:endParaRPr lang="en-US" altLang="zh-CN" sz="1300"/>
          </a:p>
        </p:txBody>
      </p:sp>
    </p:spTree>
    <p:extLst>
      <p:ext uri="{BB962C8B-B14F-4D97-AF65-F5344CB8AC3E}">
        <p14:creationId xmlns:p14="http://schemas.microsoft.com/office/powerpoint/2010/main" val="603041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3FE0A8D-B655-4CDD-AFA9-696B9E4307F7}"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965441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FE0A8D-B655-4CDD-AFA9-696B9E4307F7}"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78492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3FE0A8D-B655-4CDD-AFA9-696B9E4307F7}"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3986829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FE0A8D-B655-4CDD-AFA9-696B9E4307F7}"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1661557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3FE0A8D-B655-4CDD-AFA9-696B9E4307F7}" type="datetimeFigureOut">
              <a:rPr lang="en-US" smtClean="0"/>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3465809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FE0A8D-B655-4CDD-AFA9-696B9E4307F7}" type="datetimeFigureOut">
              <a:rPr lang="en-US" smtClean="0"/>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4040208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FE0A8D-B655-4CDD-AFA9-696B9E4307F7}" type="datetimeFigureOut">
              <a:rPr lang="en-US" smtClean="0"/>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3085029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FE0A8D-B655-4CDD-AFA9-696B9E4307F7}"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2186760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3FE0A8D-B655-4CDD-AFA9-696B9E4307F7}"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2727449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FE0A8D-B655-4CDD-AFA9-696B9E4307F7}"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3653899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FE0A8D-B655-4CDD-AFA9-696B9E4307F7}"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17D1B5-71C9-47EF-AA50-4B18E75D29F8}" type="slidenum">
              <a:rPr lang="en-US" smtClean="0"/>
              <a:t>‹#›</a:t>
            </a:fld>
            <a:endParaRPr lang="en-US"/>
          </a:p>
        </p:txBody>
      </p:sp>
    </p:spTree>
    <p:extLst>
      <p:ext uri="{BB962C8B-B14F-4D97-AF65-F5344CB8AC3E}">
        <p14:creationId xmlns:p14="http://schemas.microsoft.com/office/powerpoint/2010/main" val="3062025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en-US" dirty="0"/>
          </a:p>
        </p:txBody>
      </p:sp>
      <p:sp>
        <p:nvSpPr>
          <p:cNvPr id="3" name="Subtitle 2"/>
          <p:cNvSpPr>
            <a:spLocks noGrp="1"/>
          </p:cNvSpPr>
          <p:nvPr>
            <p:ph type="subTitle" idx="1"/>
          </p:nvPr>
        </p:nvSpPr>
        <p:spPr>
          <a:xfrm>
            <a:off x="1524000" y="3602039"/>
            <a:ext cx="9144000" cy="1655762"/>
          </a:xfrm>
        </p:spPr>
        <p:txBody>
          <a:bodyPr/>
          <a:lstStyle>
            <a:lvl1pPr marL="0" indent="0" algn="ctr">
              <a:buNone/>
              <a:defRPr sz="2400"/>
            </a:lvl1pPr>
            <a:lvl2pPr marL="457197" indent="0" algn="ctr">
              <a:buNone/>
              <a:defRPr sz="2000"/>
            </a:lvl2pPr>
            <a:lvl3pPr marL="914395" indent="0" algn="ctr">
              <a:buNone/>
              <a:defRPr sz="1800"/>
            </a:lvl3pPr>
            <a:lvl4pPr marL="1371591" indent="0" algn="ctr">
              <a:buNone/>
              <a:defRPr sz="1600"/>
            </a:lvl4pPr>
            <a:lvl5pPr marL="1828788" indent="0" algn="ctr">
              <a:buNone/>
              <a:defRPr sz="1600"/>
            </a:lvl5pPr>
            <a:lvl6pPr marL="2285985" indent="0" algn="ctr">
              <a:buNone/>
              <a:defRPr sz="1600"/>
            </a:lvl6pPr>
            <a:lvl7pPr marL="2743183" indent="0" algn="ctr">
              <a:buNone/>
              <a:defRPr sz="1600"/>
            </a:lvl7pPr>
            <a:lvl8pPr marL="3200380" indent="0" algn="ctr">
              <a:buNone/>
              <a:defRPr sz="1600"/>
            </a:lvl8pPr>
            <a:lvl9pPr marL="3657576" indent="0" algn="ctr">
              <a:buNone/>
              <a:defRPr sz="1600"/>
            </a:lvl9pPr>
          </a:lstStyle>
          <a:p>
            <a:r>
              <a:rPr lang="en-US" altLang="zh-CN"/>
              <a:t>Click to edit Master subtitle style</a:t>
            </a:r>
            <a:endParaRPr lang="en-US" dirty="0"/>
          </a:p>
        </p:txBody>
      </p:sp>
      <p:sp>
        <p:nvSpPr>
          <p:cNvPr id="4" name="Date Placeholder 3"/>
          <p:cNvSpPr>
            <a:spLocks noGrp="1"/>
          </p:cNvSpPr>
          <p:nvPr>
            <p:ph type="dt" sz="half" idx="10"/>
          </p:nvPr>
        </p:nvSpPr>
        <p:spPr/>
        <p:txBody>
          <a:bodyPr/>
          <a:lstStyle/>
          <a:p>
            <a:fld id="{F6C62BB0-1030-4CC0-9A75-2BC0B8E82711}" type="datetimeFigureOut">
              <a:rPr lang="zh-CN" altLang="en-US" smtClean="0"/>
              <a:t>2026/3/18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3433ED-42E1-4C0B-8EBC-4536D7EBF365}" type="slidenum">
              <a:rPr lang="zh-CN" altLang="en-US" smtClean="0"/>
              <a:t>‹#›</a:t>
            </a:fld>
            <a:endParaRPr lang="zh-CN" altLang="en-US"/>
          </a:p>
        </p:txBody>
      </p:sp>
    </p:spTree>
    <p:extLst>
      <p:ext uri="{BB962C8B-B14F-4D97-AF65-F5344CB8AC3E}">
        <p14:creationId xmlns:p14="http://schemas.microsoft.com/office/powerpoint/2010/main" val="33925686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idx="1"/>
          </p:nvPr>
        </p:nvSpPr>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F6C62BB0-1030-4CC0-9A75-2BC0B8E82711}" type="datetimeFigureOut">
              <a:rPr lang="zh-CN" altLang="en-US" smtClean="0"/>
              <a:t>2026/3/18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3433ED-42E1-4C0B-8EBC-4536D7EBF365}" type="slidenum">
              <a:rPr lang="zh-CN" altLang="en-US" smtClean="0"/>
              <a:t>‹#›</a:t>
            </a:fld>
            <a:endParaRPr lang="zh-CN" altLang="en-US"/>
          </a:p>
        </p:txBody>
      </p:sp>
    </p:spTree>
    <p:extLst>
      <p:ext uri="{BB962C8B-B14F-4D97-AF65-F5344CB8AC3E}">
        <p14:creationId xmlns:p14="http://schemas.microsoft.com/office/powerpoint/2010/main" val="5778617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9"/>
            <a:ext cx="10515600" cy="2852737"/>
          </a:xfrm>
        </p:spPr>
        <p:txBody>
          <a:bodyPr anchor="b"/>
          <a:lstStyle>
            <a:lvl1pPr>
              <a:defRPr sz="6000"/>
            </a:lvl1pPr>
          </a:lstStyle>
          <a:p>
            <a:r>
              <a:rPr lang="en-US" altLang="zh-CN"/>
              <a:t>Click to edit Master title style</a:t>
            </a:r>
            <a:endParaRPr lang="en-US" dirty="0"/>
          </a:p>
        </p:txBody>
      </p:sp>
      <p:sp>
        <p:nvSpPr>
          <p:cNvPr id="3" name="Text Placeholder 2"/>
          <p:cNvSpPr>
            <a:spLocks noGrp="1"/>
          </p:cNvSpPr>
          <p:nvPr>
            <p:ph type="body" idx="1"/>
          </p:nvPr>
        </p:nvSpPr>
        <p:spPr>
          <a:xfrm>
            <a:off x="831850" y="4589464"/>
            <a:ext cx="10515600" cy="1500187"/>
          </a:xfrm>
        </p:spPr>
        <p:txBody>
          <a:bodyPr/>
          <a:lstStyle>
            <a:lvl1pPr marL="0" indent="0">
              <a:buNone/>
              <a:defRPr sz="2400">
                <a:solidFill>
                  <a:schemeClr val="tx1">
                    <a:tint val="75000"/>
                  </a:schemeClr>
                </a:solidFill>
              </a:defRPr>
            </a:lvl1pPr>
            <a:lvl2pPr marL="457197" indent="0">
              <a:buNone/>
              <a:defRPr sz="2000">
                <a:solidFill>
                  <a:schemeClr val="tx1">
                    <a:tint val="75000"/>
                  </a:schemeClr>
                </a:solidFill>
              </a:defRPr>
            </a:lvl2pPr>
            <a:lvl3pPr marL="914395" indent="0">
              <a:buNone/>
              <a:defRPr sz="1800">
                <a:solidFill>
                  <a:schemeClr val="tx1">
                    <a:tint val="75000"/>
                  </a:schemeClr>
                </a:solidFill>
              </a:defRPr>
            </a:lvl3pPr>
            <a:lvl4pPr marL="1371591" indent="0">
              <a:buNone/>
              <a:defRPr sz="1600">
                <a:solidFill>
                  <a:schemeClr val="tx1">
                    <a:tint val="75000"/>
                  </a:schemeClr>
                </a:solidFill>
              </a:defRPr>
            </a:lvl4pPr>
            <a:lvl5pPr marL="1828788" indent="0">
              <a:buNone/>
              <a:defRPr sz="1600">
                <a:solidFill>
                  <a:schemeClr val="tx1">
                    <a:tint val="75000"/>
                  </a:schemeClr>
                </a:solidFill>
              </a:defRPr>
            </a:lvl5pPr>
            <a:lvl6pPr marL="2285985" indent="0">
              <a:buNone/>
              <a:defRPr sz="1600">
                <a:solidFill>
                  <a:schemeClr val="tx1">
                    <a:tint val="75000"/>
                  </a:schemeClr>
                </a:solidFill>
              </a:defRPr>
            </a:lvl6pPr>
            <a:lvl7pPr marL="2743183" indent="0">
              <a:buNone/>
              <a:defRPr sz="1600">
                <a:solidFill>
                  <a:schemeClr val="tx1">
                    <a:tint val="75000"/>
                  </a:schemeClr>
                </a:solidFill>
              </a:defRPr>
            </a:lvl7pPr>
            <a:lvl8pPr marL="3200380" indent="0">
              <a:buNone/>
              <a:defRPr sz="1600">
                <a:solidFill>
                  <a:schemeClr val="tx1">
                    <a:tint val="75000"/>
                  </a:schemeClr>
                </a:solidFill>
              </a:defRPr>
            </a:lvl8pPr>
            <a:lvl9pPr marL="3657576" indent="0">
              <a:buNone/>
              <a:defRPr sz="1600">
                <a:solidFill>
                  <a:schemeClr val="tx1">
                    <a:tint val="75000"/>
                  </a:schemeClr>
                </a:solidFill>
              </a:defRPr>
            </a:lvl9pPr>
          </a:lstStyle>
          <a:p>
            <a:pPr lvl="0"/>
            <a:r>
              <a:rPr lang="en-US" altLang="zh-CN"/>
              <a:t>Edit Master text styles</a:t>
            </a:r>
          </a:p>
        </p:txBody>
      </p:sp>
      <p:sp>
        <p:nvSpPr>
          <p:cNvPr id="4" name="Date Placeholder 3"/>
          <p:cNvSpPr>
            <a:spLocks noGrp="1"/>
          </p:cNvSpPr>
          <p:nvPr>
            <p:ph type="dt" sz="half" idx="10"/>
          </p:nvPr>
        </p:nvSpPr>
        <p:spPr/>
        <p:txBody>
          <a:bodyPr/>
          <a:lstStyle/>
          <a:p>
            <a:fld id="{F6C62BB0-1030-4CC0-9A75-2BC0B8E82711}" type="datetimeFigureOut">
              <a:rPr lang="zh-CN" altLang="en-US" smtClean="0"/>
              <a:t>2026/3/18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3433ED-42E1-4C0B-8EBC-4536D7EBF365}" type="slidenum">
              <a:rPr lang="zh-CN" altLang="en-US" smtClean="0"/>
              <a:t>‹#›</a:t>
            </a:fld>
            <a:endParaRPr lang="zh-CN" altLang="en-US"/>
          </a:p>
        </p:txBody>
      </p:sp>
    </p:spTree>
    <p:extLst>
      <p:ext uri="{BB962C8B-B14F-4D97-AF65-F5344CB8AC3E}">
        <p14:creationId xmlns:p14="http://schemas.microsoft.com/office/powerpoint/2010/main" val="18067844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838200" y="1825626"/>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6172201" y="1825626"/>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F6C62BB0-1030-4CC0-9A75-2BC0B8E82711}" type="datetimeFigureOut">
              <a:rPr lang="zh-CN" altLang="en-US" smtClean="0"/>
              <a:t>2026/3/18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F3433ED-42E1-4C0B-8EBC-4536D7EBF365}" type="slidenum">
              <a:rPr lang="zh-CN" altLang="en-US" smtClean="0"/>
              <a:t>‹#›</a:t>
            </a:fld>
            <a:endParaRPr lang="zh-CN" altLang="en-US"/>
          </a:p>
        </p:txBody>
      </p:sp>
    </p:spTree>
    <p:extLst>
      <p:ext uri="{BB962C8B-B14F-4D97-AF65-F5344CB8AC3E}">
        <p14:creationId xmlns:p14="http://schemas.microsoft.com/office/powerpoint/2010/main" val="6640807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197" indent="0">
              <a:buNone/>
              <a:defRPr sz="2000" b="1"/>
            </a:lvl2pPr>
            <a:lvl3pPr marL="914395" indent="0">
              <a:buNone/>
              <a:defRPr sz="1800" b="1"/>
            </a:lvl3pPr>
            <a:lvl4pPr marL="1371591" indent="0">
              <a:buNone/>
              <a:defRPr sz="1600" b="1"/>
            </a:lvl4pPr>
            <a:lvl5pPr marL="1828788" indent="0">
              <a:buNone/>
              <a:defRPr sz="1600" b="1"/>
            </a:lvl5pPr>
            <a:lvl6pPr marL="2285985" indent="0">
              <a:buNone/>
              <a:defRPr sz="1600" b="1"/>
            </a:lvl6pPr>
            <a:lvl7pPr marL="2743183" indent="0">
              <a:buNone/>
              <a:defRPr sz="1600" b="1"/>
            </a:lvl7pPr>
            <a:lvl8pPr marL="3200380" indent="0">
              <a:buNone/>
              <a:defRPr sz="1600" b="1"/>
            </a:lvl8pPr>
            <a:lvl9pPr marL="3657576" indent="0">
              <a:buNone/>
              <a:defRPr sz="1600" b="1"/>
            </a:lvl9pPr>
          </a:lstStyle>
          <a:p>
            <a:pPr lvl="0"/>
            <a:r>
              <a:rPr lang="en-US" altLang="zh-CN"/>
              <a:t>Edit Master text styles</a:t>
            </a:r>
          </a:p>
        </p:txBody>
      </p:sp>
      <p:sp>
        <p:nvSpPr>
          <p:cNvPr id="4" name="Content Placeholder 3"/>
          <p:cNvSpPr>
            <a:spLocks noGrp="1"/>
          </p:cNvSpPr>
          <p:nvPr>
            <p:ph sz="half" idx="2"/>
          </p:nvPr>
        </p:nvSpPr>
        <p:spPr>
          <a:xfrm>
            <a:off x="839788" y="2505076"/>
            <a:ext cx="5157787"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97" indent="0">
              <a:buNone/>
              <a:defRPr sz="2000" b="1"/>
            </a:lvl2pPr>
            <a:lvl3pPr marL="914395" indent="0">
              <a:buNone/>
              <a:defRPr sz="1800" b="1"/>
            </a:lvl3pPr>
            <a:lvl4pPr marL="1371591" indent="0">
              <a:buNone/>
              <a:defRPr sz="1600" b="1"/>
            </a:lvl4pPr>
            <a:lvl5pPr marL="1828788" indent="0">
              <a:buNone/>
              <a:defRPr sz="1600" b="1"/>
            </a:lvl5pPr>
            <a:lvl6pPr marL="2285985" indent="0">
              <a:buNone/>
              <a:defRPr sz="1600" b="1"/>
            </a:lvl6pPr>
            <a:lvl7pPr marL="2743183" indent="0">
              <a:buNone/>
              <a:defRPr sz="1600" b="1"/>
            </a:lvl7pPr>
            <a:lvl8pPr marL="3200380" indent="0">
              <a:buNone/>
              <a:defRPr sz="1600" b="1"/>
            </a:lvl8pPr>
            <a:lvl9pPr marL="3657576" indent="0">
              <a:buNone/>
              <a:defRPr sz="1600" b="1"/>
            </a:lvl9pPr>
          </a:lstStyle>
          <a:p>
            <a:pPr lvl="0"/>
            <a:r>
              <a:rPr lang="en-US" altLang="zh-CN"/>
              <a:t>Edit Master text styles</a:t>
            </a:r>
          </a:p>
        </p:txBody>
      </p:sp>
      <p:sp>
        <p:nvSpPr>
          <p:cNvPr id="6" name="Content Placeholder 5"/>
          <p:cNvSpPr>
            <a:spLocks noGrp="1"/>
          </p:cNvSpPr>
          <p:nvPr>
            <p:ph sz="quarter" idx="4"/>
          </p:nvPr>
        </p:nvSpPr>
        <p:spPr>
          <a:xfrm>
            <a:off x="6172201" y="2505076"/>
            <a:ext cx="5183188"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F6C62BB0-1030-4CC0-9A75-2BC0B8E82711}" type="datetimeFigureOut">
              <a:rPr lang="zh-CN" altLang="en-US" smtClean="0"/>
              <a:t>2026/3/18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F3433ED-42E1-4C0B-8EBC-4536D7EBF365}" type="slidenum">
              <a:rPr lang="zh-CN" altLang="en-US" smtClean="0"/>
              <a:t>‹#›</a:t>
            </a:fld>
            <a:endParaRPr lang="zh-CN" altLang="en-US"/>
          </a:p>
        </p:txBody>
      </p:sp>
    </p:spTree>
    <p:extLst>
      <p:ext uri="{BB962C8B-B14F-4D97-AF65-F5344CB8AC3E}">
        <p14:creationId xmlns:p14="http://schemas.microsoft.com/office/powerpoint/2010/main" val="38644043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F6C62BB0-1030-4CC0-9A75-2BC0B8E82711}" type="datetimeFigureOut">
              <a:rPr lang="zh-CN" altLang="en-US" smtClean="0"/>
              <a:t>2026/3/18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F3433ED-42E1-4C0B-8EBC-4536D7EBF365}" type="slidenum">
              <a:rPr lang="zh-CN" altLang="en-US" smtClean="0"/>
              <a:t>‹#›</a:t>
            </a:fld>
            <a:endParaRPr lang="zh-CN" altLang="en-US"/>
          </a:p>
        </p:txBody>
      </p:sp>
    </p:spTree>
    <p:extLst>
      <p:ext uri="{BB962C8B-B14F-4D97-AF65-F5344CB8AC3E}">
        <p14:creationId xmlns:p14="http://schemas.microsoft.com/office/powerpoint/2010/main" val="2527935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C62BB0-1030-4CC0-9A75-2BC0B8E82711}" type="datetimeFigureOut">
              <a:rPr lang="zh-CN" altLang="en-US" smtClean="0"/>
              <a:t>2026/3/18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F3433ED-42E1-4C0B-8EBC-4536D7EBF365}" type="slidenum">
              <a:rPr lang="zh-CN" altLang="en-US" smtClean="0"/>
              <a:t>‹#›</a:t>
            </a:fld>
            <a:endParaRPr lang="zh-CN" altLang="en-US"/>
          </a:p>
        </p:txBody>
      </p:sp>
    </p:spTree>
    <p:extLst>
      <p:ext uri="{BB962C8B-B14F-4D97-AF65-F5344CB8AC3E}">
        <p14:creationId xmlns:p14="http://schemas.microsoft.com/office/powerpoint/2010/main" val="22328480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1"/>
            <a:ext cx="3932237" cy="1600200"/>
          </a:xfrm>
        </p:spPr>
        <p:txBody>
          <a:bodyPr anchor="b"/>
          <a:lstStyle>
            <a:lvl1pPr>
              <a:defRPr sz="3200"/>
            </a:lvl1pPr>
          </a:lstStyle>
          <a:p>
            <a:r>
              <a:rPr lang="en-US" altLang="zh-CN"/>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97" indent="0">
              <a:buNone/>
              <a:defRPr sz="1400"/>
            </a:lvl2pPr>
            <a:lvl3pPr marL="914395" indent="0">
              <a:buNone/>
              <a:defRPr sz="1200"/>
            </a:lvl3pPr>
            <a:lvl4pPr marL="1371591" indent="0">
              <a:buNone/>
              <a:defRPr sz="1000"/>
            </a:lvl4pPr>
            <a:lvl5pPr marL="1828788" indent="0">
              <a:buNone/>
              <a:defRPr sz="1000"/>
            </a:lvl5pPr>
            <a:lvl6pPr marL="2285985" indent="0">
              <a:buNone/>
              <a:defRPr sz="1000"/>
            </a:lvl6pPr>
            <a:lvl7pPr marL="2743183" indent="0">
              <a:buNone/>
              <a:defRPr sz="1000"/>
            </a:lvl7pPr>
            <a:lvl8pPr marL="3200380" indent="0">
              <a:buNone/>
              <a:defRPr sz="1000"/>
            </a:lvl8pPr>
            <a:lvl9pPr marL="3657576" indent="0">
              <a:buNone/>
              <a:defRPr sz="1000"/>
            </a:lvl9pPr>
          </a:lstStyle>
          <a:p>
            <a:pPr lvl="0"/>
            <a:r>
              <a:rPr lang="en-US" altLang="zh-CN"/>
              <a:t>Edit Master text styles</a:t>
            </a:r>
          </a:p>
        </p:txBody>
      </p:sp>
      <p:sp>
        <p:nvSpPr>
          <p:cNvPr id="5" name="Date Placeholder 4"/>
          <p:cNvSpPr>
            <a:spLocks noGrp="1"/>
          </p:cNvSpPr>
          <p:nvPr>
            <p:ph type="dt" sz="half" idx="10"/>
          </p:nvPr>
        </p:nvSpPr>
        <p:spPr/>
        <p:txBody>
          <a:bodyPr/>
          <a:lstStyle/>
          <a:p>
            <a:fld id="{F6C62BB0-1030-4CC0-9A75-2BC0B8E82711}" type="datetimeFigureOut">
              <a:rPr lang="zh-CN" altLang="en-US" smtClean="0"/>
              <a:t>2026/3/18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F3433ED-42E1-4C0B-8EBC-4536D7EBF365}" type="slidenum">
              <a:rPr lang="zh-CN" altLang="en-US" smtClean="0"/>
              <a:t>‹#›</a:t>
            </a:fld>
            <a:endParaRPr lang="zh-CN" altLang="en-US"/>
          </a:p>
        </p:txBody>
      </p:sp>
    </p:spTree>
    <p:extLst>
      <p:ext uri="{BB962C8B-B14F-4D97-AF65-F5344CB8AC3E}">
        <p14:creationId xmlns:p14="http://schemas.microsoft.com/office/powerpoint/2010/main" val="119206269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1"/>
            <a:ext cx="3932237" cy="1600200"/>
          </a:xfrm>
        </p:spPr>
        <p:txBody>
          <a:bodyPr anchor="b"/>
          <a:lstStyle>
            <a:lvl1pPr>
              <a:defRPr sz="3200"/>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197" indent="0">
              <a:buNone/>
              <a:defRPr sz="2800"/>
            </a:lvl2pPr>
            <a:lvl3pPr marL="914395" indent="0">
              <a:buNone/>
              <a:defRPr sz="2400"/>
            </a:lvl3pPr>
            <a:lvl4pPr marL="1371591" indent="0">
              <a:buNone/>
              <a:defRPr sz="2000"/>
            </a:lvl4pPr>
            <a:lvl5pPr marL="1828788" indent="0">
              <a:buNone/>
              <a:defRPr sz="2000"/>
            </a:lvl5pPr>
            <a:lvl6pPr marL="2285985" indent="0">
              <a:buNone/>
              <a:defRPr sz="2000"/>
            </a:lvl6pPr>
            <a:lvl7pPr marL="2743183" indent="0">
              <a:buNone/>
              <a:defRPr sz="2000"/>
            </a:lvl7pPr>
            <a:lvl8pPr marL="3200380" indent="0">
              <a:buNone/>
              <a:defRPr sz="2000"/>
            </a:lvl8pPr>
            <a:lvl9pPr marL="3657576" indent="0">
              <a:buNone/>
              <a:defRPr sz="2000"/>
            </a:lvl9pPr>
          </a:lstStyle>
          <a:p>
            <a:r>
              <a:rPr lang="en-US" altLang="zh-CN"/>
              <a:t>Click icon to add picture</a:t>
            </a:r>
            <a:endParaRPr lang="en-US" dirty="0"/>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600"/>
            </a:lvl1pPr>
            <a:lvl2pPr marL="457197" indent="0">
              <a:buNone/>
              <a:defRPr sz="1400"/>
            </a:lvl2pPr>
            <a:lvl3pPr marL="914395" indent="0">
              <a:buNone/>
              <a:defRPr sz="1200"/>
            </a:lvl3pPr>
            <a:lvl4pPr marL="1371591" indent="0">
              <a:buNone/>
              <a:defRPr sz="1000"/>
            </a:lvl4pPr>
            <a:lvl5pPr marL="1828788" indent="0">
              <a:buNone/>
              <a:defRPr sz="1000"/>
            </a:lvl5pPr>
            <a:lvl6pPr marL="2285985" indent="0">
              <a:buNone/>
              <a:defRPr sz="1000"/>
            </a:lvl6pPr>
            <a:lvl7pPr marL="2743183" indent="0">
              <a:buNone/>
              <a:defRPr sz="1000"/>
            </a:lvl7pPr>
            <a:lvl8pPr marL="3200380" indent="0">
              <a:buNone/>
              <a:defRPr sz="1000"/>
            </a:lvl8pPr>
            <a:lvl9pPr marL="3657576" indent="0">
              <a:buNone/>
              <a:defRPr sz="1000"/>
            </a:lvl9pPr>
          </a:lstStyle>
          <a:p>
            <a:pPr lvl="0"/>
            <a:r>
              <a:rPr lang="en-US" altLang="zh-CN"/>
              <a:t>Edit Master text styles</a:t>
            </a:r>
          </a:p>
        </p:txBody>
      </p:sp>
      <p:sp>
        <p:nvSpPr>
          <p:cNvPr id="5" name="Date Placeholder 4"/>
          <p:cNvSpPr>
            <a:spLocks noGrp="1"/>
          </p:cNvSpPr>
          <p:nvPr>
            <p:ph type="dt" sz="half" idx="10"/>
          </p:nvPr>
        </p:nvSpPr>
        <p:spPr/>
        <p:txBody>
          <a:bodyPr/>
          <a:lstStyle/>
          <a:p>
            <a:fld id="{F6C62BB0-1030-4CC0-9A75-2BC0B8E82711}" type="datetimeFigureOut">
              <a:rPr lang="zh-CN" altLang="en-US" smtClean="0"/>
              <a:t>2026/3/18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F3433ED-42E1-4C0B-8EBC-4536D7EBF365}" type="slidenum">
              <a:rPr lang="zh-CN" altLang="en-US" smtClean="0"/>
              <a:t>‹#›</a:t>
            </a:fld>
            <a:endParaRPr lang="zh-CN" altLang="en-US"/>
          </a:p>
        </p:txBody>
      </p:sp>
    </p:spTree>
    <p:extLst>
      <p:ext uri="{BB962C8B-B14F-4D97-AF65-F5344CB8AC3E}">
        <p14:creationId xmlns:p14="http://schemas.microsoft.com/office/powerpoint/2010/main" val="31299917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F6C62BB0-1030-4CC0-9A75-2BC0B8E82711}" type="datetimeFigureOut">
              <a:rPr lang="zh-CN" altLang="en-US" smtClean="0"/>
              <a:t>2026/3/18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3433ED-42E1-4C0B-8EBC-4536D7EBF365}" type="slidenum">
              <a:rPr lang="zh-CN" altLang="en-US" smtClean="0"/>
              <a:t>‹#›</a:t>
            </a:fld>
            <a:endParaRPr lang="zh-CN" altLang="en-US"/>
          </a:p>
        </p:txBody>
      </p:sp>
    </p:spTree>
    <p:extLst>
      <p:ext uri="{BB962C8B-B14F-4D97-AF65-F5344CB8AC3E}">
        <p14:creationId xmlns:p14="http://schemas.microsoft.com/office/powerpoint/2010/main" val="15792299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F6C62BB0-1030-4CC0-9A75-2BC0B8E82711}" type="datetimeFigureOut">
              <a:rPr lang="zh-CN" altLang="en-US" smtClean="0"/>
              <a:t>2026/3/18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3433ED-42E1-4C0B-8EBC-4536D7EBF365}" type="slidenum">
              <a:rPr lang="zh-CN" altLang="en-US" smtClean="0"/>
              <a:t>‹#›</a:t>
            </a:fld>
            <a:endParaRPr lang="zh-CN" altLang="en-US"/>
          </a:p>
        </p:txBody>
      </p:sp>
    </p:spTree>
    <p:extLst>
      <p:ext uri="{BB962C8B-B14F-4D97-AF65-F5344CB8AC3E}">
        <p14:creationId xmlns:p14="http://schemas.microsoft.com/office/powerpoint/2010/main" val="2921049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FE0A8D-B655-4CDD-AFA9-696B9E4307F7}" type="datetimeFigureOut">
              <a:rPr lang="en-US" smtClean="0"/>
              <a:t>3/18/2026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17D1B5-71C9-47EF-AA50-4B18E75D29F8}" type="slidenum">
              <a:rPr lang="en-US" smtClean="0"/>
              <a:t>‹#›</a:t>
            </a:fld>
            <a:endParaRPr lang="en-US"/>
          </a:p>
        </p:txBody>
      </p:sp>
    </p:spTree>
    <p:extLst>
      <p:ext uri="{BB962C8B-B14F-4D97-AF65-F5344CB8AC3E}">
        <p14:creationId xmlns:p14="http://schemas.microsoft.com/office/powerpoint/2010/main" val="31325754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838200" y="1825626"/>
            <a:ext cx="10515600" cy="4351338"/>
          </a:xfrm>
          <a:prstGeom prst="rect">
            <a:avLst/>
          </a:prstGeom>
        </p:spPr>
        <p:txBody>
          <a:bodyPr vert="horz" lIns="91440" tIns="45720" rIns="91440" bIns="45720" rtlCol="0">
            <a:normAutofit/>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C62BB0-1030-4CC0-9A75-2BC0B8E82711}" type="datetimeFigureOut">
              <a:rPr lang="zh-CN" altLang="en-US" smtClean="0"/>
              <a:t>2026/3/18</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3433ED-42E1-4C0B-8EBC-4536D7EBF365}" type="slidenum">
              <a:rPr lang="zh-CN" altLang="en-US" smtClean="0"/>
              <a:t>‹#›</a:t>
            </a:fld>
            <a:endParaRPr lang="zh-CN" altLang="en-US"/>
          </a:p>
        </p:txBody>
      </p:sp>
    </p:spTree>
    <p:extLst>
      <p:ext uri="{BB962C8B-B14F-4D97-AF65-F5344CB8AC3E}">
        <p14:creationId xmlns:p14="http://schemas.microsoft.com/office/powerpoint/2010/main" val="6283786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395"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9" indent="-228599" algn="l" defTabSz="914395"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96" indent="-228599" algn="l" defTabSz="914395"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93" indent="-228599" algn="l" defTabSz="914395"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89" indent="-228599" algn="l" defTabSz="91439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87" indent="-228599" algn="l" defTabSz="91439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84" indent="-228599" algn="l" defTabSz="91439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81" indent="-228599" algn="l" defTabSz="91439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78" indent="-228599" algn="l" defTabSz="91439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75" indent="-228599" algn="l" defTabSz="91439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95" rtl="0" eaLnBrk="1" latinLnBrk="0" hangingPunct="1">
        <a:defRPr sz="1800" kern="1200">
          <a:solidFill>
            <a:schemeClr val="tx1"/>
          </a:solidFill>
          <a:latin typeface="+mn-lt"/>
          <a:ea typeface="+mn-ea"/>
          <a:cs typeface="+mn-cs"/>
        </a:defRPr>
      </a:lvl1pPr>
      <a:lvl2pPr marL="457197" algn="l" defTabSz="914395" rtl="0" eaLnBrk="1" latinLnBrk="0" hangingPunct="1">
        <a:defRPr sz="1800" kern="1200">
          <a:solidFill>
            <a:schemeClr val="tx1"/>
          </a:solidFill>
          <a:latin typeface="+mn-lt"/>
          <a:ea typeface="+mn-ea"/>
          <a:cs typeface="+mn-cs"/>
        </a:defRPr>
      </a:lvl2pPr>
      <a:lvl3pPr marL="914395" algn="l" defTabSz="914395" rtl="0" eaLnBrk="1" latinLnBrk="0" hangingPunct="1">
        <a:defRPr sz="1800" kern="1200">
          <a:solidFill>
            <a:schemeClr val="tx1"/>
          </a:solidFill>
          <a:latin typeface="+mn-lt"/>
          <a:ea typeface="+mn-ea"/>
          <a:cs typeface="+mn-cs"/>
        </a:defRPr>
      </a:lvl3pPr>
      <a:lvl4pPr marL="1371591" algn="l" defTabSz="914395" rtl="0" eaLnBrk="1" latinLnBrk="0" hangingPunct="1">
        <a:defRPr sz="1800" kern="1200">
          <a:solidFill>
            <a:schemeClr val="tx1"/>
          </a:solidFill>
          <a:latin typeface="+mn-lt"/>
          <a:ea typeface="+mn-ea"/>
          <a:cs typeface="+mn-cs"/>
        </a:defRPr>
      </a:lvl4pPr>
      <a:lvl5pPr marL="1828788" algn="l" defTabSz="914395" rtl="0" eaLnBrk="1" latinLnBrk="0" hangingPunct="1">
        <a:defRPr sz="1800" kern="1200">
          <a:solidFill>
            <a:schemeClr val="tx1"/>
          </a:solidFill>
          <a:latin typeface="+mn-lt"/>
          <a:ea typeface="+mn-ea"/>
          <a:cs typeface="+mn-cs"/>
        </a:defRPr>
      </a:lvl5pPr>
      <a:lvl6pPr marL="2285985" algn="l" defTabSz="914395" rtl="0" eaLnBrk="1" latinLnBrk="0" hangingPunct="1">
        <a:defRPr sz="1800" kern="1200">
          <a:solidFill>
            <a:schemeClr val="tx1"/>
          </a:solidFill>
          <a:latin typeface="+mn-lt"/>
          <a:ea typeface="+mn-ea"/>
          <a:cs typeface="+mn-cs"/>
        </a:defRPr>
      </a:lvl6pPr>
      <a:lvl7pPr marL="2743183" algn="l" defTabSz="914395" rtl="0" eaLnBrk="1" latinLnBrk="0" hangingPunct="1">
        <a:defRPr sz="1800" kern="1200">
          <a:solidFill>
            <a:schemeClr val="tx1"/>
          </a:solidFill>
          <a:latin typeface="+mn-lt"/>
          <a:ea typeface="+mn-ea"/>
          <a:cs typeface="+mn-cs"/>
        </a:defRPr>
      </a:lvl7pPr>
      <a:lvl8pPr marL="3200380" algn="l" defTabSz="914395" rtl="0" eaLnBrk="1" latinLnBrk="0" hangingPunct="1">
        <a:defRPr sz="1800" kern="1200">
          <a:solidFill>
            <a:schemeClr val="tx1"/>
          </a:solidFill>
          <a:latin typeface="+mn-lt"/>
          <a:ea typeface="+mn-ea"/>
          <a:cs typeface="+mn-cs"/>
        </a:defRPr>
      </a:lvl8pPr>
      <a:lvl9pPr marL="3657576" algn="l" defTabSz="91439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096855"/>
          </a:xfrm>
        </p:spPr>
        <p:txBody>
          <a:bodyPr/>
          <a:lstStyle/>
          <a:p>
            <a:r>
              <a:rPr lang="en-US" dirty="0"/>
              <a:t>Lab 4 Tasks</a:t>
            </a:r>
          </a:p>
        </p:txBody>
      </p:sp>
      <p:sp>
        <p:nvSpPr>
          <p:cNvPr id="3" name="Subtitle 2"/>
          <p:cNvSpPr>
            <a:spLocks noGrp="1"/>
          </p:cNvSpPr>
          <p:nvPr>
            <p:ph type="subTitle" idx="1"/>
          </p:nvPr>
        </p:nvSpPr>
        <p:spPr>
          <a:xfrm>
            <a:off x="1524000" y="3585681"/>
            <a:ext cx="9144000" cy="1672119"/>
          </a:xfrm>
        </p:spPr>
        <p:txBody>
          <a:bodyPr/>
          <a:lstStyle/>
          <a:p>
            <a:r>
              <a:rPr lang="en-US" dirty="0"/>
              <a:t>Advanced Software Development Workshop</a:t>
            </a:r>
          </a:p>
          <a:p>
            <a:r>
              <a:rPr lang="en-US" dirty="0"/>
              <a:t>Spring 2026</a:t>
            </a:r>
          </a:p>
        </p:txBody>
      </p:sp>
    </p:spTree>
    <p:extLst>
      <p:ext uri="{BB962C8B-B14F-4D97-AF65-F5344CB8AC3E}">
        <p14:creationId xmlns:p14="http://schemas.microsoft.com/office/powerpoint/2010/main" val="96989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920751"/>
          </a:xfrm>
        </p:spPr>
        <p:txBody>
          <a:bodyPr/>
          <a:lstStyle/>
          <a:p>
            <a:r>
              <a:rPr lang="en-US" dirty="0"/>
              <a:t>Main Tasks</a:t>
            </a:r>
          </a:p>
        </p:txBody>
      </p:sp>
      <p:sp>
        <p:nvSpPr>
          <p:cNvPr id="3" name="Content Placeholder 2"/>
          <p:cNvSpPr>
            <a:spLocks noGrp="1"/>
          </p:cNvSpPr>
          <p:nvPr>
            <p:ph idx="1"/>
          </p:nvPr>
        </p:nvSpPr>
        <p:spPr>
          <a:xfrm>
            <a:off x="838200" y="1400175"/>
            <a:ext cx="10515600" cy="4776788"/>
          </a:xfrm>
        </p:spPr>
        <p:txBody>
          <a:bodyPr/>
          <a:lstStyle/>
          <a:p>
            <a:pPr marL="514350" lvl="0" indent="-514350" latinLnBrk="1">
              <a:buFont typeface="+mj-lt"/>
              <a:buAutoNum type="arabicPeriod"/>
            </a:pPr>
            <a:r>
              <a:rPr lang="en-US" altLang="zh-CN" dirty="0">
                <a:ea typeface="SimSun" pitchFamily="2" charset="-122"/>
              </a:rPr>
              <a:t>Teacher review feedback from last week</a:t>
            </a:r>
          </a:p>
          <a:p>
            <a:pPr marL="914400" lvl="1" indent="-457200" latinLnBrk="1">
              <a:buFont typeface="+mj-lt"/>
              <a:buAutoNum type="alphaUcPeriod"/>
            </a:pPr>
            <a:r>
              <a:rPr lang="en-US" altLang="zh-CN" dirty="0">
                <a:ea typeface="SimSun" pitchFamily="2" charset="-122"/>
              </a:rPr>
              <a:t>SRS partial documents</a:t>
            </a:r>
          </a:p>
          <a:p>
            <a:pPr marL="914400" lvl="1" indent="-457200" latinLnBrk="1">
              <a:buFont typeface="+mj-lt"/>
              <a:buAutoNum type="alphaUcPeriod"/>
            </a:pPr>
            <a:r>
              <a:rPr lang="en-US" altLang="zh-CN" dirty="0">
                <a:ea typeface="SimSun" pitchFamily="2" charset="-122"/>
              </a:rPr>
              <a:t>Environment diagram (context model) and use case diagram</a:t>
            </a:r>
          </a:p>
          <a:p>
            <a:pPr marL="514350" lvl="0" indent="-514350" latinLnBrk="1">
              <a:buFont typeface="+mj-lt"/>
              <a:buAutoNum type="arabicPeriod"/>
            </a:pPr>
            <a:r>
              <a:rPr lang="en-US" altLang="zh-CN" dirty="0">
                <a:ea typeface="SimSun" pitchFamily="2" charset="-122"/>
              </a:rPr>
              <a:t>Teacher explain Section 3 and 4.1</a:t>
            </a:r>
          </a:p>
          <a:p>
            <a:pPr marL="457200" lvl="1" indent="0" latinLnBrk="1">
              <a:buNone/>
            </a:pPr>
            <a:r>
              <a:rPr lang="en-US" altLang="zh-CN" dirty="0">
                <a:ea typeface="SimSun" pitchFamily="2" charset="-122"/>
              </a:rPr>
              <a:t>Updated version of Long Project Description, v1.1</a:t>
            </a:r>
            <a:endParaRPr lang="zh-CN" altLang="en-US" dirty="0"/>
          </a:p>
          <a:p>
            <a:pPr marL="514350" lvl="0" indent="-514350" latinLnBrk="1">
              <a:buFont typeface="+mj-lt"/>
              <a:buAutoNum type="arabicPeriod"/>
            </a:pPr>
            <a:r>
              <a:rPr lang="en-US" altLang="zh-CN" dirty="0">
                <a:ea typeface="SimSun" pitchFamily="2" charset="-122"/>
              </a:rPr>
              <a:t>Students </a:t>
            </a:r>
          </a:p>
          <a:p>
            <a:pPr marL="971550" lvl="1" indent="-514350" latinLnBrk="1">
              <a:buFont typeface="+mj-lt"/>
              <a:buAutoNum type="alphaUcPeriod"/>
            </a:pPr>
            <a:r>
              <a:rPr lang="en-US" altLang="zh-CN" dirty="0">
                <a:ea typeface="SimSun" pitchFamily="2" charset="-122"/>
              </a:rPr>
              <a:t>Update SRS partial documents according to feedback.</a:t>
            </a:r>
          </a:p>
          <a:p>
            <a:pPr marL="971550" lvl="1" indent="-514350" latinLnBrk="1">
              <a:buFont typeface="+mj-lt"/>
              <a:buAutoNum type="alphaUcPeriod"/>
            </a:pPr>
            <a:r>
              <a:rPr lang="en-US" altLang="zh-CN" dirty="0">
                <a:ea typeface="SimSun" pitchFamily="2" charset="-122"/>
              </a:rPr>
              <a:t>Create state transition diagrams and user interfaces for the specified cases.</a:t>
            </a:r>
          </a:p>
          <a:p>
            <a:pPr marL="971550" lvl="1" indent="-514350" latinLnBrk="1">
              <a:buFont typeface="+mj-lt"/>
              <a:buAutoNum type="alphaUcPeriod"/>
            </a:pPr>
            <a:r>
              <a:rPr lang="en-US" altLang="zh-CN" dirty="0">
                <a:ea typeface="SimSun" pitchFamily="2" charset="-122"/>
              </a:rPr>
              <a:t>Create a scenario for each of the specified cases. </a:t>
            </a:r>
          </a:p>
        </p:txBody>
      </p:sp>
    </p:spTree>
    <p:extLst>
      <p:ext uri="{BB962C8B-B14F-4D97-AF65-F5344CB8AC3E}">
        <p14:creationId xmlns:p14="http://schemas.microsoft.com/office/powerpoint/2010/main" val="3535389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AE2F80-0887-E7D8-F363-AB491046899E}"/>
              </a:ext>
            </a:extLst>
          </p:cNvPr>
          <p:cNvSpPr>
            <a:spLocks noGrp="1"/>
          </p:cNvSpPr>
          <p:nvPr>
            <p:ph type="title"/>
          </p:nvPr>
        </p:nvSpPr>
        <p:spPr/>
        <p:txBody>
          <a:bodyPr/>
          <a:lstStyle/>
          <a:p>
            <a:r>
              <a:rPr lang="en-US" altLang="zh-CN" dirty="0"/>
              <a:t>Feedback on </a:t>
            </a:r>
            <a:r>
              <a:rPr lang="en-US" altLang="zh-CN" dirty="0">
                <a:solidFill>
                  <a:srgbClr val="FF0000"/>
                </a:solidFill>
              </a:rPr>
              <a:t>Context Model</a:t>
            </a:r>
            <a:endParaRPr lang="zh-CN" altLang="en-US" dirty="0">
              <a:solidFill>
                <a:srgbClr val="FF0000"/>
              </a:solidFill>
            </a:endParaRPr>
          </a:p>
        </p:txBody>
      </p:sp>
      <p:sp>
        <p:nvSpPr>
          <p:cNvPr id="6" name="文本框 5">
            <a:extLst>
              <a:ext uri="{FF2B5EF4-FFF2-40B4-BE49-F238E27FC236}">
                <a16:creationId xmlns:a16="http://schemas.microsoft.com/office/drawing/2014/main" id="{0A7BF20D-3170-4F9F-2A15-DE1A21C2E367}"/>
              </a:ext>
            </a:extLst>
          </p:cNvPr>
          <p:cNvSpPr txBox="1"/>
          <p:nvPr/>
        </p:nvSpPr>
        <p:spPr>
          <a:xfrm>
            <a:off x="838200" y="1690711"/>
            <a:ext cx="10324184" cy="1697068"/>
          </a:xfrm>
          <a:prstGeom prst="rect">
            <a:avLst/>
          </a:prstGeom>
          <a:noFill/>
        </p:spPr>
        <p:txBody>
          <a:bodyPr wrap="square">
            <a:spAutoFit/>
          </a:bodyPr>
          <a:lstStyle/>
          <a:p>
            <a:pPr marL="296266" indent="-296266" algn="just">
              <a:lnSpc>
                <a:spcPct val="150000"/>
              </a:lnSpc>
              <a:buFont typeface="Arial" panose="020B0604020202020204" pitchFamily="34" charset="0"/>
              <a:buChar char="•"/>
            </a:pPr>
            <a:r>
              <a:rPr lang="en-US" altLang="zh-CN" sz="2400" kern="100" dirty="0">
                <a:ea typeface="等线" panose="02010600030101010101" pitchFamily="2" charset="-122"/>
                <a:cs typeface="Times New Roman" panose="02020603050405020304" pitchFamily="18" charset="0"/>
              </a:rPr>
              <a:t>All components should be chosen from the given candidate list in the task ppt.</a:t>
            </a:r>
            <a:endParaRPr lang="zh-CN" altLang="zh-CN" sz="2400" kern="100" dirty="0">
              <a:ea typeface="等线" panose="02010600030101010101" pitchFamily="2" charset="-122"/>
              <a:cs typeface="Times New Roman" panose="02020603050405020304" pitchFamily="18" charset="0"/>
            </a:endParaRPr>
          </a:p>
          <a:p>
            <a:pPr marL="296266" indent="-296266" algn="just">
              <a:lnSpc>
                <a:spcPct val="150000"/>
              </a:lnSpc>
              <a:buFont typeface="Arial" panose="020B0604020202020204" pitchFamily="34" charset="0"/>
              <a:buChar char="•"/>
            </a:pPr>
            <a:r>
              <a:rPr lang="en-US" altLang="zh-CN" sz="2400" kern="100" dirty="0">
                <a:ea typeface="等线" panose="02010600030101010101" pitchFamily="2" charset="-122"/>
                <a:cs typeface="Times New Roman" panose="02020603050405020304" pitchFamily="18" charset="0"/>
              </a:rPr>
              <a:t>Only login, MCS and BNBU user database should be included in the diagram.</a:t>
            </a:r>
          </a:p>
          <a:p>
            <a:pPr marL="296266" indent="-296266" algn="just">
              <a:lnSpc>
                <a:spcPct val="150000"/>
              </a:lnSpc>
              <a:buFont typeface="Arial" panose="020B0604020202020204" pitchFamily="34" charset="0"/>
              <a:buChar char="•"/>
            </a:pPr>
            <a:r>
              <a:rPr lang="en-US" altLang="zh-CN" sz="2400" kern="100" dirty="0">
                <a:ea typeface="等线" panose="02010600030101010101" pitchFamily="2" charset="-122"/>
                <a:cs typeface="Times New Roman" panose="02020603050405020304" pitchFamily="18" charset="0"/>
              </a:rPr>
              <a:t>Some groups did not specify the boundary in the diagram.</a:t>
            </a:r>
            <a:endParaRPr lang="zh-CN" altLang="zh-CN" sz="2400" kern="100" dirty="0">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90995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B4494-61E1-CC0F-DA65-43FA0109D95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C72C792-2695-56AD-F5EB-FC35E54788E2}"/>
              </a:ext>
            </a:extLst>
          </p:cNvPr>
          <p:cNvSpPr>
            <a:spLocks noGrp="1"/>
          </p:cNvSpPr>
          <p:nvPr>
            <p:ph type="title"/>
          </p:nvPr>
        </p:nvSpPr>
        <p:spPr/>
        <p:txBody>
          <a:bodyPr/>
          <a:lstStyle/>
          <a:p>
            <a:r>
              <a:rPr lang="en-US" altLang="zh-CN" dirty="0"/>
              <a:t>Feedback on </a:t>
            </a:r>
            <a:r>
              <a:rPr lang="en-US" altLang="zh-CN" dirty="0">
                <a:solidFill>
                  <a:srgbClr val="FF0000"/>
                </a:solidFill>
              </a:rPr>
              <a:t>Use Case Diagram</a:t>
            </a:r>
            <a:endParaRPr lang="zh-CN" altLang="en-US" dirty="0">
              <a:solidFill>
                <a:srgbClr val="FF0000"/>
              </a:solidFill>
            </a:endParaRPr>
          </a:p>
        </p:txBody>
      </p:sp>
      <p:sp>
        <p:nvSpPr>
          <p:cNvPr id="4" name="文本框 3">
            <a:extLst>
              <a:ext uri="{FF2B5EF4-FFF2-40B4-BE49-F238E27FC236}">
                <a16:creationId xmlns:a16="http://schemas.microsoft.com/office/drawing/2014/main" id="{2DA16472-76EC-5F2B-088F-A85D9C0BFEF5}"/>
              </a:ext>
            </a:extLst>
          </p:cNvPr>
          <p:cNvSpPr txBox="1"/>
          <p:nvPr/>
        </p:nvSpPr>
        <p:spPr>
          <a:xfrm>
            <a:off x="710775" y="1486831"/>
            <a:ext cx="10324184" cy="2897396"/>
          </a:xfrm>
          <a:prstGeom prst="rect">
            <a:avLst/>
          </a:prstGeom>
          <a:noFill/>
        </p:spPr>
        <p:txBody>
          <a:bodyPr wrap="square">
            <a:spAutoFit/>
          </a:bodyPr>
          <a:lstStyle/>
          <a:p>
            <a:pPr marL="296266" indent="-296266" algn="just" defTabSz="395021">
              <a:lnSpc>
                <a:spcPct val="150000"/>
              </a:lnSpc>
              <a:buFont typeface="Wingdings" panose="05000000000000000000" pitchFamily="2" charset="2"/>
              <a:buChar char="Ø"/>
            </a:pPr>
            <a:r>
              <a:rPr lang="en-US" altLang="zh-CN" sz="2800" kern="100" dirty="0">
                <a:solidFill>
                  <a:prstClr val="black"/>
                </a:solidFill>
                <a:ea typeface="等线" panose="02010600030101010101" pitchFamily="2" charset="-122"/>
                <a:cs typeface="Times New Roman" panose="02020603050405020304" pitchFamily="18" charset="0"/>
              </a:rPr>
              <a:t>Completeness</a:t>
            </a:r>
            <a:endParaRPr lang="en-US" altLang="zh-CN" sz="2400" kern="100" dirty="0">
              <a:solidFill>
                <a:prstClr val="black"/>
              </a:solidFill>
              <a:ea typeface="等线" panose="02010600030101010101" pitchFamily="2" charset="-122"/>
              <a:cs typeface="Times New Roman" panose="02020603050405020304" pitchFamily="18" charset="0"/>
            </a:endParaRP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Most groups did well</a:t>
            </a: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Some missed login</a:t>
            </a: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Several groups missed supporting staff</a:t>
            </a: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Some groups missed some use cases</a:t>
            </a:r>
          </a:p>
        </p:txBody>
      </p:sp>
    </p:spTree>
    <p:extLst>
      <p:ext uri="{BB962C8B-B14F-4D97-AF65-F5344CB8AC3E}">
        <p14:creationId xmlns:p14="http://schemas.microsoft.com/office/powerpoint/2010/main" val="3096164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14B9-A26C-0EE9-B1DB-F3721518101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A8602C7-42C1-0B98-CB8C-A5AAF8F449A7}"/>
              </a:ext>
            </a:extLst>
          </p:cNvPr>
          <p:cNvSpPr>
            <a:spLocks noGrp="1"/>
          </p:cNvSpPr>
          <p:nvPr>
            <p:ph type="title"/>
          </p:nvPr>
        </p:nvSpPr>
        <p:spPr/>
        <p:txBody>
          <a:bodyPr/>
          <a:lstStyle/>
          <a:p>
            <a:r>
              <a:rPr lang="en-US" altLang="zh-CN" dirty="0"/>
              <a:t>Feedback on </a:t>
            </a:r>
            <a:r>
              <a:rPr lang="en-US" altLang="zh-CN" dirty="0">
                <a:solidFill>
                  <a:srgbClr val="FF0000"/>
                </a:solidFill>
              </a:rPr>
              <a:t>Use Case Diagram</a:t>
            </a:r>
            <a:endParaRPr lang="zh-CN" altLang="en-US" dirty="0">
              <a:solidFill>
                <a:srgbClr val="FF0000"/>
              </a:solidFill>
            </a:endParaRPr>
          </a:p>
        </p:txBody>
      </p:sp>
      <p:sp>
        <p:nvSpPr>
          <p:cNvPr id="4" name="文本框 3">
            <a:extLst>
              <a:ext uri="{FF2B5EF4-FFF2-40B4-BE49-F238E27FC236}">
                <a16:creationId xmlns:a16="http://schemas.microsoft.com/office/drawing/2014/main" id="{94F1DB5B-278D-81E6-2866-2A9858127856}"/>
              </a:ext>
            </a:extLst>
          </p:cNvPr>
          <p:cNvSpPr txBox="1"/>
          <p:nvPr/>
        </p:nvSpPr>
        <p:spPr>
          <a:xfrm>
            <a:off x="634320" y="1461347"/>
            <a:ext cx="10821139" cy="4005392"/>
          </a:xfrm>
          <a:prstGeom prst="rect">
            <a:avLst/>
          </a:prstGeom>
          <a:noFill/>
        </p:spPr>
        <p:txBody>
          <a:bodyPr wrap="square">
            <a:spAutoFit/>
          </a:bodyPr>
          <a:lstStyle/>
          <a:p>
            <a:pPr marL="296266" indent="-296266" algn="just" defTabSz="395021">
              <a:lnSpc>
                <a:spcPct val="150000"/>
              </a:lnSpc>
              <a:buFont typeface="Wingdings" panose="05000000000000000000" pitchFamily="2" charset="2"/>
              <a:buChar char="Ø"/>
            </a:pPr>
            <a:r>
              <a:rPr lang="en-US" altLang="zh-CN" sz="2800" kern="100" dirty="0">
                <a:solidFill>
                  <a:prstClr val="black"/>
                </a:solidFill>
                <a:ea typeface="等线" panose="02010600030101010101" pitchFamily="2" charset="-122"/>
                <a:cs typeface="Times New Roman" panose="02020603050405020304" pitchFamily="18" charset="0"/>
              </a:rPr>
              <a:t>Consistency</a:t>
            </a:r>
            <a:endParaRPr lang="en-US" altLang="zh-CN" sz="2400" kern="100" dirty="0">
              <a:solidFill>
                <a:prstClr val="black"/>
              </a:solidFill>
              <a:ea typeface="等线" panose="02010600030101010101" pitchFamily="2" charset="-122"/>
              <a:cs typeface="Times New Roman" panose="02020603050405020304" pitchFamily="18" charset="0"/>
            </a:endParaRP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Most groups did well</a:t>
            </a: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Some incorrect extensions</a:t>
            </a: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Some incorrect inheritance between use cases: </a:t>
            </a:r>
          </a:p>
          <a:p>
            <a:pPr marL="1148486" lvl="2"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Add, Delete and Modify cannot inherit Edit or Manage members,</a:t>
            </a: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Login should be included by all use cases</a:t>
            </a:r>
            <a:endParaRPr lang="zh-CN" altLang="zh-CN" sz="2400" kern="100" dirty="0">
              <a:solidFill>
                <a:prstClr val="black"/>
              </a:solidFill>
              <a:ea typeface="等线" panose="02010600030101010101" pitchFamily="2" charset="-122"/>
              <a:cs typeface="Times New Roman" panose="02020603050405020304" pitchFamily="18" charset="0"/>
            </a:endParaRP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Nouns should not be use cases</a:t>
            </a:r>
            <a:endParaRPr lang="zh-CN" altLang="zh-CN" sz="2400" kern="100" dirty="0">
              <a:solidFill>
                <a:prstClr val="black"/>
              </a:solidFill>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3522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FC0EE-486C-9E02-9A64-15C3E4C4A87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1FACD5D-ECA1-B9CE-8F95-0FE9F4217CB7}"/>
              </a:ext>
            </a:extLst>
          </p:cNvPr>
          <p:cNvSpPr>
            <a:spLocks noGrp="1"/>
          </p:cNvSpPr>
          <p:nvPr>
            <p:ph type="title"/>
          </p:nvPr>
        </p:nvSpPr>
        <p:spPr>
          <a:xfrm>
            <a:off x="838200" y="387159"/>
            <a:ext cx="10515600" cy="1325563"/>
          </a:xfrm>
        </p:spPr>
        <p:txBody>
          <a:bodyPr/>
          <a:lstStyle/>
          <a:p>
            <a:r>
              <a:rPr lang="en-US" altLang="zh-CN" dirty="0"/>
              <a:t>Feedback on </a:t>
            </a:r>
            <a:r>
              <a:rPr lang="en-US" altLang="zh-CN" dirty="0">
                <a:solidFill>
                  <a:srgbClr val="FF0000"/>
                </a:solidFill>
              </a:rPr>
              <a:t>Use Case Diagram</a:t>
            </a:r>
            <a:endParaRPr lang="zh-CN" altLang="en-US" dirty="0">
              <a:solidFill>
                <a:srgbClr val="FF0000"/>
              </a:solidFill>
            </a:endParaRPr>
          </a:p>
        </p:txBody>
      </p:sp>
      <p:sp>
        <p:nvSpPr>
          <p:cNvPr id="4" name="文本框 3">
            <a:extLst>
              <a:ext uri="{FF2B5EF4-FFF2-40B4-BE49-F238E27FC236}">
                <a16:creationId xmlns:a16="http://schemas.microsoft.com/office/drawing/2014/main" id="{EB2C820C-405A-E755-4F19-56067563E4AB}"/>
              </a:ext>
            </a:extLst>
          </p:cNvPr>
          <p:cNvSpPr txBox="1"/>
          <p:nvPr/>
        </p:nvSpPr>
        <p:spPr>
          <a:xfrm>
            <a:off x="838200" y="1690710"/>
            <a:ext cx="10324184" cy="3451394"/>
          </a:xfrm>
          <a:prstGeom prst="rect">
            <a:avLst/>
          </a:prstGeom>
          <a:noFill/>
        </p:spPr>
        <p:txBody>
          <a:bodyPr wrap="square">
            <a:spAutoFit/>
          </a:bodyPr>
          <a:lstStyle/>
          <a:p>
            <a:pPr marL="296266" indent="-296266" algn="just" defTabSz="395021">
              <a:lnSpc>
                <a:spcPct val="150000"/>
              </a:lnSpc>
              <a:buFont typeface="Wingdings" panose="05000000000000000000" pitchFamily="2" charset="2"/>
              <a:buChar char="Ø"/>
            </a:pPr>
            <a:r>
              <a:rPr lang="en-US" altLang="zh-CN" sz="2800" kern="100" dirty="0">
                <a:solidFill>
                  <a:prstClr val="black"/>
                </a:solidFill>
                <a:ea typeface="等线" panose="02010600030101010101" pitchFamily="2" charset="-122"/>
                <a:cs typeface="Times New Roman" panose="02020603050405020304" pitchFamily="18" charset="0"/>
              </a:rPr>
              <a:t>Redundancy</a:t>
            </a: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Communicate use case include receiving message and making appointments</a:t>
            </a:r>
            <a:endParaRPr lang="zh-CN" altLang="zh-CN" sz="2400" kern="100" dirty="0">
              <a:solidFill>
                <a:prstClr val="black"/>
              </a:solidFill>
              <a:ea typeface="等线" panose="02010600030101010101" pitchFamily="2" charset="-122"/>
              <a:cs typeface="Times New Roman" panose="02020603050405020304" pitchFamily="18" charset="0"/>
            </a:endParaRP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Delete, Add, Modify are contained in the use case Edit</a:t>
            </a:r>
            <a:endParaRPr lang="zh-CN" altLang="zh-CN" sz="2400" kern="100" dirty="0">
              <a:solidFill>
                <a:prstClr val="black"/>
              </a:solidFill>
              <a:ea typeface="等线" panose="02010600030101010101" pitchFamily="2" charset="-122"/>
              <a:cs typeface="Times New Roman" panose="02020603050405020304" pitchFamily="18" charset="0"/>
            </a:endParaRP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Edit and Search include View</a:t>
            </a:r>
            <a:endParaRPr lang="zh-CN" altLang="zh-CN" sz="2400" kern="100" dirty="0">
              <a:solidFill>
                <a:prstClr val="black"/>
              </a:solidFill>
              <a:ea typeface="等线" panose="02010600030101010101" pitchFamily="2" charset="-122"/>
              <a:cs typeface="Times New Roman" panose="02020603050405020304" pitchFamily="18" charset="0"/>
            </a:endParaRPr>
          </a:p>
          <a:p>
            <a:pPr marL="691286"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Some groups gave </a:t>
            </a:r>
            <a:r>
              <a:rPr lang="en-US" altLang="zh-CN" sz="2400" kern="100" dirty="0">
                <a:solidFill>
                  <a:srgbClr val="FF0000"/>
                </a:solidFill>
                <a:ea typeface="等线" panose="02010600030101010101" pitchFamily="2" charset="-122"/>
                <a:cs typeface="Times New Roman" panose="02020603050405020304" pitchFamily="18" charset="0"/>
              </a:rPr>
              <a:t>too much detailed in </a:t>
            </a:r>
            <a:r>
              <a:rPr lang="en-US" altLang="zh-CN" sz="2400" kern="100" dirty="0">
                <a:solidFill>
                  <a:prstClr val="black"/>
                </a:solidFill>
                <a:ea typeface="等线" panose="02010600030101010101" pitchFamily="2" charset="-122"/>
                <a:cs typeface="Times New Roman" panose="02020603050405020304" pitchFamily="18" charset="0"/>
              </a:rPr>
              <a:t>operations; use cases should be </a:t>
            </a:r>
            <a:r>
              <a:rPr lang="en-US" altLang="zh-CN" sz="2400" kern="100" dirty="0">
                <a:solidFill>
                  <a:srgbClr val="FF0000"/>
                </a:solidFill>
                <a:ea typeface="等线" panose="02010600030101010101" pitchFamily="2" charset="-122"/>
                <a:cs typeface="Times New Roman" panose="02020603050405020304" pitchFamily="18" charset="0"/>
              </a:rPr>
              <a:t>main goals</a:t>
            </a:r>
            <a:endParaRPr lang="zh-CN" altLang="zh-CN" sz="2400" kern="100" dirty="0">
              <a:solidFill>
                <a:srgbClr val="FF0000"/>
              </a:solidFill>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21431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74D65-4979-51C3-F498-682F523BB13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C041EA2-5C7E-1441-3340-CD09C0B735BB}"/>
              </a:ext>
            </a:extLst>
          </p:cNvPr>
          <p:cNvSpPr>
            <a:spLocks noGrp="1"/>
          </p:cNvSpPr>
          <p:nvPr>
            <p:ph type="title"/>
          </p:nvPr>
        </p:nvSpPr>
        <p:spPr/>
        <p:txBody>
          <a:bodyPr/>
          <a:lstStyle/>
          <a:p>
            <a:r>
              <a:rPr lang="en-US" altLang="zh-CN" dirty="0"/>
              <a:t>Feedback on </a:t>
            </a:r>
            <a:r>
              <a:rPr lang="en-US" altLang="zh-CN" dirty="0">
                <a:solidFill>
                  <a:srgbClr val="FF0000"/>
                </a:solidFill>
              </a:rPr>
              <a:t>Use Case Diagram</a:t>
            </a:r>
            <a:endParaRPr lang="zh-CN" altLang="en-US" dirty="0">
              <a:solidFill>
                <a:srgbClr val="FF0000"/>
              </a:solidFill>
            </a:endParaRPr>
          </a:p>
        </p:txBody>
      </p:sp>
      <p:sp>
        <p:nvSpPr>
          <p:cNvPr id="4" name="文本框 3">
            <a:extLst>
              <a:ext uri="{FF2B5EF4-FFF2-40B4-BE49-F238E27FC236}">
                <a16:creationId xmlns:a16="http://schemas.microsoft.com/office/drawing/2014/main" id="{9EA6FF66-0E27-9C4D-F8F2-D3F4EBA2E315}"/>
              </a:ext>
            </a:extLst>
          </p:cNvPr>
          <p:cNvSpPr txBox="1"/>
          <p:nvPr/>
        </p:nvSpPr>
        <p:spPr>
          <a:xfrm>
            <a:off x="838200" y="1499574"/>
            <a:ext cx="10324184" cy="4559390"/>
          </a:xfrm>
          <a:prstGeom prst="rect">
            <a:avLst/>
          </a:prstGeom>
          <a:noFill/>
        </p:spPr>
        <p:txBody>
          <a:bodyPr wrap="square">
            <a:spAutoFit/>
          </a:bodyPr>
          <a:lstStyle/>
          <a:p>
            <a:pPr marL="296266" indent="-296266" algn="just" defTabSz="395021">
              <a:lnSpc>
                <a:spcPct val="150000"/>
              </a:lnSpc>
              <a:buFont typeface="Wingdings" panose="05000000000000000000" pitchFamily="2" charset="2"/>
              <a:buChar char="Ø"/>
            </a:pPr>
            <a:r>
              <a:rPr lang="en-US" altLang="zh-CN" sz="2800" kern="100" dirty="0">
                <a:solidFill>
                  <a:prstClr val="black"/>
                </a:solidFill>
                <a:ea typeface="等线" panose="02010600030101010101" pitchFamily="2" charset="-122"/>
                <a:cs typeface="Times New Roman" panose="02020603050405020304" pitchFamily="18" charset="0"/>
              </a:rPr>
              <a:t>Notation</a:t>
            </a:r>
            <a:endParaRPr lang="zh-CN" altLang="zh-CN" sz="2400" kern="100" dirty="0">
              <a:solidFill>
                <a:prstClr val="black"/>
              </a:solidFill>
              <a:ea typeface="等线" panose="02010600030101010101" pitchFamily="2" charset="-122"/>
              <a:cs typeface="Times New Roman" panose="02020603050405020304" pitchFamily="18" charset="0"/>
            </a:endParaRPr>
          </a:p>
          <a:p>
            <a:pPr marL="624078"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Most groups did well</a:t>
            </a:r>
          </a:p>
          <a:p>
            <a:pPr marL="624078"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Some problems:</a:t>
            </a:r>
          </a:p>
          <a:p>
            <a:pPr marL="1019099" lvl="2"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Font size is too small</a:t>
            </a:r>
            <a:endParaRPr lang="zh-CN" altLang="zh-CN" sz="2400" kern="100" dirty="0">
              <a:solidFill>
                <a:prstClr val="black"/>
              </a:solidFill>
              <a:ea typeface="等线" panose="02010600030101010101" pitchFamily="2" charset="-122"/>
              <a:cs typeface="Times New Roman" panose="02020603050405020304" pitchFamily="18" charset="0"/>
            </a:endParaRPr>
          </a:p>
          <a:p>
            <a:pPr marL="1019099" lvl="2"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Extend notation has wrong direction</a:t>
            </a:r>
            <a:endParaRPr lang="zh-CN" altLang="zh-CN" sz="2400" kern="100" dirty="0">
              <a:solidFill>
                <a:prstClr val="black"/>
              </a:solidFill>
              <a:ea typeface="等线" panose="02010600030101010101" pitchFamily="2" charset="-122"/>
              <a:cs typeface="Times New Roman" panose="02020603050405020304" pitchFamily="18" charset="0"/>
            </a:endParaRPr>
          </a:p>
          <a:p>
            <a:pPr marL="1019099" lvl="2"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If the actors can clearly connect to the use cases without crossing any lines, then the actors and use cases can be in one diagram; otherwise more than one diagrams should be used. </a:t>
            </a:r>
          </a:p>
        </p:txBody>
      </p:sp>
    </p:spTree>
    <p:extLst>
      <p:ext uri="{BB962C8B-B14F-4D97-AF65-F5344CB8AC3E}">
        <p14:creationId xmlns:p14="http://schemas.microsoft.com/office/powerpoint/2010/main" val="2721075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74D65-4979-51C3-F498-682F523BB13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C041EA2-5C7E-1441-3340-CD09C0B735BB}"/>
              </a:ext>
            </a:extLst>
          </p:cNvPr>
          <p:cNvSpPr>
            <a:spLocks noGrp="1"/>
          </p:cNvSpPr>
          <p:nvPr>
            <p:ph type="title"/>
          </p:nvPr>
        </p:nvSpPr>
        <p:spPr/>
        <p:txBody>
          <a:bodyPr/>
          <a:lstStyle/>
          <a:p>
            <a:r>
              <a:rPr lang="en-US" altLang="zh-CN" dirty="0"/>
              <a:t>Feedback on </a:t>
            </a:r>
            <a:r>
              <a:rPr lang="en-US" altLang="zh-CN" dirty="0">
                <a:solidFill>
                  <a:srgbClr val="FF0000"/>
                </a:solidFill>
              </a:rPr>
              <a:t>Use Case Diagram</a:t>
            </a:r>
            <a:endParaRPr lang="zh-CN" altLang="en-US" dirty="0">
              <a:solidFill>
                <a:srgbClr val="FF0000"/>
              </a:solidFill>
            </a:endParaRPr>
          </a:p>
        </p:txBody>
      </p:sp>
      <p:sp>
        <p:nvSpPr>
          <p:cNvPr id="4" name="文本框 3">
            <a:extLst>
              <a:ext uri="{FF2B5EF4-FFF2-40B4-BE49-F238E27FC236}">
                <a16:creationId xmlns:a16="http://schemas.microsoft.com/office/drawing/2014/main" id="{9EA6FF66-0E27-9C4D-F8F2-D3F4EBA2E315}"/>
              </a:ext>
            </a:extLst>
          </p:cNvPr>
          <p:cNvSpPr txBox="1"/>
          <p:nvPr/>
        </p:nvSpPr>
        <p:spPr>
          <a:xfrm>
            <a:off x="838200" y="1499574"/>
            <a:ext cx="10324184" cy="3384837"/>
          </a:xfrm>
          <a:prstGeom prst="rect">
            <a:avLst/>
          </a:prstGeom>
          <a:noFill/>
        </p:spPr>
        <p:txBody>
          <a:bodyPr wrap="square">
            <a:spAutoFit/>
          </a:bodyPr>
          <a:lstStyle/>
          <a:p>
            <a:pPr marL="296266" indent="-296266" algn="just" defTabSz="395021">
              <a:lnSpc>
                <a:spcPct val="150000"/>
              </a:lnSpc>
              <a:buFont typeface="Wingdings" panose="05000000000000000000" pitchFamily="2" charset="2"/>
              <a:buChar char="Ø"/>
            </a:pPr>
            <a:r>
              <a:rPr lang="en-US" altLang="zh-CN" sz="2800" kern="100" dirty="0">
                <a:solidFill>
                  <a:prstClr val="black"/>
                </a:solidFill>
                <a:ea typeface="等线" panose="02010600030101010101" pitchFamily="2" charset="-122"/>
                <a:cs typeface="Times New Roman" panose="02020603050405020304" pitchFamily="18" charset="0"/>
              </a:rPr>
              <a:t>Notation</a:t>
            </a:r>
            <a:endParaRPr lang="zh-CN" altLang="zh-CN" sz="2400" kern="100" dirty="0">
              <a:solidFill>
                <a:prstClr val="black"/>
              </a:solidFill>
              <a:ea typeface="等线" panose="02010600030101010101" pitchFamily="2" charset="-122"/>
              <a:cs typeface="Times New Roman" panose="02020603050405020304" pitchFamily="18" charset="0"/>
            </a:endParaRPr>
          </a:p>
          <a:p>
            <a:pPr marL="624078" lvl="1"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Some problems (continue):</a:t>
            </a:r>
          </a:p>
          <a:p>
            <a:pPr marL="1019099" lvl="2"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Crossed lines reduce readability</a:t>
            </a:r>
          </a:p>
          <a:p>
            <a:pPr marL="1019099" lvl="2" indent="-296266" algn="just" defTabSz="395021">
              <a:lnSpc>
                <a:spcPct val="150000"/>
              </a:lnSpc>
              <a:buFont typeface="Arial" panose="020B0604020202020204" pitchFamily="34" charset="0"/>
              <a:buChar char="•"/>
            </a:pPr>
            <a:r>
              <a:rPr lang="en-US" altLang="zh-CN" sz="2400" kern="100" dirty="0">
                <a:solidFill>
                  <a:prstClr val="black"/>
                </a:solidFill>
                <a:ea typeface="等线" panose="02010600030101010101" pitchFamily="2" charset="-122"/>
                <a:cs typeface="Times New Roman" panose="02020603050405020304" pitchFamily="18" charset="0"/>
              </a:rPr>
              <a:t>Dashed rectangle can be used to simplify the drawing when multiple use cases have same relationships with a use case.</a:t>
            </a:r>
          </a:p>
          <a:p>
            <a:pPr marL="624078" lvl="1" indent="-296266" algn="just" defTabSz="395021">
              <a:lnSpc>
                <a:spcPct val="150000"/>
              </a:lnSpc>
              <a:buFont typeface="Arial" panose="020B0604020202020204" pitchFamily="34" charset="0"/>
              <a:buChar char="•"/>
            </a:pPr>
            <a:endParaRPr lang="zh-CN" altLang="zh-CN" sz="2074" kern="100" dirty="0">
              <a:solidFill>
                <a:prstClr val="black"/>
              </a:solidFill>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059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C14842-94BD-E74F-E721-F2D25A4465D5}"/>
              </a:ext>
            </a:extLst>
          </p:cNvPr>
          <p:cNvSpPr>
            <a:spLocks noGrp="1"/>
          </p:cNvSpPr>
          <p:nvPr>
            <p:ph type="title"/>
          </p:nvPr>
        </p:nvSpPr>
        <p:spPr>
          <a:xfrm>
            <a:off x="312420" y="21049"/>
            <a:ext cx="2497041" cy="875739"/>
          </a:xfrm>
        </p:spPr>
        <p:txBody>
          <a:bodyPr/>
          <a:lstStyle/>
          <a:p>
            <a:r>
              <a:rPr lang="en-US" altLang="zh-CN" dirty="0"/>
              <a:t>Feedback</a:t>
            </a:r>
            <a:endParaRPr lang="zh-CN" altLang="en-US" dirty="0"/>
          </a:p>
        </p:txBody>
      </p:sp>
      <p:sp>
        <p:nvSpPr>
          <p:cNvPr id="3" name="内容占位符 2">
            <a:extLst>
              <a:ext uri="{FF2B5EF4-FFF2-40B4-BE49-F238E27FC236}">
                <a16:creationId xmlns:a16="http://schemas.microsoft.com/office/drawing/2014/main" id="{CFE9BC2A-7C39-A7A0-76B3-3FE9EF556CA7}"/>
              </a:ext>
            </a:extLst>
          </p:cNvPr>
          <p:cNvSpPr>
            <a:spLocks noGrp="1"/>
          </p:cNvSpPr>
          <p:nvPr>
            <p:ph idx="1"/>
          </p:nvPr>
        </p:nvSpPr>
        <p:spPr>
          <a:xfrm>
            <a:off x="303900" y="665903"/>
            <a:ext cx="10975690" cy="995362"/>
          </a:xfrm>
        </p:spPr>
        <p:txBody>
          <a:bodyPr>
            <a:normAutofit/>
          </a:bodyPr>
          <a:lstStyle/>
          <a:p>
            <a:r>
              <a:rPr lang="en-US" altLang="zh-CN" dirty="0"/>
              <a:t>Use Case Diagram: left side not good, and right side is better. </a:t>
            </a:r>
          </a:p>
          <a:p>
            <a:pPr lvl="1"/>
            <a:r>
              <a:rPr lang="en-US" altLang="zh-CN" dirty="0"/>
              <a:t>Same use case for different actors:</a:t>
            </a:r>
          </a:p>
        </p:txBody>
      </p:sp>
      <p:pic>
        <p:nvPicPr>
          <p:cNvPr id="4" name="Picture 3"/>
          <p:cNvPicPr>
            <a:picLocks noChangeAspect="1"/>
          </p:cNvPicPr>
          <p:nvPr/>
        </p:nvPicPr>
        <p:blipFill>
          <a:blip r:embed="rId2">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519251" y="4730976"/>
            <a:ext cx="679271" cy="760024"/>
          </a:xfrm>
          <a:prstGeom prst="rect">
            <a:avLst/>
          </a:prstGeom>
        </p:spPr>
      </p:pic>
      <p:sp>
        <p:nvSpPr>
          <p:cNvPr id="5" name="文本框 31"/>
          <p:cNvSpPr txBox="1">
            <a:spLocks noChangeArrowheads="1"/>
          </p:cNvSpPr>
          <p:nvPr/>
        </p:nvSpPr>
        <p:spPr bwMode="auto">
          <a:xfrm>
            <a:off x="675461" y="5253390"/>
            <a:ext cx="499110" cy="333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568" dirty="0">
                <a:latin typeface="Arial" panose="020B0604020202020204" pitchFamily="34" charset="0"/>
                <a:ea typeface="宋体" panose="02010600030101010101" pitchFamily="2" charset="-122"/>
              </a:rPr>
              <a:t>A</a:t>
            </a:r>
          </a:p>
        </p:txBody>
      </p:sp>
      <p:pic>
        <p:nvPicPr>
          <p:cNvPr id="6" name="Picture 5"/>
          <p:cNvPicPr>
            <a:picLocks noChangeAspect="1"/>
          </p:cNvPicPr>
          <p:nvPr/>
        </p:nvPicPr>
        <p:blipFill>
          <a:blip r:embed="rId2">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1516380" y="4263935"/>
            <a:ext cx="679271" cy="760024"/>
          </a:xfrm>
          <a:prstGeom prst="rect">
            <a:avLst/>
          </a:prstGeom>
        </p:spPr>
      </p:pic>
      <p:sp>
        <p:nvSpPr>
          <p:cNvPr id="7" name="文本框 31"/>
          <p:cNvSpPr txBox="1">
            <a:spLocks noChangeArrowheads="1"/>
          </p:cNvSpPr>
          <p:nvPr/>
        </p:nvSpPr>
        <p:spPr bwMode="auto">
          <a:xfrm>
            <a:off x="1696541" y="4857150"/>
            <a:ext cx="499110" cy="333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568" dirty="0">
                <a:latin typeface="Arial" panose="020B0604020202020204" pitchFamily="34" charset="0"/>
                <a:ea typeface="宋体" panose="02010600030101010101" pitchFamily="2" charset="-122"/>
              </a:rPr>
              <a:t>A1</a:t>
            </a:r>
          </a:p>
        </p:txBody>
      </p:sp>
      <p:pic>
        <p:nvPicPr>
          <p:cNvPr id="8" name="Picture 7"/>
          <p:cNvPicPr>
            <a:picLocks noChangeAspect="1"/>
          </p:cNvPicPr>
          <p:nvPr/>
        </p:nvPicPr>
        <p:blipFill>
          <a:blip r:embed="rId2">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1493520" y="5338355"/>
            <a:ext cx="679271" cy="760024"/>
          </a:xfrm>
          <a:prstGeom prst="rect">
            <a:avLst/>
          </a:prstGeom>
        </p:spPr>
      </p:pic>
      <p:sp>
        <p:nvSpPr>
          <p:cNvPr id="9" name="文本框 31"/>
          <p:cNvSpPr txBox="1">
            <a:spLocks noChangeArrowheads="1"/>
          </p:cNvSpPr>
          <p:nvPr/>
        </p:nvSpPr>
        <p:spPr bwMode="auto">
          <a:xfrm>
            <a:off x="1673681" y="5931570"/>
            <a:ext cx="499110" cy="333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568" dirty="0">
                <a:latin typeface="Arial" panose="020B0604020202020204" pitchFamily="34" charset="0"/>
                <a:ea typeface="宋体" panose="02010600030101010101" pitchFamily="2" charset="-122"/>
              </a:rPr>
              <a:t>A2</a:t>
            </a:r>
          </a:p>
        </p:txBody>
      </p:sp>
      <p:sp>
        <p:nvSpPr>
          <p:cNvPr id="11" name="Isosceles Triangle 10"/>
          <p:cNvSpPr/>
          <p:nvPr/>
        </p:nvSpPr>
        <p:spPr>
          <a:xfrm rot="14957042">
            <a:off x="1049876" y="4854580"/>
            <a:ext cx="217947" cy="188021"/>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a:p>
        </p:txBody>
      </p:sp>
      <p:cxnSp>
        <p:nvCxnSpPr>
          <p:cNvPr id="14" name="直接连接符 45"/>
          <p:cNvCxnSpPr>
            <a:cxnSpLocks noChangeShapeType="1"/>
            <a:stCxn id="6" idx="1"/>
            <a:endCxn id="11" idx="3"/>
          </p:cNvCxnSpPr>
          <p:nvPr/>
        </p:nvCxnSpPr>
        <p:spPr bwMode="auto">
          <a:xfrm flipH="1">
            <a:off x="1246782" y="4643947"/>
            <a:ext cx="269598" cy="271388"/>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45"/>
          <p:cNvCxnSpPr>
            <a:cxnSpLocks noChangeShapeType="1"/>
            <a:stCxn id="18" idx="3"/>
            <a:endCxn id="8" idx="1"/>
          </p:cNvCxnSpPr>
          <p:nvPr/>
        </p:nvCxnSpPr>
        <p:spPr bwMode="auto">
          <a:xfrm>
            <a:off x="1229065" y="5458916"/>
            <a:ext cx="264455" cy="259451"/>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Isosceles Triangle 17"/>
          <p:cNvSpPr/>
          <p:nvPr/>
        </p:nvSpPr>
        <p:spPr>
          <a:xfrm rot="18269350">
            <a:off x="1007232" y="5306934"/>
            <a:ext cx="283705" cy="194072"/>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a:p>
        </p:txBody>
      </p:sp>
      <p:sp>
        <p:nvSpPr>
          <p:cNvPr id="30" name="Oval 25"/>
          <p:cNvSpPr>
            <a:spLocks noChangeArrowheads="1"/>
          </p:cNvSpPr>
          <p:nvPr/>
        </p:nvSpPr>
        <p:spPr bwMode="auto">
          <a:xfrm>
            <a:off x="2465249" y="4301284"/>
            <a:ext cx="1363801" cy="402478"/>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U1</a:t>
            </a:r>
          </a:p>
        </p:txBody>
      </p:sp>
      <p:sp>
        <p:nvSpPr>
          <p:cNvPr id="31" name="Oval 25"/>
          <p:cNvSpPr>
            <a:spLocks noChangeArrowheads="1"/>
          </p:cNvSpPr>
          <p:nvPr/>
        </p:nvSpPr>
        <p:spPr bwMode="auto">
          <a:xfrm>
            <a:off x="2500361" y="5083774"/>
            <a:ext cx="1363801" cy="375142"/>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U2</a:t>
            </a:r>
          </a:p>
        </p:txBody>
      </p:sp>
      <p:sp>
        <p:nvSpPr>
          <p:cNvPr id="33" name="Oval 25"/>
          <p:cNvSpPr>
            <a:spLocks noChangeArrowheads="1"/>
          </p:cNvSpPr>
          <p:nvPr/>
        </p:nvSpPr>
        <p:spPr bwMode="auto">
          <a:xfrm>
            <a:off x="2465249" y="6002113"/>
            <a:ext cx="1363801" cy="395798"/>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U3</a:t>
            </a:r>
          </a:p>
        </p:txBody>
      </p:sp>
      <p:cxnSp>
        <p:nvCxnSpPr>
          <p:cNvPr id="34" name="直接连接符 45"/>
          <p:cNvCxnSpPr>
            <a:cxnSpLocks noChangeShapeType="1"/>
            <a:stCxn id="6" idx="3"/>
            <a:endCxn id="30" idx="2"/>
          </p:cNvCxnSpPr>
          <p:nvPr/>
        </p:nvCxnSpPr>
        <p:spPr bwMode="auto">
          <a:xfrm flipV="1">
            <a:off x="2195651" y="4502523"/>
            <a:ext cx="269598" cy="141424"/>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接连接符 45"/>
          <p:cNvCxnSpPr>
            <a:cxnSpLocks noChangeShapeType="1"/>
            <a:stCxn id="6" idx="3"/>
            <a:endCxn id="31" idx="2"/>
          </p:cNvCxnSpPr>
          <p:nvPr/>
        </p:nvCxnSpPr>
        <p:spPr bwMode="auto">
          <a:xfrm>
            <a:off x="2195651" y="4643947"/>
            <a:ext cx="304710" cy="627398"/>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45"/>
          <p:cNvCxnSpPr>
            <a:cxnSpLocks noChangeShapeType="1"/>
            <a:stCxn id="8" idx="3"/>
            <a:endCxn id="31" idx="2"/>
          </p:cNvCxnSpPr>
          <p:nvPr/>
        </p:nvCxnSpPr>
        <p:spPr bwMode="auto">
          <a:xfrm flipV="1">
            <a:off x="2172791" y="5271345"/>
            <a:ext cx="327570" cy="44702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5"/>
          <p:cNvCxnSpPr>
            <a:cxnSpLocks noChangeShapeType="1"/>
            <a:stCxn id="8" idx="3"/>
            <a:endCxn id="33" idx="2"/>
          </p:cNvCxnSpPr>
          <p:nvPr/>
        </p:nvCxnSpPr>
        <p:spPr bwMode="auto">
          <a:xfrm>
            <a:off x="2172791" y="5718367"/>
            <a:ext cx="292458" cy="48164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47" name="Picture 46"/>
          <p:cNvPicPr>
            <a:picLocks noChangeAspect="1"/>
          </p:cNvPicPr>
          <p:nvPr/>
        </p:nvPicPr>
        <p:blipFill>
          <a:blip r:embed="rId2">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7598232" y="5005150"/>
            <a:ext cx="679271" cy="760024"/>
          </a:xfrm>
          <a:prstGeom prst="rect">
            <a:avLst/>
          </a:prstGeom>
        </p:spPr>
      </p:pic>
      <p:sp>
        <p:nvSpPr>
          <p:cNvPr id="48" name="文本框 31"/>
          <p:cNvSpPr txBox="1">
            <a:spLocks noChangeArrowheads="1"/>
          </p:cNvSpPr>
          <p:nvPr/>
        </p:nvSpPr>
        <p:spPr bwMode="auto">
          <a:xfrm>
            <a:off x="7791442" y="5639903"/>
            <a:ext cx="499110" cy="333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568" dirty="0">
                <a:latin typeface="Arial" panose="020B0604020202020204" pitchFamily="34" charset="0"/>
                <a:ea typeface="宋体" panose="02010600030101010101" pitchFamily="2" charset="-122"/>
              </a:rPr>
              <a:t>A</a:t>
            </a:r>
          </a:p>
        </p:txBody>
      </p:sp>
      <p:pic>
        <p:nvPicPr>
          <p:cNvPr id="49" name="Picture 48"/>
          <p:cNvPicPr>
            <a:picLocks noChangeAspect="1"/>
          </p:cNvPicPr>
          <p:nvPr/>
        </p:nvPicPr>
        <p:blipFill>
          <a:blip r:embed="rId2">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6227695" y="4438740"/>
            <a:ext cx="679271" cy="760024"/>
          </a:xfrm>
          <a:prstGeom prst="rect">
            <a:avLst/>
          </a:prstGeom>
        </p:spPr>
      </p:pic>
      <p:sp>
        <p:nvSpPr>
          <p:cNvPr id="50" name="文本框 31"/>
          <p:cNvSpPr txBox="1">
            <a:spLocks noChangeArrowheads="1"/>
          </p:cNvSpPr>
          <p:nvPr/>
        </p:nvSpPr>
        <p:spPr bwMode="auto">
          <a:xfrm>
            <a:off x="6407856" y="5031955"/>
            <a:ext cx="499110" cy="333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568" dirty="0">
                <a:latin typeface="Arial" panose="020B0604020202020204" pitchFamily="34" charset="0"/>
                <a:ea typeface="宋体" panose="02010600030101010101" pitchFamily="2" charset="-122"/>
              </a:rPr>
              <a:t>A1</a:t>
            </a:r>
          </a:p>
        </p:txBody>
      </p:sp>
      <p:pic>
        <p:nvPicPr>
          <p:cNvPr id="51" name="Picture 50"/>
          <p:cNvPicPr>
            <a:picLocks noChangeAspect="1"/>
          </p:cNvPicPr>
          <p:nvPr/>
        </p:nvPicPr>
        <p:blipFill>
          <a:blip r:embed="rId2">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6171559" y="5422175"/>
            <a:ext cx="679271" cy="760024"/>
          </a:xfrm>
          <a:prstGeom prst="rect">
            <a:avLst/>
          </a:prstGeom>
        </p:spPr>
      </p:pic>
      <p:sp>
        <p:nvSpPr>
          <p:cNvPr id="52" name="文本框 31"/>
          <p:cNvSpPr txBox="1">
            <a:spLocks noChangeArrowheads="1"/>
          </p:cNvSpPr>
          <p:nvPr/>
        </p:nvSpPr>
        <p:spPr bwMode="auto">
          <a:xfrm>
            <a:off x="6279009" y="6032691"/>
            <a:ext cx="499110" cy="333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568" dirty="0">
                <a:latin typeface="Arial" panose="020B0604020202020204" pitchFamily="34" charset="0"/>
                <a:ea typeface="宋体" panose="02010600030101010101" pitchFamily="2" charset="-122"/>
              </a:rPr>
              <a:t>A2</a:t>
            </a:r>
          </a:p>
        </p:txBody>
      </p:sp>
      <p:sp>
        <p:nvSpPr>
          <p:cNvPr id="53" name="Isosceles Triangle 52"/>
          <p:cNvSpPr/>
          <p:nvPr/>
        </p:nvSpPr>
        <p:spPr>
          <a:xfrm rot="14442930">
            <a:off x="7434690" y="5025991"/>
            <a:ext cx="229947" cy="267891"/>
          </a:xfrm>
          <a:prstGeom prst="triangle">
            <a:avLst>
              <a:gd name="adj" fmla="val 5163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a:p>
        </p:txBody>
      </p:sp>
      <p:cxnSp>
        <p:nvCxnSpPr>
          <p:cNvPr id="54" name="直接连接符 45"/>
          <p:cNvCxnSpPr>
            <a:cxnSpLocks noChangeShapeType="1"/>
            <a:stCxn id="49" idx="3"/>
          </p:cNvCxnSpPr>
          <p:nvPr/>
        </p:nvCxnSpPr>
        <p:spPr bwMode="auto">
          <a:xfrm>
            <a:off x="6906966" y="4818752"/>
            <a:ext cx="601068" cy="268487"/>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5" name="直接连接符 45"/>
          <p:cNvCxnSpPr>
            <a:cxnSpLocks noChangeShapeType="1"/>
            <a:stCxn id="56" idx="3"/>
            <a:endCxn id="51" idx="3"/>
          </p:cNvCxnSpPr>
          <p:nvPr/>
        </p:nvCxnSpPr>
        <p:spPr bwMode="auto">
          <a:xfrm flipH="1">
            <a:off x="6850830" y="5484552"/>
            <a:ext cx="720475" cy="31763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6" name="Isosceles Triangle 55"/>
          <p:cNvSpPr/>
          <p:nvPr/>
        </p:nvSpPr>
        <p:spPr>
          <a:xfrm rot="6317422">
            <a:off x="7523054" y="5413105"/>
            <a:ext cx="283705" cy="194072"/>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55"/>
          </a:p>
        </p:txBody>
      </p:sp>
      <p:sp>
        <p:nvSpPr>
          <p:cNvPr id="57" name="Oval 25"/>
          <p:cNvSpPr>
            <a:spLocks noChangeArrowheads="1"/>
          </p:cNvSpPr>
          <p:nvPr/>
        </p:nvSpPr>
        <p:spPr bwMode="auto">
          <a:xfrm>
            <a:off x="8744129" y="4385104"/>
            <a:ext cx="1363801" cy="429692"/>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U1</a:t>
            </a:r>
          </a:p>
        </p:txBody>
      </p:sp>
      <p:sp>
        <p:nvSpPr>
          <p:cNvPr id="58" name="Oval 25"/>
          <p:cNvSpPr>
            <a:spLocks noChangeArrowheads="1"/>
          </p:cNvSpPr>
          <p:nvPr/>
        </p:nvSpPr>
        <p:spPr bwMode="auto">
          <a:xfrm>
            <a:off x="8779241" y="5198764"/>
            <a:ext cx="1363801" cy="416692"/>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U2</a:t>
            </a:r>
          </a:p>
        </p:txBody>
      </p:sp>
      <p:sp>
        <p:nvSpPr>
          <p:cNvPr id="59" name="Oval 25"/>
          <p:cNvSpPr>
            <a:spLocks noChangeArrowheads="1"/>
          </p:cNvSpPr>
          <p:nvPr/>
        </p:nvSpPr>
        <p:spPr bwMode="auto">
          <a:xfrm>
            <a:off x="8744129" y="6060061"/>
            <a:ext cx="1363801" cy="421670"/>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U3</a:t>
            </a:r>
          </a:p>
        </p:txBody>
      </p:sp>
      <p:cxnSp>
        <p:nvCxnSpPr>
          <p:cNvPr id="60" name="直接连接符 45"/>
          <p:cNvCxnSpPr>
            <a:cxnSpLocks noChangeShapeType="1"/>
            <a:stCxn id="49" idx="3"/>
            <a:endCxn id="57" idx="2"/>
          </p:cNvCxnSpPr>
          <p:nvPr/>
        </p:nvCxnSpPr>
        <p:spPr bwMode="auto">
          <a:xfrm flipV="1">
            <a:off x="6906966" y="4599950"/>
            <a:ext cx="1837163" cy="21880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1" name="直接连接符 45"/>
          <p:cNvCxnSpPr>
            <a:cxnSpLocks noChangeShapeType="1"/>
            <a:stCxn id="47" idx="3"/>
            <a:endCxn id="58" idx="2"/>
          </p:cNvCxnSpPr>
          <p:nvPr/>
        </p:nvCxnSpPr>
        <p:spPr bwMode="auto">
          <a:xfrm>
            <a:off x="8277503" y="5385162"/>
            <a:ext cx="501738" cy="21948"/>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接连接符 45"/>
          <p:cNvCxnSpPr>
            <a:cxnSpLocks noChangeShapeType="1"/>
            <a:stCxn id="51" idx="3"/>
            <a:endCxn id="59" idx="2"/>
          </p:cNvCxnSpPr>
          <p:nvPr/>
        </p:nvCxnSpPr>
        <p:spPr bwMode="auto">
          <a:xfrm>
            <a:off x="6850830" y="5802187"/>
            <a:ext cx="1893299" cy="468709"/>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2" name="文本框 31"/>
          <p:cNvSpPr txBox="1">
            <a:spLocks noChangeArrowheads="1"/>
          </p:cNvSpPr>
          <p:nvPr/>
        </p:nvSpPr>
        <p:spPr bwMode="auto">
          <a:xfrm>
            <a:off x="7015301" y="2380650"/>
            <a:ext cx="499110" cy="333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568" dirty="0">
                <a:latin typeface="Arial" panose="020B0604020202020204" pitchFamily="34" charset="0"/>
                <a:ea typeface="宋体" panose="02010600030101010101" pitchFamily="2" charset="-122"/>
              </a:rPr>
              <a:t>A1</a:t>
            </a:r>
          </a:p>
        </p:txBody>
      </p:sp>
      <p:sp>
        <p:nvSpPr>
          <p:cNvPr id="124" name="文本框 31"/>
          <p:cNvSpPr txBox="1">
            <a:spLocks noChangeArrowheads="1"/>
          </p:cNvSpPr>
          <p:nvPr/>
        </p:nvSpPr>
        <p:spPr bwMode="auto">
          <a:xfrm>
            <a:off x="6992441" y="3455070"/>
            <a:ext cx="499110" cy="333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568" dirty="0">
                <a:latin typeface="Arial" panose="020B0604020202020204" pitchFamily="34" charset="0"/>
                <a:ea typeface="宋体" panose="02010600030101010101" pitchFamily="2" charset="-122"/>
              </a:rPr>
              <a:t>A2</a:t>
            </a:r>
          </a:p>
        </p:txBody>
      </p:sp>
      <p:grpSp>
        <p:nvGrpSpPr>
          <p:cNvPr id="12" name="Group 11"/>
          <p:cNvGrpSpPr/>
          <p:nvPr/>
        </p:nvGrpSpPr>
        <p:grpSpPr>
          <a:xfrm>
            <a:off x="6812280" y="1617307"/>
            <a:ext cx="2370642" cy="2133976"/>
            <a:chOff x="6812280" y="1787435"/>
            <a:chExt cx="2370642" cy="2133976"/>
          </a:xfrm>
        </p:grpSpPr>
        <p:pic>
          <p:nvPicPr>
            <p:cNvPr id="121" name="Picture 120"/>
            <p:cNvPicPr>
              <a:picLocks noChangeAspect="1"/>
            </p:cNvPicPr>
            <p:nvPr/>
          </p:nvPicPr>
          <p:blipFill>
            <a:blip r:embed="rId2">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6835140" y="1787435"/>
              <a:ext cx="679271" cy="760024"/>
            </a:xfrm>
            <a:prstGeom prst="rect">
              <a:avLst/>
            </a:prstGeom>
          </p:spPr>
        </p:pic>
        <p:pic>
          <p:nvPicPr>
            <p:cNvPr id="123" name="Picture 122"/>
            <p:cNvPicPr>
              <a:picLocks noChangeAspect="1"/>
            </p:cNvPicPr>
            <p:nvPr/>
          </p:nvPicPr>
          <p:blipFill>
            <a:blip r:embed="rId2">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6812280" y="2861855"/>
              <a:ext cx="679271" cy="760024"/>
            </a:xfrm>
            <a:prstGeom prst="rect">
              <a:avLst/>
            </a:prstGeom>
          </p:spPr>
        </p:pic>
        <p:sp>
          <p:nvSpPr>
            <p:cNvPr id="125" name="Oval 25"/>
            <p:cNvSpPr>
              <a:spLocks noChangeArrowheads="1"/>
            </p:cNvSpPr>
            <p:nvPr/>
          </p:nvSpPr>
          <p:spPr bwMode="auto">
            <a:xfrm>
              <a:off x="7784009" y="1824784"/>
              <a:ext cx="1363801" cy="402478"/>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U1</a:t>
              </a:r>
            </a:p>
          </p:txBody>
        </p:sp>
        <p:sp>
          <p:nvSpPr>
            <p:cNvPr id="126" name="Oval 25"/>
            <p:cNvSpPr>
              <a:spLocks noChangeArrowheads="1"/>
            </p:cNvSpPr>
            <p:nvPr/>
          </p:nvSpPr>
          <p:spPr bwMode="auto">
            <a:xfrm>
              <a:off x="7819121" y="2607274"/>
              <a:ext cx="1363801" cy="375142"/>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U2</a:t>
              </a:r>
            </a:p>
          </p:txBody>
        </p:sp>
        <p:sp>
          <p:nvSpPr>
            <p:cNvPr id="127" name="Oval 25"/>
            <p:cNvSpPr>
              <a:spLocks noChangeArrowheads="1"/>
            </p:cNvSpPr>
            <p:nvPr/>
          </p:nvSpPr>
          <p:spPr bwMode="auto">
            <a:xfrm>
              <a:off x="7784009" y="3525613"/>
              <a:ext cx="1363801" cy="395798"/>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U3</a:t>
              </a:r>
            </a:p>
          </p:txBody>
        </p:sp>
        <p:cxnSp>
          <p:nvCxnSpPr>
            <p:cNvPr id="128" name="直接连接符 45"/>
            <p:cNvCxnSpPr>
              <a:cxnSpLocks noChangeShapeType="1"/>
              <a:stCxn id="121" idx="3"/>
              <a:endCxn id="125" idx="2"/>
            </p:cNvCxnSpPr>
            <p:nvPr/>
          </p:nvCxnSpPr>
          <p:spPr bwMode="auto">
            <a:xfrm flipV="1">
              <a:off x="7514411" y="2026023"/>
              <a:ext cx="269598" cy="141424"/>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9" name="直接连接符 45"/>
            <p:cNvCxnSpPr>
              <a:cxnSpLocks noChangeShapeType="1"/>
              <a:stCxn id="121" idx="3"/>
              <a:endCxn id="126" idx="2"/>
            </p:cNvCxnSpPr>
            <p:nvPr/>
          </p:nvCxnSpPr>
          <p:spPr bwMode="auto">
            <a:xfrm>
              <a:off x="7514411" y="2167447"/>
              <a:ext cx="304710" cy="627398"/>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0" name="直接连接符 45"/>
            <p:cNvCxnSpPr>
              <a:cxnSpLocks noChangeShapeType="1"/>
              <a:stCxn id="123" idx="3"/>
              <a:endCxn id="126" idx="2"/>
            </p:cNvCxnSpPr>
            <p:nvPr/>
          </p:nvCxnSpPr>
          <p:spPr bwMode="auto">
            <a:xfrm flipV="1">
              <a:off x="7491551" y="2794845"/>
              <a:ext cx="327570" cy="44702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1" name="直接连接符 45"/>
            <p:cNvCxnSpPr>
              <a:cxnSpLocks noChangeShapeType="1"/>
              <a:stCxn id="123" idx="3"/>
              <a:endCxn id="127" idx="2"/>
            </p:cNvCxnSpPr>
            <p:nvPr/>
          </p:nvCxnSpPr>
          <p:spPr bwMode="auto">
            <a:xfrm>
              <a:off x="7491551" y="3241867"/>
              <a:ext cx="292458" cy="48164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34" name="Straight Connector 133"/>
          <p:cNvCxnSpPr/>
          <p:nvPr/>
        </p:nvCxnSpPr>
        <p:spPr>
          <a:xfrm>
            <a:off x="519251" y="3876468"/>
            <a:ext cx="10544989" cy="46144"/>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36" name="Right Arrow 135"/>
          <p:cNvSpPr/>
          <p:nvPr/>
        </p:nvSpPr>
        <p:spPr>
          <a:xfrm>
            <a:off x="4698692" y="2410734"/>
            <a:ext cx="1416679" cy="4256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Right Arrow 136"/>
          <p:cNvSpPr/>
          <p:nvPr/>
        </p:nvSpPr>
        <p:spPr>
          <a:xfrm>
            <a:off x="4517538" y="5141014"/>
            <a:ext cx="1416679" cy="41341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Group 9"/>
          <p:cNvGrpSpPr/>
          <p:nvPr/>
        </p:nvGrpSpPr>
        <p:grpSpPr>
          <a:xfrm>
            <a:off x="1356905" y="1636578"/>
            <a:ext cx="2625367" cy="2096627"/>
            <a:chOff x="1356905" y="1870504"/>
            <a:chExt cx="2625367" cy="2096627"/>
          </a:xfrm>
        </p:grpSpPr>
        <p:sp>
          <p:nvSpPr>
            <p:cNvPr id="95" name="Oval 25"/>
            <p:cNvSpPr>
              <a:spLocks noChangeArrowheads="1"/>
            </p:cNvSpPr>
            <p:nvPr/>
          </p:nvSpPr>
          <p:spPr bwMode="auto">
            <a:xfrm>
              <a:off x="2617649" y="1870504"/>
              <a:ext cx="1363801" cy="402478"/>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U1</a:t>
              </a:r>
            </a:p>
          </p:txBody>
        </p:sp>
        <p:sp>
          <p:nvSpPr>
            <p:cNvPr id="96" name="Oval 25"/>
            <p:cNvSpPr>
              <a:spLocks noChangeArrowheads="1"/>
            </p:cNvSpPr>
            <p:nvPr/>
          </p:nvSpPr>
          <p:spPr bwMode="auto">
            <a:xfrm>
              <a:off x="2617649" y="2481837"/>
              <a:ext cx="1363801" cy="375142"/>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U2</a:t>
              </a:r>
            </a:p>
          </p:txBody>
        </p:sp>
        <p:sp>
          <p:nvSpPr>
            <p:cNvPr id="97" name="Oval 25"/>
            <p:cNvSpPr>
              <a:spLocks noChangeArrowheads="1"/>
            </p:cNvSpPr>
            <p:nvPr/>
          </p:nvSpPr>
          <p:spPr bwMode="auto">
            <a:xfrm>
              <a:off x="2617649" y="3571333"/>
              <a:ext cx="1363801" cy="395798"/>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U3</a:t>
              </a:r>
            </a:p>
          </p:txBody>
        </p:sp>
        <p:cxnSp>
          <p:nvCxnSpPr>
            <p:cNvPr id="98" name="直接连接符 45"/>
            <p:cNvCxnSpPr>
              <a:cxnSpLocks noChangeShapeType="1"/>
              <a:endCxn id="95" idx="2"/>
            </p:cNvCxnSpPr>
            <p:nvPr/>
          </p:nvCxnSpPr>
          <p:spPr bwMode="auto">
            <a:xfrm flipV="1">
              <a:off x="2319020" y="2071743"/>
              <a:ext cx="298629" cy="178204"/>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连接符 45"/>
            <p:cNvCxnSpPr>
              <a:cxnSpLocks noChangeShapeType="1"/>
              <a:endCxn id="96" idx="2"/>
            </p:cNvCxnSpPr>
            <p:nvPr/>
          </p:nvCxnSpPr>
          <p:spPr bwMode="auto">
            <a:xfrm>
              <a:off x="2348051" y="2261643"/>
              <a:ext cx="269598" cy="40776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接连接符 45"/>
            <p:cNvCxnSpPr>
              <a:cxnSpLocks noChangeShapeType="1"/>
              <a:endCxn id="106" idx="2"/>
            </p:cNvCxnSpPr>
            <p:nvPr/>
          </p:nvCxnSpPr>
          <p:spPr bwMode="auto">
            <a:xfrm flipV="1">
              <a:off x="2326013" y="3276440"/>
              <a:ext cx="292458" cy="284478"/>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直接连接符 45"/>
            <p:cNvCxnSpPr>
              <a:cxnSpLocks noChangeShapeType="1"/>
              <a:stCxn id="94" idx="3"/>
              <a:endCxn id="97" idx="2"/>
            </p:cNvCxnSpPr>
            <p:nvPr/>
          </p:nvCxnSpPr>
          <p:spPr bwMode="auto">
            <a:xfrm>
              <a:off x="2348051" y="3598143"/>
              <a:ext cx="269598" cy="171089"/>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06" name="Oval 25"/>
            <p:cNvSpPr>
              <a:spLocks noChangeArrowheads="1"/>
            </p:cNvSpPr>
            <p:nvPr/>
          </p:nvSpPr>
          <p:spPr bwMode="auto">
            <a:xfrm>
              <a:off x="2618471" y="3088869"/>
              <a:ext cx="1363801" cy="375142"/>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U2</a:t>
              </a:r>
            </a:p>
          </p:txBody>
        </p:sp>
        <p:pic>
          <p:nvPicPr>
            <p:cNvPr id="62" name="Picture 61">
              <a:extLst>
                <a:ext uri="{FF2B5EF4-FFF2-40B4-BE49-F238E27FC236}">
                  <a16:creationId xmlns:a16="http://schemas.microsoft.com/office/drawing/2014/main" id="{EC35EFD1-07E1-49A4-8722-EEA158F1C5E7}"/>
                </a:ext>
              </a:extLst>
            </p:cNvPr>
            <p:cNvPicPr>
              <a:picLocks noChangeAspect="1"/>
            </p:cNvPicPr>
            <p:nvPr/>
          </p:nvPicPr>
          <p:blipFill>
            <a:blip r:embed="rId2">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1399182" y="1877192"/>
              <a:ext cx="679271" cy="760024"/>
            </a:xfrm>
            <a:prstGeom prst="rect">
              <a:avLst/>
            </a:prstGeom>
          </p:spPr>
        </p:pic>
        <p:pic>
          <p:nvPicPr>
            <p:cNvPr id="64" name="Picture 63">
              <a:extLst>
                <a:ext uri="{FF2B5EF4-FFF2-40B4-BE49-F238E27FC236}">
                  <a16:creationId xmlns:a16="http://schemas.microsoft.com/office/drawing/2014/main" id="{BED21803-FBD7-471A-AD63-856B1F26BE33}"/>
                </a:ext>
              </a:extLst>
            </p:cNvPr>
            <p:cNvPicPr>
              <a:picLocks noChangeAspect="1"/>
            </p:cNvPicPr>
            <p:nvPr/>
          </p:nvPicPr>
          <p:blipFill>
            <a:blip r:embed="rId2">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1356905" y="3102677"/>
              <a:ext cx="679271" cy="760024"/>
            </a:xfrm>
            <a:prstGeom prst="rect">
              <a:avLst/>
            </a:prstGeom>
          </p:spPr>
        </p:pic>
        <p:sp>
          <p:nvSpPr>
            <p:cNvPr id="93" name="文本框 31"/>
            <p:cNvSpPr txBox="1">
              <a:spLocks noChangeArrowheads="1"/>
            </p:cNvSpPr>
            <p:nvPr/>
          </p:nvSpPr>
          <p:spPr bwMode="auto">
            <a:xfrm>
              <a:off x="1947187" y="2061896"/>
              <a:ext cx="499110" cy="333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568" dirty="0">
                  <a:latin typeface="Arial" panose="020B0604020202020204" pitchFamily="34" charset="0"/>
                  <a:ea typeface="宋体" panose="02010600030101010101" pitchFamily="2" charset="-122"/>
                </a:rPr>
                <a:t>A1</a:t>
              </a:r>
            </a:p>
          </p:txBody>
        </p:sp>
        <p:sp>
          <p:nvSpPr>
            <p:cNvPr id="94" name="文本框 31"/>
            <p:cNvSpPr txBox="1">
              <a:spLocks noChangeArrowheads="1"/>
            </p:cNvSpPr>
            <p:nvPr/>
          </p:nvSpPr>
          <p:spPr bwMode="auto">
            <a:xfrm>
              <a:off x="1848941" y="3431334"/>
              <a:ext cx="499110" cy="333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568" dirty="0">
                  <a:latin typeface="Arial" panose="020B0604020202020204" pitchFamily="34" charset="0"/>
                  <a:ea typeface="宋体" panose="02010600030101010101" pitchFamily="2" charset="-122"/>
                </a:rPr>
                <a:t>A2</a:t>
              </a:r>
            </a:p>
          </p:txBody>
        </p:sp>
      </p:grpSp>
      <p:sp>
        <p:nvSpPr>
          <p:cNvPr id="65" name="内容占位符 2">
            <a:extLst>
              <a:ext uri="{FF2B5EF4-FFF2-40B4-BE49-F238E27FC236}">
                <a16:creationId xmlns:a16="http://schemas.microsoft.com/office/drawing/2014/main" id="{CFE9BC2A-7C39-A7A0-76B3-3FE9EF556CA7}"/>
              </a:ext>
            </a:extLst>
          </p:cNvPr>
          <p:cNvSpPr txBox="1">
            <a:spLocks/>
          </p:cNvSpPr>
          <p:nvPr/>
        </p:nvSpPr>
        <p:spPr>
          <a:xfrm>
            <a:off x="3820391" y="4021513"/>
            <a:ext cx="3086575" cy="4393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dirty="0"/>
              <a:t>Inheritance of actors:</a:t>
            </a:r>
          </a:p>
        </p:txBody>
      </p:sp>
      <p:sp>
        <p:nvSpPr>
          <p:cNvPr id="13" name="TextBox 12"/>
          <p:cNvSpPr txBox="1"/>
          <p:nvPr/>
        </p:nvSpPr>
        <p:spPr>
          <a:xfrm>
            <a:off x="2421661" y="6494985"/>
            <a:ext cx="6033960" cy="369332"/>
          </a:xfrm>
          <a:prstGeom prst="rect">
            <a:avLst/>
          </a:prstGeom>
          <a:noFill/>
        </p:spPr>
        <p:txBody>
          <a:bodyPr wrap="none" rtlCol="0">
            <a:spAutoFit/>
          </a:bodyPr>
          <a:lstStyle/>
          <a:p>
            <a:r>
              <a:rPr lang="en-US" altLang="zh-CN" dirty="0"/>
              <a:t>If there is no common use case for A, then A should not exist.</a:t>
            </a:r>
            <a:endParaRPr lang="zh-CN" altLang="en-US" dirty="0"/>
          </a:p>
        </p:txBody>
      </p:sp>
    </p:spTree>
    <p:extLst>
      <p:ext uri="{BB962C8B-B14F-4D97-AF65-F5344CB8AC3E}">
        <p14:creationId xmlns:p14="http://schemas.microsoft.com/office/powerpoint/2010/main" val="176587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C14842-94BD-E74F-E721-F2D25A4465D5}"/>
              </a:ext>
            </a:extLst>
          </p:cNvPr>
          <p:cNvSpPr>
            <a:spLocks noGrp="1"/>
          </p:cNvSpPr>
          <p:nvPr>
            <p:ph type="title"/>
          </p:nvPr>
        </p:nvSpPr>
        <p:spPr>
          <a:xfrm>
            <a:off x="312420" y="21049"/>
            <a:ext cx="2497041" cy="875739"/>
          </a:xfrm>
        </p:spPr>
        <p:txBody>
          <a:bodyPr/>
          <a:lstStyle/>
          <a:p>
            <a:r>
              <a:rPr lang="en-US" altLang="zh-CN" dirty="0"/>
              <a:t>Feedback</a:t>
            </a:r>
            <a:endParaRPr lang="zh-CN" altLang="en-US" dirty="0"/>
          </a:p>
        </p:txBody>
      </p:sp>
      <p:sp>
        <p:nvSpPr>
          <p:cNvPr id="3" name="内容占位符 2">
            <a:extLst>
              <a:ext uri="{FF2B5EF4-FFF2-40B4-BE49-F238E27FC236}">
                <a16:creationId xmlns:a16="http://schemas.microsoft.com/office/drawing/2014/main" id="{CFE9BC2A-7C39-A7A0-76B3-3FE9EF556CA7}"/>
              </a:ext>
            </a:extLst>
          </p:cNvPr>
          <p:cNvSpPr>
            <a:spLocks noGrp="1"/>
          </p:cNvSpPr>
          <p:nvPr>
            <p:ph idx="1"/>
          </p:nvPr>
        </p:nvSpPr>
        <p:spPr>
          <a:xfrm>
            <a:off x="303900" y="665903"/>
            <a:ext cx="7011300" cy="995362"/>
          </a:xfrm>
        </p:spPr>
        <p:txBody>
          <a:bodyPr>
            <a:normAutofit/>
          </a:bodyPr>
          <a:lstStyle/>
          <a:p>
            <a:r>
              <a:rPr lang="en-US" altLang="zh-CN" dirty="0"/>
              <a:t>Use Case Diagram</a:t>
            </a:r>
          </a:p>
          <a:p>
            <a:pPr lvl="1"/>
            <a:r>
              <a:rPr lang="en-US" altLang="zh-CN" dirty="0"/>
              <a:t>Include use cases</a:t>
            </a:r>
          </a:p>
        </p:txBody>
      </p:sp>
      <p:sp>
        <p:nvSpPr>
          <p:cNvPr id="136" name="Right Arrow 135"/>
          <p:cNvSpPr/>
          <p:nvPr/>
        </p:nvSpPr>
        <p:spPr>
          <a:xfrm rot="5400000">
            <a:off x="2352694" y="3329582"/>
            <a:ext cx="1416679" cy="4256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Oval 25"/>
          <p:cNvSpPr>
            <a:spLocks noChangeArrowheads="1"/>
          </p:cNvSpPr>
          <p:nvPr/>
        </p:nvSpPr>
        <p:spPr bwMode="auto">
          <a:xfrm>
            <a:off x="4868089" y="1975257"/>
            <a:ext cx="1363801" cy="402478"/>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a:t>
            </a:r>
          </a:p>
        </p:txBody>
      </p:sp>
      <p:cxnSp>
        <p:nvCxnSpPr>
          <p:cNvPr id="15" name="Straight Arrow Connector 14"/>
          <p:cNvCxnSpPr>
            <a:stCxn id="66" idx="2"/>
          </p:cNvCxnSpPr>
          <p:nvPr/>
        </p:nvCxnSpPr>
        <p:spPr>
          <a:xfrm flipH="1" flipV="1">
            <a:off x="3981450" y="1837817"/>
            <a:ext cx="886639" cy="338679"/>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66" idx="2"/>
          </p:cNvCxnSpPr>
          <p:nvPr/>
        </p:nvCxnSpPr>
        <p:spPr>
          <a:xfrm flipH="1">
            <a:off x="3981450" y="2176496"/>
            <a:ext cx="886639" cy="258986"/>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rot="1075875">
            <a:off x="3926365" y="1663750"/>
            <a:ext cx="1204176" cy="369332"/>
          </a:xfrm>
          <a:prstGeom prst="rect">
            <a:avLst/>
          </a:prstGeom>
          <a:noFill/>
        </p:spPr>
        <p:txBody>
          <a:bodyPr wrap="none" rtlCol="0">
            <a:spAutoFit/>
          </a:bodyPr>
          <a:lstStyle/>
          <a:p>
            <a:r>
              <a:rPr lang="en-US" altLang="zh-CN" dirty="0"/>
              <a:t>&lt;include&gt;</a:t>
            </a:r>
            <a:endParaRPr lang="zh-CN" altLang="en-US" dirty="0"/>
          </a:p>
        </p:txBody>
      </p:sp>
      <p:sp>
        <p:nvSpPr>
          <p:cNvPr id="73" name="TextBox 72"/>
          <p:cNvSpPr txBox="1"/>
          <p:nvPr/>
        </p:nvSpPr>
        <p:spPr>
          <a:xfrm rot="20592684">
            <a:off x="3797050" y="2417161"/>
            <a:ext cx="1204176" cy="369332"/>
          </a:xfrm>
          <a:prstGeom prst="rect">
            <a:avLst/>
          </a:prstGeom>
          <a:noFill/>
        </p:spPr>
        <p:txBody>
          <a:bodyPr wrap="none" rtlCol="0">
            <a:spAutoFit/>
          </a:bodyPr>
          <a:lstStyle/>
          <a:p>
            <a:r>
              <a:rPr lang="en-US" altLang="zh-CN" dirty="0"/>
              <a:t>&lt;include&gt;</a:t>
            </a:r>
            <a:endParaRPr lang="zh-CN" altLang="en-US" dirty="0"/>
          </a:p>
        </p:txBody>
      </p:sp>
      <p:pic>
        <p:nvPicPr>
          <p:cNvPr id="22" name="Picture 21"/>
          <p:cNvPicPr>
            <a:picLocks noChangeAspect="1"/>
          </p:cNvPicPr>
          <p:nvPr/>
        </p:nvPicPr>
        <p:blipFill>
          <a:blip r:embed="rId2"/>
          <a:stretch>
            <a:fillRect/>
          </a:stretch>
        </p:blipFill>
        <p:spPr>
          <a:xfrm>
            <a:off x="1303199" y="1646273"/>
            <a:ext cx="2628900" cy="1019175"/>
          </a:xfrm>
          <a:prstGeom prst="rect">
            <a:avLst/>
          </a:prstGeom>
        </p:spPr>
      </p:pic>
      <p:pic>
        <p:nvPicPr>
          <p:cNvPr id="89" name="Picture 88"/>
          <p:cNvPicPr>
            <a:picLocks noChangeAspect="1"/>
          </p:cNvPicPr>
          <p:nvPr/>
        </p:nvPicPr>
        <p:blipFill>
          <a:blip r:embed="rId3">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1516380" y="4263935"/>
            <a:ext cx="679271" cy="760024"/>
          </a:xfrm>
          <a:prstGeom prst="rect">
            <a:avLst/>
          </a:prstGeom>
        </p:spPr>
      </p:pic>
      <p:sp>
        <p:nvSpPr>
          <p:cNvPr id="90" name="文本框 31"/>
          <p:cNvSpPr txBox="1">
            <a:spLocks noChangeArrowheads="1"/>
          </p:cNvSpPr>
          <p:nvPr/>
        </p:nvSpPr>
        <p:spPr bwMode="auto">
          <a:xfrm>
            <a:off x="1696541" y="4857150"/>
            <a:ext cx="499110" cy="333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568" dirty="0">
                <a:latin typeface="Arial" panose="020B0604020202020204" pitchFamily="34" charset="0"/>
                <a:ea typeface="宋体" panose="02010600030101010101" pitchFamily="2" charset="-122"/>
              </a:rPr>
              <a:t>A1</a:t>
            </a:r>
          </a:p>
        </p:txBody>
      </p:sp>
      <p:sp>
        <p:nvSpPr>
          <p:cNvPr id="91" name="Oval 25"/>
          <p:cNvSpPr>
            <a:spLocks noChangeArrowheads="1"/>
          </p:cNvSpPr>
          <p:nvPr/>
        </p:nvSpPr>
        <p:spPr bwMode="auto">
          <a:xfrm>
            <a:off x="4476249" y="4263935"/>
            <a:ext cx="1363801" cy="402478"/>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U1</a:t>
            </a:r>
          </a:p>
        </p:txBody>
      </p:sp>
      <p:sp>
        <p:nvSpPr>
          <p:cNvPr id="92" name="Oval 25"/>
          <p:cNvSpPr>
            <a:spLocks noChangeArrowheads="1"/>
          </p:cNvSpPr>
          <p:nvPr/>
        </p:nvSpPr>
        <p:spPr bwMode="auto">
          <a:xfrm>
            <a:off x="4511361" y="5046425"/>
            <a:ext cx="1363801" cy="375142"/>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U2</a:t>
            </a:r>
          </a:p>
        </p:txBody>
      </p:sp>
      <p:sp>
        <p:nvSpPr>
          <p:cNvPr id="105" name="Oval 25"/>
          <p:cNvSpPr>
            <a:spLocks noChangeArrowheads="1"/>
          </p:cNvSpPr>
          <p:nvPr/>
        </p:nvSpPr>
        <p:spPr bwMode="auto">
          <a:xfrm>
            <a:off x="2534955" y="4442708"/>
            <a:ext cx="1363801" cy="402478"/>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210" dirty="0">
                <a:latin typeface="Arial" panose="020B0604020202020204" pitchFamily="34" charset="0"/>
                <a:ea typeface="宋体" panose="02010600030101010101" pitchFamily="2" charset="-122"/>
              </a:rPr>
              <a:t>U</a:t>
            </a:r>
          </a:p>
        </p:txBody>
      </p:sp>
      <p:cxnSp>
        <p:nvCxnSpPr>
          <p:cNvPr id="107" name="直接连接符 45"/>
          <p:cNvCxnSpPr>
            <a:cxnSpLocks noChangeShapeType="1"/>
            <a:stCxn id="89" idx="3"/>
            <a:endCxn id="105" idx="2"/>
          </p:cNvCxnSpPr>
          <p:nvPr/>
        </p:nvCxnSpPr>
        <p:spPr bwMode="auto">
          <a:xfrm>
            <a:off x="2195651" y="4643947"/>
            <a:ext cx="339304" cy="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Straight Arrow Connector 107"/>
          <p:cNvCxnSpPr>
            <a:stCxn id="105" idx="6"/>
            <a:endCxn id="92" idx="2"/>
          </p:cNvCxnSpPr>
          <p:nvPr/>
        </p:nvCxnSpPr>
        <p:spPr>
          <a:xfrm>
            <a:off x="3898756" y="4643947"/>
            <a:ext cx="612605" cy="590049"/>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a:stCxn id="105" idx="6"/>
            <a:endCxn id="91" idx="2"/>
          </p:cNvCxnSpPr>
          <p:nvPr/>
        </p:nvCxnSpPr>
        <p:spPr>
          <a:xfrm flipV="1">
            <a:off x="3898756" y="4465174"/>
            <a:ext cx="577493" cy="178773"/>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rot="1373641">
            <a:off x="3585414" y="5213563"/>
            <a:ext cx="1204176" cy="369332"/>
          </a:xfrm>
          <a:prstGeom prst="rect">
            <a:avLst/>
          </a:prstGeom>
          <a:noFill/>
        </p:spPr>
        <p:txBody>
          <a:bodyPr wrap="none" rtlCol="0">
            <a:spAutoFit/>
          </a:bodyPr>
          <a:lstStyle/>
          <a:p>
            <a:r>
              <a:rPr lang="en-US" altLang="zh-CN" dirty="0"/>
              <a:t>&lt;include&gt;</a:t>
            </a:r>
            <a:endParaRPr lang="zh-CN" altLang="en-US" dirty="0"/>
          </a:p>
        </p:txBody>
      </p:sp>
      <p:sp>
        <p:nvSpPr>
          <p:cNvPr id="111" name="TextBox 110"/>
          <p:cNvSpPr txBox="1"/>
          <p:nvPr/>
        </p:nvSpPr>
        <p:spPr>
          <a:xfrm rot="20592684">
            <a:off x="3631468" y="4052101"/>
            <a:ext cx="1204176" cy="369332"/>
          </a:xfrm>
          <a:prstGeom prst="rect">
            <a:avLst/>
          </a:prstGeom>
          <a:noFill/>
        </p:spPr>
        <p:txBody>
          <a:bodyPr wrap="none" rtlCol="0">
            <a:spAutoFit/>
          </a:bodyPr>
          <a:lstStyle/>
          <a:p>
            <a:r>
              <a:rPr lang="en-US" altLang="zh-CN" dirty="0"/>
              <a:t>&lt;include&gt;</a:t>
            </a:r>
            <a:endParaRPr lang="zh-CN" altLang="en-US" dirty="0"/>
          </a:p>
        </p:txBody>
      </p:sp>
    </p:spTree>
    <p:extLst>
      <p:ext uri="{BB962C8B-B14F-4D97-AF65-F5344CB8AC3E}">
        <p14:creationId xmlns:p14="http://schemas.microsoft.com/office/powerpoint/2010/main" val="3834836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idx="4294967295"/>
          </p:nvPr>
        </p:nvSpPr>
        <p:spPr>
          <a:xfrm>
            <a:off x="8000443" y="89197"/>
            <a:ext cx="4191557" cy="1143900"/>
          </a:xfrm>
        </p:spPr>
        <p:txBody>
          <a:bodyPr>
            <a:normAutofit/>
          </a:bodyPr>
          <a:lstStyle/>
          <a:p>
            <a:r>
              <a:rPr lang="en-US" altLang="zh-CN" sz="4000" dirty="0">
                <a:solidFill>
                  <a:srgbClr val="FF0000"/>
                </a:solidFill>
                <a:ea typeface="宋体" panose="02010600030101010101" pitchFamily="2" charset="-122"/>
              </a:rPr>
              <a:t>Context model</a:t>
            </a:r>
          </a:p>
        </p:txBody>
      </p:sp>
      <p:sp>
        <p:nvSpPr>
          <p:cNvPr id="25603" name="Date Placeholder 3"/>
          <p:cNvSpPr txBox="1">
            <a:spLocks noGrp="1" noChangeArrowheads="1"/>
          </p:cNvSpPr>
          <p:nvPr/>
        </p:nvSpPr>
        <p:spPr bwMode="auto">
          <a:xfrm>
            <a:off x="2133650" y="6294404"/>
            <a:ext cx="2133573" cy="365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fld id="{68918F1D-EF14-4803-BEFC-E3E1A487D299}" type="datetime1">
              <a:rPr lang="en-US" altLang="zh-CN" sz="1200">
                <a:solidFill>
                  <a:srgbClr val="898989"/>
                </a:solidFill>
                <a:ea typeface="宋体" panose="02010600030101010101" pitchFamily="2" charset="-122"/>
              </a:rPr>
              <a:pPr eaLnBrk="1" hangingPunct="1">
                <a:spcBef>
                  <a:spcPct val="0"/>
                </a:spcBef>
                <a:buFont typeface="Arial" panose="020B0604020202020204" pitchFamily="34" charset="0"/>
                <a:buNone/>
              </a:pPr>
              <a:t>3/18/2026</a:t>
            </a:fld>
            <a:endParaRPr lang="en-US" altLang="zh-CN" sz="1200">
              <a:solidFill>
                <a:srgbClr val="898989"/>
              </a:solidFill>
              <a:ea typeface="宋体" panose="02010600030101010101" pitchFamily="2" charset="-122"/>
            </a:endParaRPr>
          </a:p>
        </p:txBody>
      </p:sp>
      <p:sp>
        <p:nvSpPr>
          <p:cNvPr id="25604" name="Slide Number Placeholder 5"/>
          <p:cNvSpPr txBox="1">
            <a:spLocks noGrp="1" noChangeArrowheads="1"/>
          </p:cNvSpPr>
          <p:nvPr/>
        </p:nvSpPr>
        <p:spPr bwMode="auto">
          <a:xfrm>
            <a:off x="8077176" y="6356316"/>
            <a:ext cx="2133573" cy="365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 typeface="Arial" panose="020B0604020202020204" pitchFamily="34" charset="0"/>
              <a:buNone/>
            </a:pPr>
            <a:fld id="{858AFC74-99E6-49C3-A5A3-0B4091DF3174}" type="slidenum">
              <a:rPr lang="en-US" altLang="zh-CN" sz="1200">
                <a:solidFill>
                  <a:srgbClr val="898989"/>
                </a:solidFill>
                <a:ea typeface="宋体" panose="02010600030101010101" pitchFamily="2" charset="-122"/>
              </a:rPr>
              <a:pPr algn="r" eaLnBrk="1" hangingPunct="1">
                <a:spcBef>
                  <a:spcPct val="0"/>
                </a:spcBef>
                <a:buFont typeface="Arial" panose="020B0604020202020204" pitchFamily="34" charset="0"/>
                <a:buNone/>
              </a:pPr>
              <a:t>11</a:t>
            </a:fld>
            <a:endParaRPr lang="en-US" altLang="zh-CN" sz="1200">
              <a:solidFill>
                <a:srgbClr val="898989"/>
              </a:solidFill>
              <a:ea typeface="宋体" panose="02010600030101010101" pitchFamily="2" charset="-122"/>
            </a:endParaRPr>
          </a:p>
        </p:txBody>
      </p:sp>
      <p:sp>
        <p:nvSpPr>
          <p:cNvPr id="25605" name="Rectangle 7"/>
          <p:cNvSpPr>
            <a:spLocks noChangeArrowheads="1"/>
          </p:cNvSpPr>
          <p:nvPr/>
        </p:nvSpPr>
        <p:spPr bwMode="auto">
          <a:xfrm>
            <a:off x="2697248" y="2567049"/>
            <a:ext cx="2188809" cy="609593"/>
          </a:xfrm>
          <a:prstGeom prst="rect">
            <a:avLst/>
          </a:prstGeom>
          <a:solidFill>
            <a:schemeClr val="accent1"/>
          </a:solidFill>
          <a:ln w="25400">
            <a:solidFill>
              <a:srgbClr val="385D8A"/>
            </a:solidFill>
            <a:miter lim="800000"/>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800" dirty="0">
                <a:solidFill>
                  <a:srgbClr val="FFFFFF"/>
                </a:solidFill>
                <a:ea typeface="宋体" panose="02010600030101010101" pitchFamily="2" charset="-122"/>
              </a:rPr>
              <a:t>Mentor Caring System</a:t>
            </a:r>
          </a:p>
        </p:txBody>
      </p:sp>
      <p:sp>
        <p:nvSpPr>
          <p:cNvPr id="8" name="Rectangle 10"/>
          <p:cNvSpPr>
            <a:spLocks noChangeArrowheads="1"/>
          </p:cNvSpPr>
          <p:nvPr/>
        </p:nvSpPr>
        <p:spPr bwMode="auto">
          <a:xfrm>
            <a:off x="3080163" y="3609703"/>
            <a:ext cx="1422976" cy="742945"/>
          </a:xfrm>
          <a:prstGeom prst="rect">
            <a:avLst/>
          </a:prstGeom>
          <a:solidFill>
            <a:srgbClr val="953735"/>
          </a:solidFill>
          <a:ln w="25400">
            <a:solidFill>
              <a:srgbClr val="385D8A"/>
            </a:solidFill>
            <a:miter lim="800000"/>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800" dirty="0">
                <a:solidFill>
                  <a:srgbClr val="FFFFFF"/>
                </a:solidFill>
                <a:ea typeface="宋体" panose="02010600030101010101" pitchFamily="2" charset="-122"/>
              </a:rPr>
              <a:t>Login Verification</a:t>
            </a:r>
          </a:p>
        </p:txBody>
      </p:sp>
      <p:cxnSp>
        <p:nvCxnSpPr>
          <p:cNvPr id="9" name="Elbow Connector 22"/>
          <p:cNvCxnSpPr>
            <a:cxnSpLocks noChangeShapeType="1"/>
            <a:stCxn id="8" idx="0"/>
            <a:endCxn id="25605" idx="2"/>
          </p:cNvCxnSpPr>
          <p:nvPr/>
        </p:nvCxnSpPr>
        <p:spPr bwMode="auto">
          <a:xfrm rot="5400000" flipH="1" flipV="1">
            <a:off x="3575121" y="3393171"/>
            <a:ext cx="433061" cy="2"/>
          </a:xfrm>
          <a:prstGeom prst="bentConnector3">
            <a:avLst>
              <a:gd name="adj1" fmla="val 50000"/>
            </a:avLst>
          </a:prstGeom>
          <a:noFill/>
          <a:ln w="9525">
            <a:solidFill>
              <a:srgbClr val="4A7EBB"/>
            </a:solidFill>
            <a:miter lim="800000"/>
            <a:headEnd/>
            <a:tailEnd/>
          </a:ln>
          <a:extLst>
            <a:ext uri="{909E8E84-426E-40DD-AFC4-6F175D3DCCD1}">
              <a14:hiddenFill xmlns:a14="http://schemas.microsoft.com/office/drawing/2010/main">
                <a:noFill/>
              </a14:hiddenFill>
            </a:ext>
          </a:extLst>
        </p:spPr>
      </p:cxnSp>
      <p:sp>
        <p:nvSpPr>
          <p:cNvPr id="2" name="矩形 1">
            <a:extLst>
              <a:ext uri="{FF2B5EF4-FFF2-40B4-BE49-F238E27FC236}">
                <a16:creationId xmlns:a16="http://schemas.microsoft.com/office/drawing/2014/main" id="{0D01B00C-85A2-43C7-8FF8-700874B480D0}"/>
              </a:ext>
            </a:extLst>
          </p:cNvPr>
          <p:cNvSpPr/>
          <p:nvPr/>
        </p:nvSpPr>
        <p:spPr bwMode="auto">
          <a:xfrm>
            <a:off x="1513691" y="2303087"/>
            <a:ext cx="5655916" cy="2353984"/>
          </a:xfrm>
          <a:prstGeom prst="rect">
            <a:avLst/>
          </a:prstGeom>
          <a:noFill/>
          <a:ln w="9525" cap="flat" cmpd="sng" algn="ctr">
            <a:solidFill>
              <a:schemeClr val="tx1"/>
            </a:solidFill>
            <a:prstDash val="dashDot"/>
            <a:round/>
            <a:headEnd type="none" w="med" len="med"/>
            <a:tailEnd type="none" w="med" len="med"/>
          </a:ln>
          <a:effectLst/>
        </p:spPr>
        <p:txBody>
          <a:bodyPr vert="horz" wrap="square" lIns="91439" tIns="45720" rIns="91439" bIns="45720" numCol="1" rtlCol="0" anchor="t" anchorCtr="0" compatLnSpc="1">
            <a:prstTxWarp prst="textNoShape">
              <a:avLst/>
            </a:prstTxWarp>
          </a:bodyPr>
          <a:lstStyle/>
          <a:p>
            <a:pPr fontAlgn="base">
              <a:spcBef>
                <a:spcPct val="0"/>
              </a:spcBef>
              <a:spcAft>
                <a:spcPct val="0"/>
              </a:spcAft>
            </a:pPr>
            <a:endParaRPr lang="zh-CN" altLang="en-US" sz="2111">
              <a:latin typeface="Arial" pitchFamily="34" charset="0"/>
              <a:cs typeface="Arial" pitchFamily="34" charset="0"/>
            </a:endParaRPr>
          </a:p>
        </p:txBody>
      </p:sp>
      <p:sp>
        <p:nvSpPr>
          <p:cNvPr id="24" name="Rectangle 10">
            <a:extLst>
              <a:ext uri="{FF2B5EF4-FFF2-40B4-BE49-F238E27FC236}">
                <a16:creationId xmlns:a16="http://schemas.microsoft.com/office/drawing/2014/main" id="{983C1821-E478-F296-5C7A-4B034D3B5C8E}"/>
              </a:ext>
            </a:extLst>
          </p:cNvPr>
          <p:cNvSpPr>
            <a:spLocks noChangeArrowheads="1"/>
          </p:cNvSpPr>
          <p:nvPr/>
        </p:nvSpPr>
        <p:spPr bwMode="auto">
          <a:xfrm>
            <a:off x="2896444" y="1089141"/>
            <a:ext cx="1790415" cy="782074"/>
          </a:xfrm>
          <a:prstGeom prst="rect">
            <a:avLst/>
          </a:prstGeom>
          <a:solidFill>
            <a:srgbClr val="953735"/>
          </a:solidFill>
          <a:ln w="25400">
            <a:solidFill>
              <a:srgbClr val="385D8A"/>
            </a:solidFill>
            <a:miter lim="800000"/>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800" dirty="0">
                <a:solidFill>
                  <a:srgbClr val="FFFFFF"/>
                </a:solidFill>
                <a:ea typeface="宋体" panose="02010600030101010101" pitchFamily="2" charset="-122"/>
              </a:rPr>
              <a:t>School User Database</a:t>
            </a:r>
          </a:p>
        </p:txBody>
      </p:sp>
      <p:cxnSp>
        <p:nvCxnSpPr>
          <p:cNvPr id="23" name="Elbow Connector 22">
            <a:extLst>
              <a:ext uri="{FF2B5EF4-FFF2-40B4-BE49-F238E27FC236}">
                <a16:creationId xmlns:a16="http://schemas.microsoft.com/office/drawing/2014/main" id="{900005AA-EB9B-47A4-85C5-4CADE6AFA0A5}"/>
              </a:ext>
            </a:extLst>
          </p:cNvPr>
          <p:cNvCxnSpPr>
            <a:cxnSpLocks noChangeShapeType="1"/>
            <a:stCxn id="24" idx="2"/>
            <a:endCxn id="25605" idx="0"/>
          </p:cNvCxnSpPr>
          <p:nvPr/>
        </p:nvCxnSpPr>
        <p:spPr bwMode="auto">
          <a:xfrm rot="16200000" flipH="1">
            <a:off x="3443736" y="2219131"/>
            <a:ext cx="695834" cy="1"/>
          </a:xfrm>
          <a:prstGeom prst="bentConnector3">
            <a:avLst>
              <a:gd name="adj1" fmla="val 50000"/>
            </a:avLst>
          </a:prstGeom>
          <a:noFill/>
          <a:ln w="9525">
            <a:solidFill>
              <a:srgbClr val="4A7EBB"/>
            </a:solidFill>
            <a:miter lim="800000"/>
            <a:headEnd/>
            <a:tailEnd/>
          </a:ln>
          <a:extLst>
            <a:ext uri="{909E8E84-426E-40DD-AFC4-6F175D3DCCD1}">
              <a14:hiddenFill xmlns:a14="http://schemas.microsoft.com/office/drawing/2010/main">
                <a:noFill/>
              </a14:hiddenFill>
            </a:ext>
          </a:extLst>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23" name="Oval 25"/>
          <p:cNvSpPr>
            <a:spLocks noChangeArrowheads="1"/>
          </p:cNvSpPr>
          <p:nvPr/>
        </p:nvSpPr>
        <p:spPr bwMode="auto">
          <a:xfrm>
            <a:off x="8462570" y="2869573"/>
            <a:ext cx="1026703" cy="466682"/>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568" dirty="0">
                <a:latin typeface="Arial" panose="020B0604020202020204" pitchFamily="34" charset="0"/>
                <a:ea typeface="宋体" panose="02010600030101010101" pitchFamily="2" charset="-122"/>
              </a:rPr>
              <a:t>Login</a:t>
            </a:r>
          </a:p>
        </p:txBody>
      </p:sp>
      <p:sp>
        <p:nvSpPr>
          <p:cNvPr id="29724" name="Text Box 13"/>
          <p:cNvSpPr txBox="1">
            <a:spLocks noChangeArrowheads="1"/>
          </p:cNvSpPr>
          <p:nvPr/>
        </p:nvSpPr>
        <p:spPr bwMode="auto">
          <a:xfrm>
            <a:off x="7480431" y="2707580"/>
            <a:ext cx="1354935" cy="363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r>
              <a:rPr lang="en-US" altLang="zh-CN" sz="1764" dirty="0">
                <a:latin typeface="Arial" panose="020B0604020202020204" pitchFamily="34" charset="0"/>
                <a:ea typeface="宋体" panose="02010600030101010101" pitchFamily="2" charset="-122"/>
              </a:rPr>
              <a:t>&lt;include&gt;</a:t>
            </a:r>
          </a:p>
        </p:txBody>
      </p:sp>
      <p:sp>
        <p:nvSpPr>
          <p:cNvPr id="29725" name="Line 10"/>
          <p:cNvSpPr>
            <a:spLocks noChangeShapeType="1"/>
          </p:cNvSpPr>
          <p:nvPr/>
        </p:nvSpPr>
        <p:spPr bwMode="auto">
          <a:xfrm>
            <a:off x="7554064" y="3051325"/>
            <a:ext cx="864588" cy="754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sz="2068"/>
          </a:p>
        </p:txBody>
      </p:sp>
      <p:sp>
        <p:nvSpPr>
          <p:cNvPr id="43" name="矩形 60"/>
          <p:cNvSpPr>
            <a:spLocks noChangeArrowheads="1"/>
          </p:cNvSpPr>
          <p:nvPr/>
        </p:nvSpPr>
        <p:spPr bwMode="auto">
          <a:xfrm>
            <a:off x="2618727" y="163484"/>
            <a:ext cx="4861704" cy="5987601"/>
          </a:xfrm>
          <a:prstGeom prst="rect">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endParaRPr lang="zh-CN" altLang="en-US" sz="1382">
              <a:latin typeface="Arial" panose="020B0604020202020204" pitchFamily="34" charset="0"/>
              <a:ea typeface="宋体" panose="02010600030101010101" pitchFamily="2" charset="-122"/>
            </a:endParaRPr>
          </a:p>
        </p:txBody>
      </p:sp>
      <p:pic>
        <p:nvPicPr>
          <p:cNvPr id="58" name="Picture 57">
            <a:extLst>
              <a:ext uri="{FF2B5EF4-FFF2-40B4-BE49-F238E27FC236}">
                <a16:creationId xmlns:a16="http://schemas.microsoft.com/office/drawing/2014/main" id="{3C328ACC-0D8F-4240-A38E-95C07943BD69}"/>
              </a:ext>
            </a:extLst>
          </p:cNvPr>
          <p:cNvPicPr>
            <a:picLocks noChangeAspect="1"/>
          </p:cNvPicPr>
          <p:nvPr/>
        </p:nvPicPr>
        <p:blipFill>
          <a:blip r:embed="rId3">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1007040" y="1061618"/>
            <a:ext cx="679271" cy="760024"/>
          </a:xfrm>
          <a:prstGeom prst="rect">
            <a:avLst/>
          </a:prstGeom>
        </p:spPr>
      </p:pic>
      <p:sp>
        <p:nvSpPr>
          <p:cNvPr id="59" name="文本框 31"/>
          <p:cNvSpPr txBox="1">
            <a:spLocks noChangeArrowheads="1"/>
          </p:cNvSpPr>
          <p:nvPr/>
        </p:nvSpPr>
        <p:spPr bwMode="auto">
          <a:xfrm>
            <a:off x="909633" y="1753936"/>
            <a:ext cx="1245751" cy="517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382" dirty="0">
                <a:latin typeface="Arial" panose="020B0604020202020204" pitchFamily="34" charset="0"/>
                <a:ea typeface="宋体" panose="02010600030101010101" pitchFamily="2" charset="-122"/>
              </a:rPr>
              <a:t>Faculty consultant</a:t>
            </a:r>
          </a:p>
        </p:txBody>
      </p:sp>
      <p:sp>
        <p:nvSpPr>
          <p:cNvPr id="61" name="Oval 25"/>
          <p:cNvSpPr>
            <a:spLocks noChangeArrowheads="1"/>
          </p:cNvSpPr>
          <p:nvPr/>
        </p:nvSpPr>
        <p:spPr bwMode="auto">
          <a:xfrm>
            <a:off x="2781485" y="726750"/>
            <a:ext cx="1987723" cy="429197"/>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Change mentors</a:t>
            </a:r>
          </a:p>
        </p:txBody>
      </p:sp>
      <p:sp>
        <p:nvSpPr>
          <p:cNvPr id="62" name="Oval 25"/>
          <p:cNvSpPr>
            <a:spLocks noChangeArrowheads="1"/>
          </p:cNvSpPr>
          <p:nvPr/>
        </p:nvSpPr>
        <p:spPr bwMode="auto">
          <a:xfrm>
            <a:off x="2759662" y="1805099"/>
            <a:ext cx="2009546" cy="429197"/>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Designate coordinators</a:t>
            </a:r>
          </a:p>
        </p:txBody>
      </p:sp>
      <p:cxnSp>
        <p:nvCxnSpPr>
          <p:cNvPr id="65" name="直接连接符 45"/>
          <p:cNvCxnSpPr>
            <a:cxnSpLocks noChangeShapeType="1"/>
            <a:stCxn id="58" idx="3"/>
            <a:endCxn id="61" idx="2"/>
          </p:cNvCxnSpPr>
          <p:nvPr/>
        </p:nvCxnSpPr>
        <p:spPr bwMode="auto">
          <a:xfrm flipV="1">
            <a:off x="1686311" y="941349"/>
            <a:ext cx="1095175" cy="500281"/>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直接连接符 45"/>
          <p:cNvCxnSpPr>
            <a:cxnSpLocks noChangeShapeType="1"/>
            <a:stCxn id="58" idx="3"/>
            <a:endCxn id="62" idx="2"/>
          </p:cNvCxnSpPr>
          <p:nvPr/>
        </p:nvCxnSpPr>
        <p:spPr bwMode="auto">
          <a:xfrm>
            <a:off x="1686311" y="1441629"/>
            <a:ext cx="1073351" cy="578068"/>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74" name="Picture 73">
            <a:extLst>
              <a:ext uri="{FF2B5EF4-FFF2-40B4-BE49-F238E27FC236}">
                <a16:creationId xmlns:a16="http://schemas.microsoft.com/office/drawing/2014/main" id="{3C328ACC-0D8F-4240-A38E-95C07943BD69}"/>
              </a:ext>
            </a:extLst>
          </p:cNvPr>
          <p:cNvPicPr>
            <a:picLocks noChangeAspect="1"/>
          </p:cNvPicPr>
          <p:nvPr/>
        </p:nvPicPr>
        <p:blipFill>
          <a:blip r:embed="rId3">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971720" y="4461148"/>
            <a:ext cx="679271" cy="760024"/>
          </a:xfrm>
          <a:prstGeom prst="rect">
            <a:avLst/>
          </a:prstGeom>
        </p:spPr>
      </p:pic>
      <p:sp>
        <p:nvSpPr>
          <p:cNvPr id="75" name="文本框 31"/>
          <p:cNvSpPr txBox="1">
            <a:spLocks noChangeArrowheads="1"/>
          </p:cNvSpPr>
          <p:nvPr/>
        </p:nvSpPr>
        <p:spPr bwMode="auto">
          <a:xfrm>
            <a:off x="964514" y="5131945"/>
            <a:ext cx="1100021" cy="517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382" dirty="0">
                <a:latin typeface="Arial" panose="020B0604020202020204" pitchFamily="34" charset="0"/>
                <a:ea typeface="宋体" panose="02010600030101010101" pitchFamily="2" charset="-122"/>
              </a:rPr>
              <a:t>Supporting staff</a:t>
            </a:r>
          </a:p>
        </p:txBody>
      </p:sp>
      <p:sp>
        <p:nvSpPr>
          <p:cNvPr id="76" name="Oval 25"/>
          <p:cNvSpPr>
            <a:spLocks noChangeArrowheads="1"/>
          </p:cNvSpPr>
          <p:nvPr/>
        </p:nvSpPr>
        <p:spPr bwMode="auto">
          <a:xfrm>
            <a:off x="2706714" y="5434667"/>
            <a:ext cx="2164903" cy="594610"/>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Reply users’ questions***</a:t>
            </a:r>
          </a:p>
        </p:txBody>
      </p:sp>
      <p:cxnSp>
        <p:nvCxnSpPr>
          <p:cNvPr id="83" name="直接连接符 45"/>
          <p:cNvCxnSpPr>
            <a:cxnSpLocks noChangeShapeType="1"/>
            <a:stCxn id="74" idx="3"/>
            <a:endCxn id="110" idx="2"/>
          </p:cNvCxnSpPr>
          <p:nvPr/>
        </p:nvCxnSpPr>
        <p:spPr bwMode="auto">
          <a:xfrm>
            <a:off x="1650991" y="4841160"/>
            <a:ext cx="1105596" cy="14537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直接连接符 45"/>
          <p:cNvCxnSpPr>
            <a:cxnSpLocks noChangeShapeType="1"/>
            <a:stCxn id="74" idx="3"/>
            <a:endCxn id="76" idx="2"/>
          </p:cNvCxnSpPr>
          <p:nvPr/>
        </p:nvCxnSpPr>
        <p:spPr bwMode="auto">
          <a:xfrm>
            <a:off x="1650991" y="4841160"/>
            <a:ext cx="1055723" cy="89081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TextBox 1"/>
          <p:cNvSpPr txBox="1"/>
          <p:nvPr/>
        </p:nvSpPr>
        <p:spPr>
          <a:xfrm>
            <a:off x="8295296" y="5238102"/>
            <a:ext cx="1554465" cy="570926"/>
          </a:xfrm>
          <a:prstGeom prst="rect">
            <a:avLst/>
          </a:prstGeom>
          <a:noFill/>
        </p:spPr>
        <p:txBody>
          <a:bodyPr wrap="none" rtlCol="0">
            <a:spAutoFit/>
          </a:bodyPr>
          <a:lstStyle/>
          <a:p>
            <a:r>
              <a:rPr lang="en-US" altLang="zh-CN" sz="1555" dirty="0"/>
              <a:t>***: Low priority</a:t>
            </a:r>
          </a:p>
          <a:p>
            <a:endParaRPr lang="zh-CN" altLang="en-US" sz="1555" dirty="0"/>
          </a:p>
        </p:txBody>
      </p:sp>
      <p:sp>
        <p:nvSpPr>
          <p:cNvPr id="79" name="Isosceles Triangle 78"/>
          <p:cNvSpPr/>
          <p:nvPr/>
        </p:nvSpPr>
        <p:spPr>
          <a:xfrm rot="14288823">
            <a:off x="4501702" y="2348022"/>
            <a:ext cx="312573" cy="194771"/>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82"/>
          </a:p>
        </p:txBody>
      </p:sp>
      <p:cxnSp>
        <p:nvCxnSpPr>
          <p:cNvPr id="81" name="Straight Connector 80">
            <a:extLst>
              <a:ext uri="{FF2B5EF4-FFF2-40B4-BE49-F238E27FC236}">
                <a16:creationId xmlns:a16="http://schemas.microsoft.com/office/drawing/2014/main" id="{E2E358DC-A9B0-4DE9-85CB-0D473744800A}"/>
              </a:ext>
            </a:extLst>
          </p:cNvPr>
          <p:cNvCxnSpPr>
            <a:cxnSpLocks/>
            <a:stCxn id="79" idx="3"/>
            <a:endCxn id="99" idx="2"/>
          </p:cNvCxnSpPr>
          <p:nvPr/>
        </p:nvCxnSpPr>
        <p:spPr>
          <a:xfrm flipV="1">
            <a:off x="4740708" y="2135693"/>
            <a:ext cx="702284" cy="25832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82" name="Oval 25"/>
          <p:cNvSpPr>
            <a:spLocks noChangeArrowheads="1"/>
          </p:cNvSpPr>
          <p:nvPr/>
        </p:nvSpPr>
        <p:spPr bwMode="auto">
          <a:xfrm>
            <a:off x="2739512" y="226469"/>
            <a:ext cx="2122732" cy="429197"/>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Import students’ name lists</a:t>
            </a:r>
          </a:p>
        </p:txBody>
      </p:sp>
      <p:cxnSp>
        <p:nvCxnSpPr>
          <p:cNvPr id="86" name="直接连接符 45"/>
          <p:cNvCxnSpPr>
            <a:cxnSpLocks noChangeShapeType="1"/>
            <a:stCxn id="58" idx="3"/>
            <a:endCxn id="82" idx="2"/>
          </p:cNvCxnSpPr>
          <p:nvPr/>
        </p:nvCxnSpPr>
        <p:spPr bwMode="auto">
          <a:xfrm flipV="1">
            <a:off x="1686311" y="441068"/>
            <a:ext cx="1053202" cy="100056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TextBox 2"/>
          <p:cNvSpPr txBox="1"/>
          <p:nvPr/>
        </p:nvSpPr>
        <p:spPr>
          <a:xfrm>
            <a:off x="4519096" y="6313566"/>
            <a:ext cx="1049967" cy="411523"/>
          </a:xfrm>
          <a:prstGeom prst="rect">
            <a:avLst/>
          </a:prstGeom>
          <a:noFill/>
        </p:spPr>
        <p:txBody>
          <a:bodyPr wrap="none" rtlCol="0">
            <a:spAutoFit/>
          </a:bodyPr>
          <a:lstStyle/>
          <a:p>
            <a:r>
              <a:rPr lang="en-US" altLang="zh-CN" sz="2074" dirty="0">
                <a:solidFill>
                  <a:srgbClr val="C00000"/>
                </a:solidFill>
              </a:rPr>
              <a:t>Figure 1</a:t>
            </a:r>
            <a:endParaRPr lang="zh-CN" altLang="en-US" sz="2074" dirty="0">
              <a:solidFill>
                <a:srgbClr val="C00000"/>
              </a:solidFill>
            </a:endParaRPr>
          </a:p>
        </p:txBody>
      </p:sp>
      <p:sp>
        <p:nvSpPr>
          <p:cNvPr id="90" name="Oval 25"/>
          <p:cNvSpPr>
            <a:spLocks noChangeArrowheads="1"/>
          </p:cNvSpPr>
          <p:nvPr/>
        </p:nvSpPr>
        <p:spPr bwMode="auto">
          <a:xfrm>
            <a:off x="2775623" y="1266597"/>
            <a:ext cx="1964243" cy="429197"/>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Update mentor group</a:t>
            </a:r>
          </a:p>
        </p:txBody>
      </p:sp>
      <p:cxnSp>
        <p:nvCxnSpPr>
          <p:cNvPr id="94" name="直接连接符 45"/>
          <p:cNvCxnSpPr>
            <a:cxnSpLocks noChangeShapeType="1"/>
            <a:stCxn id="58" idx="3"/>
            <a:endCxn id="90" idx="2"/>
          </p:cNvCxnSpPr>
          <p:nvPr/>
        </p:nvCxnSpPr>
        <p:spPr bwMode="auto">
          <a:xfrm>
            <a:off x="1686311" y="1441630"/>
            <a:ext cx="1089312" cy="3956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5" name="Oval 25"/>
          <p:cNvSpPr>
            <a:spLocks noChangeArrowheads="1"/>
          </p:cNvSpPr>
          <p:nvPr/>
        </p:nvSpPr>
        <p:spPr bwMode="auto">
          <a:xfrm>
            <a:off x="2750681" y="2394551"/>
            <a:ext cx="1901401" cy="429197"/>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Search members’ info</a:t>
            </a:r>
          </a:p>
        </p:txBody>
      </p:sp>
      <p:cxnSp>
        <p:nvCxnSpPr>
          <p:cNvPr id="96" name="直接连接符 45"/>
          <p:cNvCxnSpPr>
            <a:cxnSpLocks noChangeShapeType="1"/>
            <a:stCxn id="58" idx="3"/>
            <a:endCxn id="95" idx="2"/>
          </p:cNvCxnSpPr>
          <p:nvPr/>
        </p:nvCxnSpPr>
        <p:spPr bwMode="auto">
          <a:xfrm>
            <a:off x="1686311" y="1441630"/>
            <a:ext cx="1064370" cy="116752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9" name="Oval 25"/>
          <p:cNvSpPr>
            <a:spLocks noChangeArrowheads="1"/>
          </p:cNvSpPr>
          <p:nvPr/>
        </p:nvSpPr>
        <p:spPr bwMode="auto">
          <a:xfrm>
            <a:off x="5442992" y="1951547"/>
            <a:ext cx="1770890" cy="368291"/>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Search students’ info</a:t>
            </a:r>
          </a:p>
        </p:txBody>
      </p:sp>
      <p:sp>
        <p:nvSpPr>
          <p:cNvPr id="101" name="Isosceles Triangle 100"/>
          <p:cNvSpPr/>
          <p:nvPr/>
        </p:nvSpPr>
        <p:spPr>
          <a:xfrm rot="18032017">
            <a:off x="4521165" y="2633662"/>
            <a:ext cx="291994" cy="190058"/>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82"/>
          </a:p>
        </p:txBody>
      </p:sp>
      <p:cxnSp>
        <p:nvCxnSpPr>
          <p:cNvPr id="102" name="Straight Connector 101">
            <a:extLst>
              <a:ext uri="{FF2B5EF4-FFF2-40B4-BE49-F238E27FC236}">
                <a16:creationId xmlns:a16="http://schemas.microsoft.com/office/drawing/2014/main" id="{E2E358DC-A9B0-4DE9-85CB-0D473744800A}"/>
              </a:ext>
            </a:extLst>
          </p:cNvPr>
          <p:cNvCxnSpPr>
            <a:cxnSpLocks/>
            <a:stCxn id="101" idx="3"/>
            <a:endCxn id="103" idx="2"/>
          </p:cNvCxnSpPr>
          <p:nvPr/>
        </p:nvCxnSpPr>
        <p:spPr>
          <a:xfrm>
            <a:off x="4749014" y="2776970"/>
            <a:ext cx="532523" cy="153649"/>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3" name="Oval 25"/>
          <p:cNvSpPr>
            <a:spLocks noChangeArrowheads="1"/>
          </p:cNvSpPr>
          <p:nvPr/>
        </p:nvSpPr>
        <p:spPr bwMode="auto">
          <a:xfrm rot="110730">
            <a:off x="5281082" y="2683340"/>
            <a:ext cx="1754052" cy="551045"/>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Search mentors’ info</a:t>
            </a:r>
          </a:p>
        </p:txBody>
      </p:sp>
      <p:sp>
        <p:nvSpPr>
          <p:cNvPr id="110" name="Oval 25"/>
          <p:cNvSpPr>
            <a:spLocks noChangeArrowheads="1"/>
          </p:cNvSpPr>
          <p:nvPr/>
        </p:nvSpPr>
        <p:spPr bwMode="auto">
          <a:xfrm>
            <a:off x="2756587" y="4723308"/>
            <a:ext cx="1901401" cy="526444"/>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View log info</a:t>
            </a:r>
          </a:p>
        </p:txBody>
      </p:sp>
      <p:cxnSp>
        <p:nvCxnSpPr>
          <p:cNvPr id="111" name="直接连接符 45"/>
          <p:cNvCxnSpPr>
            <a:cxnSpLocks noChangeShapeType="1"/>
            <a:stCxn id="58" idx="3"/>
            <a:endCxn id="110" idx="2"/>
          </p:cNvCxnSpPr>
          <p:nvPr/>
        </p:nvCxnSpPr>
        <p:spPr bwMode="auto">
          <a:xfrm>
            <a:off x="1686311" y="1441630"/>
            <a:ext cx="1070276" cy="35449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6" name="Oval 25"/>
          <p:cNvSpPr>
            <a:spLocks noChangeArrowheads="1"/>
          </p:cNvSpPr>
          <p:nvPr/>
        </p:nvSpPr>
        <p:spPr bwMode="auto">
          <a:xfrm>
            <a:off x="2838466" y="2910709"/>
            <a:ext cx="1901401" cy="429197"/>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Export records</a:t>
            </a:r>
          </a:p>
        </p:txBody>
      </p:sp>
      <p:cxnSp>
        <p:nvCxnSpPr>
          <p:cNvPr id="47" name="直接连接符 45"/>
          <p:cNvCxnSpPr>
            <a:cxnSpLocks noChangeShapeType="1"/>
            <a:stCxn id="58" idx="3"/>
            <a:endCxn id="46" idx="2"/>
          </p:cNvCxnSpPr>
          <p:nvPr/>
        </p:nvCxnSpPr>
        <p:spPr bwMode="auto">
          <a:xfrm>
            <a:off x="1686311" y="1441630"/>
            <a:ext cx="1152155" cy="1683678"/>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Oval 25">
            <a:extLst>
              <a:ext uri="{FF2B5EF4-FFF2-40B4-BE49-F238E27FC236}">
                <a16:creationId xmlns:a16="http://schemas.microsoft.com/office/drawing/2014/main" id="{E47D5929-E5F3-E9DB-5B4E-B3CED71780C4}"/>
              </a:ext>
            </a:extLst>
          </p:cNvPr>
          <p:cNvSpPr>
            <a:spLocks noChangeArrowheads="1"/>
          </p:cNvSpPr>
          <p:nvPr/>
        </p:nvSpPr>
        <p:spPr bwMode="auto">
          <a:xfrm>
            <a:off x="2854714" y="3407469"/>
            <a:ext cx="1901401" cy="429197"/>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Communicate</a:t>
            </a:r>
          </a:p>
        </p:txBody>
      </p:sp>
      <p:cxnSp>
        <p:nvCxnSpPr>
          <p:cNvPr id="8" name="直接连接符 45">
            <a:extLst>
              <a:ext uri="{FF2B5EF4-FFF2-40B4-BE49-F238E27FC236}">
                <a16:creationId xmlns:a16="http://schemas.microsoft.com/office/drawing/2014/main" id="{239B69E2-DD8A-6ED5-95C4-A8045F2A2178}"/>
              </a:ext>
            </a:extLst>
          </p:cNvPr>
          <p:cNvCxnSpPr>
            <a:cxnSpLocks noChangeShapeType="1"/>
            <a:stCxn id="58" idx="3"/>
            <a:endCxn id="4" idx="2"/>
          </p:cNvCxnSpPr>
          <p:nvPr/>
        </p:nvCxnSpPr>
        <p:spPr bwMode="auto">
          <a:xfrm>
            <a:off x="1686311" y="1441630"/>
            <a:ext cx="1168403" cy="2180438"/>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tangle 2">
            <a:extLst>
              <a:ext uri="{FF2B5EF4-FFF2-40B4-BE49-F238E27FC236}">
                <a16:creationId xmlns:a16="http://schemas.microsoft.com/office/drawing/2014/main" id="{37D902C8-B737-AB1A-449D-6F3974A85D9F}"/>
              </a:ext>
            </a:extLst>
          </p:cNvPr>
          <p:cNvSpPr txBox="1">
            <a:spLocks noChangeArrowheads="1"/>
          </p:cNvSpPr>
          <p:nvPr/>
        </p:nvSpPr>
        <p:spPr>
          <a:xfrm>
            <a:off x="8000443" y="89197"/>
            <a:ext cx="4191557" cy="1143900"/>
          </a:xfrm>
          <a:prstGeom prst="rect">
            <a:avLst/>
          </a:prstGeom>
        </p:spPr>
        <p:txBody>
          <a:bodyPr vert="horz" lIns="79003" tIns="39502" rIns="79003" bIns="39502" rtlCol="0" anchor="ctr">
            <a:normAutofit/>
          </a:bodyPr>
          <a:lstStyle>
            <a:lvl1pPr algn="l" defTabSz="1058327" rtl="0" eaLnBrk="1" latinLnBrk="0" hangingPunct="1">
              <a:lnSpc>
                <a:spcPct val="90000"/>
              </a:lnSpc>
              <a:spcBef>
                <a:spcPct val="0"/>
              </a:spcBef>
              <a:buNone/>
              <a:defRPr sz="5093" kern="1200">
                <a:solidFill>
                  <a:schemeClr val="tx1"/>
                </a:solidFill>
                <a:latin typeface="+mj-lt"/>
                <a:ea typeface="+mj-ea"/>
                <a:cs typeface="+mj-cs"/>
              </a:defRPr>
            </a:lvl1pPr>
          </a:lstStyle>
          <a:p>
            <a:r>
              <a:rPr lang="en-US" altLang="zh-CN" sz="4000" dirty="0">
                <a:solidFill>
                  <a:srgbClr val="FF0000"/>
                </a:solidFill>
                <a:ea typeface="宋体" panose="02010600030101010101" pitchFamily="2" charset="-122"/>
              </a:rPr>
              <a:t>Use case diagram</a:t>
            </a:r>
          </a:p>
        </p:txBody>
      </p:sp>
      <p:sp>
        <p:nvSpPr>
          <p:cNvPr id="41" name="Oval 25">
            <a:extLst>
              <a:ext uri="{FF2B5EF4-FFF2-40B4-BE49-F238E27FC236}">
                <a16:creationId xmlns:a16="http://schemas.microsoft.com/office/drawing/2014/main" id="{E47D5929-E5F3-E9DB-5B4E-B3CED71780C4}"/>
              </a:ext>
            </a:extLst>
          </p:cNvPr>
          <p:cNvSpPr>
            <a:spLocks noChangeArrowheads="1"/>
          </p:cNvSpPr>
          <p:nvPr/>
        </p:nvSpPr>
        <p:spPr bwMode="auto">
          <a:xfrm>
            <a:off x="2894734" y="4079413"/>
            <a:ext cx="1901401" cy="429197"/>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Give feedback</a:t>
            </a:r>
          </a:p>
        </p:txBody>
      </p:sp>
      <p:cxnSp>
        <p:nvCxnSpPr>
          <p:cNvPr id="42" name="直接连接符 45">
            <a:extLst>
              <a:ext uri="{FF2B5EF4-FFF2-40B4-BE49-F238E27FC236}">
                <a16:creationId xmlns:a16="http://schemas.microsoft.com/office/drawing/2014/main" id="{239B69E2-DD8A-6ED5-95C4-A8045F2A2178}"/>
              </a:ext>
            </a:extLst>
          </p:cNvPr>
          <p:cNvCxnSpPr>
            <a:cxnSpLocks noChangeShapeType="1"/>
            <a:stCxn id="58" idx="3"/>
            <a:endCxn id="41" idx="2"/>
          </p:cNvCxnSpPr>
          <p:nvPr/>
        </p:nvCxnSpPr>
        <p:spPr bwMode="auto">
          <a:xfrm>
            <a:off x="1686311" y="1441630"/>
            <a:ext cx="1208423" cy="285238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891728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矩形 60"/>
          <p:cNvSpPr>
            <a:spLocks noChangeArrowheads="1"/>
          </p:cNvSpPr>
          <p:nvPr/>
        </p:nvSpPr>
        <p:spPr bwMode="auto">
          <a:xfrm>
            <a:off x="3062816" y="77169"/>
            <a:ext cx="2494050" cy="5206543"/>
          </a:xfrm>
          <a:prstGeom prst="rect">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endParaRPr lang="zh-CN" altLang="en-US" sz="1382">
              <a:latin typeface="Arial" panose="020B0604020202020204" pitchFamily="34" charset="0"/>
              <a:ea typeface="宋体" panose="02010600030101010101" pitchFamily="2" charset="-122"/>
            </a:endParaRPr>
          </a:p>
        </p:txBody>
      </p:sp>
      <p:sp>
        <p:nvSpPr>
          <p:cNvPr id="63" name="Oval 25"/>
          <p:cNvSpPr>
            <a:spLocks noChangeArrowheads="1"/>
          </p:cNvSpPr>
          <p:nvPr/>
        </p:nvSpPr>
        <p:spPr bwMode="auto">
          <a:xfrm>
            <a:off x="6675711" y="737126"/>
            <a:ext cx="1026703" cy="466682"/>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568" dirty="0">
                <a:latin typeface="Arial" panose="020B0604020202020204" pitchFamily="34" charset="0"/>
                <a:ea typeface="宋体" panose="02010600030101010101" pitchFamily="2" charset="-122"/>
              </a:rPr>
              <a:t>Login</a:t>
            </a:r>
          </a:p>
        </p:txBody>
      </p:sp>
      <p:sp>
        <p:nvSpPr>
          <p:cNvPr id="65" name="Text Box 13"/>
          <p:cNvSpPr txBox="1">
            <a:spLocks noChangeArrowheads="1"/>
          </p:cNvSpPr>
          <p:nvPr/>
        </p:nvSpPr>
        <p:spPr bwMode="auto">
          <a:xfrm>
            <a:off x="5605497" y="658027"/>
            <a:ext cx="1354935" cy="363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r>
              <a:rPr lang="en-US" altLang="zh-CN" sz="1764" dirty="0">
                <a:latin typeface="Arial" panose="020B0604020202020204" pitchFamily="34" charset="0"/>
                <a:ea typeface="宋体" panose="02010600030101010101" pitchFamily="2" charset="-122"/>
              </a:rPr>
              <a:t>&lt;include&gt;</a:t>
            </a:r>
          </a:p>
        </p:txBody>
      </p:sp>
      <p:sp>
        <p:nvSpPr>
          <p:cNvPr id="66" name="Line 10"/>
          <p:cNvSpPr>
            <a:spLocks noChangeShapeType="1"/>
          </p:cNvSpPr>
          <p:nvPr/>
        </p:nvSpPr>
        <p:spPr bwMode="auto">
          <a:xfrm>
            <a:off x="5580101" y="970467"/>
            <a:ext cx="1095610" cy="2012"/>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sz="2068"/>
          </a:p>
        </p:txBody>
      </p:sp>
      <p:pic>
        <p:nvPicPr>
          <p:cNvPr id="71" name="Picture 70">
            <a:extLst>
              <a:ext uri="{FF2B5EF4-FFF2-40B4-BE49-F238E27FC236}">
                <a16:creationId xmlns:a16="http://schemas.microsoft.com/office/drawing/2014/main" id="{3C328ACC-0D8F-4240-A38E-95C07943BD69}"/>
              </a:ext>
            </a:extLst>
          </p:cNvPr>
          <p:cNvPicPr>
            <a:picLocks noChangeAspect="1"/>
          </p:cNvPicPr>
          <p:nvPr/>
        </p:nvPicPr>
        <p:blipFill>
          <a:blip r:embed="rId3">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1827276" y="2740343"/>
            <a:ext cx="679271" cy="760024"/>
          </a:xfrm>
          <a:prstGeom prst="rect">
            <a:avLst/>
          </a:prstGeom>
        </p:spPr>
      </p:pic>
      <p:sp>
        <p:nvSpPr>
          <p:cNvPr id="72" name="文本框 31"/>
          <p:cNvSpPr txBox="1">
            <a:spLocks noChangeArrowheads="1"/>
          </p:cNvSpPr>
          <p:nvPr/>
        </p:nvSpPr>
        <p:spPr bwMode="auto">
          <a:xfrm>
            <a:off x="1872887" y="3446665"/>
            <a:ext cx="1040612" cy="517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382" dirty="0">
                <a:latin typeface="Arial" panose="020B0604020202020204" pitchFamily="34" charset="0"/>
                <a:ea typeface="宋体" panose="02010600030101010101" pitchFamily="2" charset="-122"/>
              </a:rPr>
              <a:t>MCP member</a:t>
            </a:r>
          </a:p>
        </p:txBody>
      </p:sp>
      <p:sp>
        <p:nvSpPr>
          <p:cNvPr id="74" name="Oval 25"/>
          <p:cNvSpPr>
            <a:spLocks noChangeArrowheads="1"/>
          </p:cNvSpPr>
          <p:nvPr/>
        </p:nvSpPr>
        <p:spPr bwMode="auto">
          <a:xfrm>
            <a:off x="3373511" y="3257152"/>
            <a:ext cx="2042931" cy="429197"/>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Communicate</a:t>
            </a:r>
          </a:p>
        </p:txBody>
      </p:sp>
      <p:cxnSp>
        <p:nvCxnSpPr>
          <p:cNvPr id="75" name="直接连接符 45"/>
          <p:cNvCxnSpPr>
            <a:cxnSpLocks noChangeShapeType="1"/>
            <a:stCxn id="71" idx="3"/>
            <a:endCxn id="74" idx="2"/>
          </p:cNvCxnSpPr>
          <p:nvPr/>
        </p:nvCxnSpPr>
        <p:spPr bwMode="auto">
          <a:xfrm>
            <a:off x="2506547" y="3120355"/>
            <a:ext cx="866964" cy="351396"/>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90" name="Picture 89">
            <a:extLst>
              <a:ext uri="{FF2B5EF4-FFF2-40B4-BE49-F238E27FC236}">
                <a16:creationId xmlns:a16="http://schemas.microsoft.com/office/drawing/2014/main" id="{3C328ACC-0D8F-4240-A38E-95C07943BD69}"/>
              </a:ext>
            </a:extLst>
          </p:cNvPr>
          <p:cNvPicPr>
            <a:picLocks noChangeAspect="1"/>
          </p:cNvPicPr>
          <p:nvPr/>
        </p:nvPicPr>
        <p:blipFill>
          <a:blip r:embed="rId3">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1872887" y="1323721"/>
            <a:ext cx="679271" cy="760024"/>
          </a:xfrm>
          <a:prstGeom prst="rect">
            <a:avLst/>
          </a:prstGeom>
        </p:spPr>
      </p:pic>
      <p:sp>
        <p:nvSpPr>
          <p:cNvPr id="91" name="文本框 31"/>
          <p:cNvSpPr txBox="1">
            <a:spLocks noChangeArrowheads="1"/>
          </p:cNvSpPr>
          <p:nvPr/>
        </p:nvSpPr>
        <p:spPr bwMode="auto">
          <a:xfrm>
            <a:off x="1924903" y="2025612"/>
            <a:ext cx="947008" cy="30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382" dirty="0">
                <a:latin typeface="Arial" panose="020B0604020202020204" pitchFamily="34" charset="0"/>
                <a:ea typeface="宋体" panose="02010600030101010101" pitchFamily="2" charset="-122"/>
              </a:rPr>
              <a:t>Mentor</a:t>
            </a:r>
          </a:p>
        </p:txBody>
      </p:sp>
      <p:sp>
        <p:nvSpPr>
          <p:cNvPr id="92" name="Oval 25"/>
          <p:cNvSpPr>
            <a:spLocks noChangeArrowheads="1"/>
          </p:cNvSpPr>
          <p:nvPr/>
        </p:nvSpPr>
        <p:spPr bwMode="auto">
          <a:xfrm>
            <a:off x="3391630" y="2623909"/>
            <a:ext cx="1901401" cy="556524"/>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Edit interview record</a:t>
            </a:r>
          </a:p>
        </p:txBody>
      </p:sp>
      <p:cxnSp>
        <p:nvCxnSpPr>
          <p:cNvPr id="93" name="直接连接符 45"/>
          <p:cNvCxnSpPr>
            <a:cxnSpLocks noChangeShapeType="1"/>
            <a:stCxn id="90" idx="3"/>
            <a:endCxn id="92" idx="2"/>
          </p:cNvCxnSpPr>
          <p:nvPr/>
        </p:nvCxnSpPr>
        <p:spPr bwMode="auto">
          <a:xfrm>
            <a:off x="2552157" y="1703733"/>
            <a:ext cx="839473" cy="1198439"/>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Oval 25"/>
          <p:cNvSpPr>
            <a:spLocks noChangeArrowheads="1"/>
          </p:cNvSpPr>
          <p:nvPr/>
        </p:nvSpPr>
        <p:spPr bwMode="auto">
          <a:xfrm>
            <a:off x="3382570" y="1810317"/>
            <a:ext cx="1942599" cy="485520"/>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Search students’ info</a:t>
            </a:r>
          </a:p>
        </p:txBody>
      </p:sp>
      <p:cxnSp>
        <p:nvCxnSpPr>
          <p:cNvPr id="97" name="直接连接符 45"/>
          <p:cNvCxnSpPr>
            <a:cxnSpLocks noChangeShapeType="1"/>
            <a:stCxn id="90" idx="3"/>
            <a:endCxn id="96" idx="2"/>
          </p:cNvCxnSpPr>
          <p:nvPr/>
        </p:nvCxnSpPr>
        <p:spPr bwMode="auto">
          <a:xfrm>
            <a:off x="2552157" y="1703733"/>
            <a:ext cx="830413" cy="34934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28" name="Picture 27">
            <a:extLst>
              <a:ext uri="{FF2B5EF4-FFF2-40B4-BE49-F238E27FC236}">
                <a16:creationId xmlns:a16="http://schemas.microsoft.com/office/drawing/2014/main" id="{3C328ACC-0D8F-4240-A38E-95C07943BD69}"/>
              </a:ext>
            </a:extLst>
          </p:cNvPr>
          <p:cNvPicPr>
            <a:picLocks noChangeAspect="1"/>
          </p:cNvPicPr>
          <p:nvPr/>
        </p:nvPicPr>
        <p:blipFill>
          <a:blip r:embed="rId3">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1810517" y="4366032"/>
            <a:ext cx="679271" cy="760024"/>
          </a:xfrm>
          <a:prstGeom prst="rect">
            <a:avLst/>
          </a:prstGeom>
        </p:spPr>
      </p:pic>
      <p:sp>
        <p:nvSpPr>
          <p:cNvPr id="29" name="文本框 31"/>
          <p:cNvSpPr txBox="1">
            <a:spLocks noChangeArrowheads="1"/>
          </p:cNvSpPr>
          <p:nvPr/>
        </p:nvSpPr>
        <p:spPr bwMode="auto">
          <a:xfrm>
            <a:off x="1862533" y="5067924"/>
            <a:ext cx="947008" cy="30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382" dirty="0">
                <a:latin typeface="Arial" panose="020B0604020202020204" pitchFamily="34" charset="0"/>
                <a:ea typeface="宋体" panose="02010600030101010101" pitchFamily="2" charset="-122"/>
              </a:rPr>
              <a:t>Student</a:t>
            </a:r>
          </a:p>
        </p:txBody>
      </p:sp>
      <p:pic>
        <p:nvPicPr>
          <p:cNvPr id="30" name="Picture 29">
            <a:extLst>
              <a:ext uri="{FF2B5EF4-FFF2-40B4-BE49-F238E27FC236}">
                <a16:creationId xmlns:a16="http://schemas.microsoft.com/office/drawing/2014/main" id="{3C328ACC-0D8F-4240-A38E-95C07943BD69}"/>
              </a:ext>
            </a:extLst>
          </p:cNvPr>
          <p:cNvPicPr>
            <a:picLocks noChangeAspect="1"/>
          </p:cNvPicPr>
          <p:nvPr/>
        </p:nvPicPr>
        <p:blipFill>
          <a:blip r:embed="rId3">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6160304" y="2564039"/>
            <a:ext cx="679271" cy="760024"/>
          </a:xfrm>
          <a:prstGeom prst="rect">
            <a:avLst/>
          </a:prstGeom>
        </p:spPr>
      </p:pic>
      <p:sp>
        <p:nvSpPr>
          <p:cNvPr id="31" name="文本框 31"/>
          <p:cNvSpPr txBox="1">
            <a:spLocks noChangeArrowheads="1"/>
          </p:cNvSpPr>
          <p:nvPr/>
        </p:nvSpPr>
        <p:spPr bwMode="auto">
          <a:xfrm>
            <a:off x="5929127" y="3304104"/>
            <a:ext cx="1208959" cy="30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382" dirty="0">
                <a:latin typeface="Arial" panose="020B0604020202020204" pitchFamily="34" charset="0"/>
                <a:ea typeface="宋体" panose="02010600030101010101" pitchFamily="2" charset="-122"/>
              </a:rPr>
              <a:t>Coordinator</a:t>
            </a:r>
          </a:p>
        </p:txBody>
      </p:sp>
      <p:sp>
        <p:nvSpPr>
          <p:cNvPr id="32" name="Isosceles Triangle 31"/>
          <p:cNvSpPr/>
          <p:nvPr/>
        </p:nvSpPr>
        <p:spPr>
          <a:xfrm rot="10591871">
            <a:off x="2004785" y="2536139"/>
            <a:ext cx="342833" cy="232931"/>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82"/>
          </a:p>
        </p:txBody>
      </p:sp>
      <p:cxnSp>
        <p:nvCxnSpPr>
          <p:cNvPr id="33" name="Straight Connector 32">
            <a:extLst>
              <a:ext uri="{FF2B5EF4-FFF2-40B4-BE49-F238E27FC236}">
                <a16:creationId xmlns:a16="http://schemas.microsoft.com/office/drawing/2014/main" id="{E2E358DC-A9B0-4DE9-85CB-0D473744800A}"/>
              </a:ext>
            </a:extLst>
          </p:cNvPr>
          <p:cNvCxnSpPr>
            <a:stCxn id="32" idx="3"/>
          </p:cNvCxnSpPr>
          <p:nvPr/>
        </p:nvCxnSpPr>
        <p:spPr>
          <a:xfrm flipV="1">
            <a:off x="2169154" y="2330647"/>
            <a:ext cx="7047" cy="205706"/>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8" name="Isosceles Triangle 37"/>
          <p:cNvSpPr/>
          <p:nvPr/>
        </p:nvSpPr>
        <p:spPr>
          <a:xfrm>
            <a:off x="1997658" y="3941910"/>
            <a:ext cx="342833" cy="232931"/>
          </a:xfrm>
          <a:prstGeom prs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82"/>
          </a:p>
        </p:txBody>
      </p:sp>
      <p:cxnSp>
        <p:nvCxnSpPr>
          <p:cNvPr id="39" name="Straight Connector 38">
            <a:extLst>
              <a:ext uri="{FF2B5EF4-FFF2-40B4-BE49-F238E27FC236}">
                <a16:creationId xmlns:a16="http://schemas.microsoft.com/office/drawing/2014/main" id="{E2E358DC-A9B0-4DE9-85CB-0D473744800A}"/>
              </a:ext>
            </a:extLst>
          </p:cNvPr>
          <p:cNvCxnSpPr>
            <a:stCxn id="28" idx="0"/>
            <a:endCxn id="38" idx="3"/>
          </p:cNvCxnSpPr>
          <p:nvPr/>
        </p:nvCxnSpPr>
        <p:spPr>
          <a:xfrm flipV="1">
            <a:off x="2150153" y="4174842"/>
            <a:ext cx="18921" cy="191191"/>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55" name="Oval 25"/>
          <p:cNvSpPr>
            <a:spLocks noChangeArrowheads="1"/>
          </p:cNvSpPr>
          <p:nvPr/>
        </p:nvSpPr>
        <p:spPr bwMode="auto">
          <a:xfrm>
            <a:off x="3418740" y="4470229"/>
            <a:ext cx="2042931" cy="541383"/>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Check mentor info</a:t>
            </a:r>
          </a:p>
        </p:txBody>
      </p:sp>
      <p:cxnSp>
        <p:nvCxnSpPr>
          <p:cNvPr id="56" name="直接连接符 45"/>
          <p:cNvCxnSpPr>
            <a:cxnSpLocks noChangeShapeType="1"/>
            <a:stCxn id="28" idx="3"/>
            <a:endCxn id="55" idx="2"/>
          </p:cNvCxnSpPr>
          <p:nvPr/>
        </p:nvCxnSpPr>
        <p:spPr bwMode="auto">
          <a:xfrm flipV="1">
            <a:off x="2489788" y="4740921"/>
            <a:ext cx="928952" cy="5124"/>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9" name="Oval 25"/>
          <p:cNvSpPr>
            <a:spLocks noChangeArrowheads="1"/>
          </p:cNvSpPr>
          <p:nvPr/>
        </p:nvSpPr>
        <p:spPr bwMode="auto">
          <a:xfrm>
            <a:off x="3338542" y="100198"/>
            <a:ext cx="1942599" cy="485520"/>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Forward cases</a:t>
            </a:r>
          </a:p>
        </p:txBody>
      </p:sp>
      <p:cxnSp>
        <p:nvCxnSpPr>
          <p:cNvPr id="67" name="直接连接符 45"/>
          <p:cNvCxnSpPr>
            <a:cxnSpLocks noChangeShapeType="1"/>
            <a:stCxn id="90" idx="3"/>
            <a:endCxn id="59" idx="2"/>
          </p:cNvCxnSpPr>
          <p:nvPr/>
        </p:nvCxnSpPr>
        <p:spPr bwMode="auto">
          <a:xfrm flipV="1">
            <a:off x="2552158" y="342959"/>
            <a:ext cx="786385" cy="1360774"/>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8" name="Oval 25"/>
          <p:cNvSpPr>
            <a:spLocks noChangeArrowheads="1"/>
          </p:cNvSpPr>
          <p:nvPr/>
        </p:nvSpPr>
        <p:spPr bwMode="auto">
          <a:xfrm>
            <a:off x="7767423" y="5156485"/>
            <a:ext cx="2152464" cy="585067"/>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Set up faculties and departments</a:t>
            </a:r>
          </a:p>
        </p:txBody>
      </p:sp>
      <p:sp>
        <p:nvSpPr>
          <p:cNvPr id="69" name="文本框 31"/>
          <p:cNvSpPr txBox="1">
            <a:spLocks noChangeArrowheads="1"/>
          </p:cNvSpPr>
          <p:nvPr/>
        </p:nvSpPr>
        <p:spPr bwMode="auto">
          <a:xfrm>
            <a:off x="6327614" y="5871876"/>
            <a:ext cx="1566118" cy="305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zh-CN" sz="1382" dirty="0">
                <a:latin typeface="Arial" panose="020B0604020202020204" pitchFamily="34" charset="0"/>
                <a:ea typeface="宋体" panose="02010600030101010101" pitchFamily="2" charset="-122"/>
              </a:rPr>
              <a:t>Administrator</a:t>
            </a:r>
          </a:p>
        </p:txBody>
      </p:sp>
      <p:pic>
        <p:nvPicPr>
          <p:cNvPr id="70" name="Picture 69"/>
          <p:cNvPicPr>
            <a:picLocks noChangeAspect="1"/>
          </p:cNvPicPr>
          <p:nvPr/>
        </p:nvPicPr>
        <p:blipFill>
          <a:blip r:embed="rId3">
            <a:clrChange>
              <a:clrFrom>
                <a:srgbClr val="EEEEEE"/>
              </a:clrFrom>
              <a:clrTo>
                <a:srgbClr val="EEEEEE">
                  <a:alpha val="0"/>
                </a:srgbClr>
              </a:clrTo>
            </a:clrChange>
            <a:duotone>
              <a:schemeClr val="accent1">
                <a:shade val="45000"/>
                <a:satMod val="135000"/>
              </a:schemeClr>
              <a:prstClr val="white"/>
            </a:duotone>
            <a:extLst>
              <a:ext uri="{BEBA8EAE-BF5A-486C-A8C5-ECC9F3942E4B}">
                <a14:imgProps xmlns:a14="http://schemas.microsoft.com/office/drawing/2010/main">
                  <a14:imgLayer r:embed="rId4">
                    <a14:imgEffect>
                      <a14:sharpenSoften amount="-25000"/>
                    </a14:imgEffect>
                  </a14:imgLayer>
                </a14:imgProps>
              </a:ext>
              <a:ext uri="{28A0092B-C50C-407E-A947-70E740481C1C}">
                <a14:useLocalDpi xmlns:a14="http://schemas.microsoft.com/office/drawing/2010/main" val="0"/>
              </a:ext>
            </a:extLst>
          </a:blip>
          <a:stretch>
            <a:fillRect/>
          </a:stretch>
        </p:blipFill>
        <p:spPr>
          <a:xfrm>
            <a:off x="6499940" y="5031817"/>
            <a:ext cx="679271" cy="760024"/>
          </a:xfrm>
          <a:prstGeom prst="rect">
            <a:avLst/>
          </a:prstGeom>
        </p:spPr>
      </p:pic>
      <p:cxnSp>
        <p:nvCxnSpPr>
          <p:cNvPr id="73" name="直接连接符 45"/>
          <p:cNvCxnSpPr>
            <a:cxnSpLocks noChangeShapeType="1"/>
            <a:stCxn id="70" idx="3"/>
            <a:endCxn id="68" idx="2"/>
          </p:cNvCxnSpPr>
          <p:nvPr/>
        </p:nvCxnSpPr>
        <p:spPr bwMode="auto">
          <a:xfrm>
            <a:off x="7179211" y="5411829"/>
            <a:ext cx="588212" cy="3719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6" name="Oval 25"/>
          <p:cNvSpPr>
            <a:spLocks noChangeArrowheads="1"/>
          </p:cNvSpPr>
          <p:nvPr/>
        </p:nvSpPr>
        <p:spPr bwMode="auto">
          <a:xfrm>
            <a:off x="7909514" y="4419261"/>
            <a:ext cx="2010373" cy="585067"/>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Set up faculty consultants </a:t>
            </a:r>
          </a:p>
        </p:txBody>
      </p:sp>
      <p:cxnSp>
        <p:nvCxnSpPr>
          <p:cNvPr id="77" name="直接连接符 45"/>
          <p:cNvCxnSpPr>
            <a:cxnSpLocks noChangeShapeType="1"/>
            <a:stCxn id="70" idx="3"/>
            <a:endCxn id="76" idx="2"/>
          </p:cNvCxnSpPr>
          <p:nvPr/>
        </p:nvCxnSpPr>
        <p:spPr bwMode="auto">
          <a:xfrm flipV="1">
            <a:off x="7179210" y="4711794"/>
            <a:ext cx="730304" cy="700035"/>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8" name="Oval 25"/>
          <p:cNvSpPr>
            <a:spLocks noChangeArrowheads="1"/>
          </p:cNvSpPr>
          <p:nvPr/>
        </p:nvSpPr>
        <p:spPr bwMode="auto">
          <a:xfrm>
            <a:off x="7876957" y="5856521"/>
            <a:ext cx="2042931" cy="544321"/>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Set up supporting staff</a:t>
            </a:r>
          </a:p>
        </p:txBody>
      </p:sp>
      <p:cxnSp>
        <p:nvCxnSpPr>
          <p:cNvPr id="79" name="直接连接符 45"/>
          <p:cNvCxnSpPr>
            <a:cxnSpLocks noChangeShapeType="1"/>
            <a:stCxn id="70" idx="3"/>
            <a:endCxn id="78" idx="2"/>
          </p:cNvCxnSpPr>
          <p:nvPr/>
        </p:nvCxnSpPr>
        <p:spPr bwMode="auto">
          <a:xfrm>
            <a:off x="7179211" y="5411829"/>
            <a:ext cx="697746" cy="71685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0" name="矩形 60"/>
          <p:cNvSpPr>
            <a:spLocks noChangeArrowheads="1"/>
          </p:cNvSpPr>
          <p:nvPr/>
        </p:nvSpPr>
        <p:spPr bwMode="auto">
          <a:xfrm>
            <a:off x="7651397" y="3596612"/>
            <a:ext cx="2494050" cy="2966436"/>
          </a:xfrm>
          <a:prstGeom prst="rect">
            <a:avLst/>
          </a:prstGeom>
          <a:noFill/>
          <a:ln w="9525" algn="ctr">
            <a:solidFill>
              <a:schemeClr val="tx1"/>
            </a:solidFill>
            <a:prstDash val="lgDash"/>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endParaRPr lang="zh-CN" altLang="en-US" sz="1382">
              <a:latin typeface="Arial" panose="020B0604020202020204" pitchFamily="34" charset="0"/>
              <a:ea typeface="宋体" panose="02010600030101010101" pitchFamily="2" charset="-122"/>
            </a:endParaRPr>
          </a:p>
        </p:txBody>
      </p:sp>
      <p:sp>
        <p:nvSpPr>
          <p:cNvPr id="81" name="Oval 25"/>
          <p:cNvSpPr>
            <a:spLocks noChangeArrowheads="1"/>
          </p:cNvSpPr>
          <p:nvPr/>
        </p:nvSpPr>
        <p:spPr bwMode="auto">
          <a:xfrm>
            <a:off x="11149022" y="5285724"/>
            <a:ext cx="1026703" cy="466682"/>
          </a:xfrm>
          <a:prstGeom prst="ellipse">
            <a:avLst/>
          </a:prstGeom>
          <a:solidFill>
            <a:srgbClr val="33CCCC">
              <a:alpha val="14117"/>
            </a:srgbClr>
          </a:solidFill>
          <a:ln w="9525">
            <a:solidFill>
              <a:schemeClr val="tx1"/>
            </a:solidFill>
            <a:round/>
            <a:headEnd/>
            <a:tailEnd/>
          </a:ln>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pPr>
            <a:r>
              <a:rPr lang="en-US" altLang="zh-CN" sz="1568" dirty="0">
                <a:latin typeface="Arial" panose="020B0604020202020204" pitchFamily="34" charset="0"/>
                <a:ea typeface="宋体" panose="02010600030101010101" pitchFamily="2" charset="-122"/>
              </a:rPr>
              <a:t>Login</a:t>
            </a:r>
          </a:p>
        </p:txBody>
      </p:sp>
      <p:sp>
        <p:nvSpPr>
          <p:cNvPr id="82" name="Text Box 13"/>
          <p:cNvSpPr txBox="1">
            <a:spLocks noChangeArrowheads="1"/>
          </p:cNvSpPr>
          <p:nvPr/>
        </p:nvSpPr>
        <p:spPr bwMode="auto">
          <a:xfrm>
            <a:off x="10149597" y="5135136"/>
            <a:ext cx="1354935" cy="363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 typeface="Arial" panose="020B0604020202020204" pitchFamily="34" charset="0"/>
              <a:buNone/>
            </a:pPr>
            <a:r>
              <a:rPr lang="en-US" altLang="zh-CN" sz="1764" dirty="0">
                <a:latin typeface="Arial" panose="020B0604020202020204" pitchFamily="34" charset="0"/>
                <a:ea typeface="宋体" panose="02010600030101010101" pitchFamily="2" charset="-122"/>
              </a:rPr>
              <a:t>&lt;include&gt;</a:t>
            </a:r>
          </a:p>
        </p:txBody>
      </p:sp>
      <p:sp>
        <p:nvSpPr>
          <p:cNvPr id="83" name="Line 10"/>
          <p:cNvSpPr>
            <a:spLocks noChangeShapeType="1"/>
          </p:cNvSpPr>
          <p:nvPr/>
        </p:nvSpPr>
        <p:spPr bwMode="auto">
          <a:xfrm>
            <a:off x="10145447" y="5486422"/>
            <a:ext cx="1003574" cy="34655"/>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sz="2068"/>
          </a:p>
        </p:txBody>
      </p:sp>
      <p:sp>
        <p:nvSpPr>
          <p:cNvPr id="84" name="TextBox 83"/>
          <p:cNvSpPr txBox="1"/>
          <p:nvPr/>
        </p:nvSpPr>
        <p:spPr>
          <a:xfrm>
            <a:off x="3702258" y="5360431"/>
            <a:ext cx="1049967" cy="411523"/>
          </a:xfrm>
          <a:prstGeom prst="rect">
            <a:avLst/>
          </a:prstGeom>
          <a:noFill/>
        </p:spPr>
        <p:txBody>
          <a:bodyPr wrap="none" rtlCol="0">
            <a:spAutoFit/>
          </a:bodyPr>
          <a:lstStyle/>
          <a:p>
            <a:r>
              <a:rPr lang="en-US" altLang="zh-CN" sz="2074" dirty="0">
                <a:solidFill>
                  <a:srgbClr val="C00000"/>
                </a:solidFill>
              </a:rPr>
              <a:t>Figure 2</a:t>
            </a:r>
            <a:endParaRPr lang="zh-CN" altLang="en-US" sz="2074" dirty="0">
              <a:solidFill>
                <a:srgbClr val="C00000"/>
              </a:solidFill>
            </a:endParaRPr>
          </a:p>
        </p:txBody>
      </p:sp>
      <p:sp>
        <p:nvSpPr>
          <p:cNvPr id="85" name="TextBox 84"/>
          <p:cNvSpPr txBox="1"/>
          <p:nvPr/>
        </p:nvSpPr>
        <p:spPr>
          <a:xfrm>
            <a:off x="8307095" y="3004682"/>
            <a:ext cx="1049967" cy="411523"/>
          </a:xfrm>
          <a:prstGeom prst="rect">
            <a:avLst/>
          </a:prstGeom>
          <a:noFill/>
        </p:spPr>
        <p:txBody>
          <a:bodyPr wrap="none" rtlCol="0">
            <a:spAutoFit/>
          </a:bodyPr>
          <a:lstStyle/>
          <a:p>
            <a:r>
              <a:rPr lang="en-US" altLang="zh-CN" sz="2074" dirty="0">
                <a:solidFill>
                  <a:srgbClr val="C00000"/>
                </a:solidFill>
              </a:rPr>
              <a:t>Figure 3</a:t>
            </a:r>
            <a:endParaRPr lang="zh-CN" altLang="en-US" sz="2074" dirty="0">
              <a:solidFill>
                <a:srgbClr val="C00000"/>
              </a:solidFill>
            </a:endParaRPr>
          </a:p>
        </p:txBody>
      </p:sp>
      <p:sp>
        <p:nvSpPr>
          <p:cNvPr id="7" name="Oval 25">
            <a:extLst>
              <a:ext uri="{FF2B5EF4-FFF2-40B4-BE49-F238E27FC236}">
                <a16:creationId xmlns:a16="http://schemas.microsoft.com/office/drawing/2014/main" id="{A2959F8E-1C15-0F9D-61AE-ED1959FBD86E}"/>
              </a:ext>
            </a:extLst>
          </p:cNvPr>
          <p:cNvSpPr>
            <a:spLocks noChangeArrowheads="1"/>
          </p:cNvSpPr>
          <p:nvPr/>
        </p:nvSpPr>
        <p:spPr bwMode="auto">
          <a:xfrm>
            <a:off x="3373218" y="1266675"/>
            <a:ext cx="1942599" cy="485520"/>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Export records</a:t>
            </a:r>
          </a:p>
        </p:txBody>
      </p:sp>
      <p:cxnSp>
        <p:nvCxnSpPr>
          <p:cNvPr id="17" name="直接连接符 45">
            <a:extLst>
              <a:ext uri="{FF2B5EF4-FFF2-40B4-BE49-F238E27FC236}">
                <a16:creationId xmlns:a16="http://schemas.microsoft.com/office/drawing/2014/main" id="{975CCDA1-B543-6A8B-6DD1-602290B2253E}"/>
              </a:ext>
            </a:extLst>
          </p:cNvPr>
          <p:cNvCxnSpPr>
            <a:cxnSpLocks noChangeShapeType="1"/>
            <a:stCxn id="90" idx="3"/>
            <a:endCxn id="7" idx="2"/>
          </p:cNvCxnSpPr>
          <p:nvPr/>
        </p:nvCxnSpPr>
        <p:spPr bwMode="auto">
          <a:xfrm flipV="1">
            <a:off x="2552157" y="1509435"/>
            <a:ext cx="821061" cy="194298"/>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Oval 25">
            <a:extLst>
              <a:ext uri="{FF2B5EF4-FFF2-40B4-BE49-F238E27FC236}">
                <a16:creationId xmlns:a16="http://schemas.microsoft.com/office/drawing/2014/main" id="{52738367-FF4B-B4D2-9960-5B28CEED8E96}"/>
              </a:ext>
            </a:extLst>
          </p:cNvPr>
          <p:cNvSpPr>
            <a:spLocks noChangeArrowheads="1"/>
          </p:cNvSpPr>
          <p:nvPr/>
        </p:nvSpPr>
        <p:spPr bwMode="auto">
          <a:xfrm>
            <a:off x="3338542" y="658540"/>
            <a:ext cx="1942599" cy="485520"/>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None/>
              <a:defRPr/>
            </a:pPr>
            <a:r>
              <a:rPr lang="en-US" altLang="zh-CN" sz="1382" dirty="0">
                <a:latin typeface="Arial" panose="020B0604020202020204" pitchFamily="34" charset="0"/>
                <a:ea typeface="宋体" panose="02010600030101010101" pitchFamily="2" charset="-122"/>
              </a:rPr>
              <a:t>Search mentors’ info</a:t>
            </a:r>
          </a:p>
        </p:txBody>
      </p:sp>
      <p:cxnSp>
        <p:nvCxnSpPr>
          <p:cNvPr id="23" name="直接连接符 45">
            <a:extLst>
              <a:ext uri="{FF2B5EF4-FFF2-40B4-BE49-F238E27FC236}">
                <a16:creationId xmlns:a16="http://schemas.microsoft.com/office/drawing/2014/main" id="{496AEC87-63CB-FA12-CFBE-A71B1F7B670C}"/>
              </a:ext>
            </a:extLst>
          </p:cNvPr>
          <p:cNvCxnSpPr>
            <a:cxnSpLocks noChangeShapeType="1"/>
            <a:stCxn id="59" idx="6"/>
            <a:endCxn id="30" idx="1"/>
          </p:cNvCxnSpPr>
          <p:nvPr/>
        </p:nvCxnSpPr>
        <p:spPr bwMode="auto">
          <a:xfrm>
            <a:off x="5281140" y="342959"/>
            <a:ext cx="879163" cy="2601092"/>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45">
            <a:extLst>
              <a:ext uri="{FF2B5EF4-FFF2-40B4-BE49-F238E27FC236}">
                <a16:creationId xmlns:a16="http://schemas.microsoft.com/office/drawing/2014/main" id="{1BBA5A4A-C3D1-DC97-E47D-A9BE6C11E52E}"/>
              </a:ext>
            </a:extLst>
          </p:cNvPr>
          <p:cNvCxnSpPr>
            <a:cxnSpLocks noChangeShapeType="1"/>
            <a:stCxn id="22" idx="6"/>
            <a:endCxn id="30" idx="1"/>
          </p:cNvCxnSpPr>
          <p:nvPr/>
        </p:nvCxnSpPr>
        <p:spPr bwMode="auto">
          <a:xfrm>
            <a:off x="5281140" y="901300"/>
            <a:ext cx="879163" cy="204275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连接符 45">
            <a:extLst>
              <a:ext uri="{FF2B5EF4-FFF2-40B4-BE49-F238E27FC236}">
                <a16:creationId xmlns:a16="http://schemas.microsoft.com/office/drawing/2014/main" id="{AC8EDBD0-58EE-763D-C511-29FD1F96D97E}"/>
              </a:ext>
            </a:extLst>
          </p:cNvPr>
          <p:cNvCxnSpPr>
            <a:cxnSpLocks noChangeShapeType="1"/>
            <a:stCxn id="74" idx="6"/>
            <a:endCxn id="30" idx="1"/>
          </p:cNvCxnSpPr>
          <p:nvPr/>
        </p:nvCxnSpPr>
        <p:spPr bwMode="auto">
          <a:xfrm flipV="1">
            <a:off x="5416441" y="2944051"/>
            <a:ext cx="743862" cy="527700"/>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直接连接符 45">
            <a:extLst>
              <a:ext uri="{FF2B5EF4-FFF2-40B4-BE49-F238E27FC236}">
                <a16:creationId xmlns:a16="http://schemas.microsoft.com/office/drawing/2014/main" id="{0251EA2E-7505-1F1B-744B-B7A1A6E74E7F}"/>
              </a:ext>
            </a:extLst>
          </p:cNvPr>
          <p:cNvCxnSpPr>
            <a:cxnSpLocks noChangeShapeType="1"/>
            <a:stCxn id="96" idx="6"/>
            <a:endCxn id="30" idx="1"/>
          </p:cNvCxnSpPr>
          <p:nvPr/>
        </p:nvCxnSpPr>
        <p:spPr bwMode="auto">
          <a:xfrm>
            <a:off x="5325169" y="2053077"/>
            <a:ext cx="835135" cy="890973"/>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Rectangle 2">
            <a:extLst>
              <a:ext uri="{FF2B5EF4-FFF2-40B4-BE49-F238E27FC236}">
                <a16:creationId xmlns:a16="http://schemas.microsoft.com/office/drawing/2014/main" id="{750ADA26-F4D6-CD15-ABED-BF1896DF6280}"/>
              </a:ext>
            </a:extLst>
          </p:cNvPr>
          <p:cNvSpPr txBox="1">
            <a:spLocks noChangeArrowheads="1"/>
          </p:cNvSpPr>
          <p:nvPr/>
        </p:nvSpPr>
        <p:spPr>
          <a:xfrm>
            <a:off x="8000443" y="89197"/>
            <a:ext cx="4191557" cy="1143900"/>
          </a:xfrm>
          <a:prstGeom prst="rect">
            <a:avLst/>
          </a:prstGeom>
        </p:spPr>
        <p:txBody>
          <a:bodyPr vert="horz" lIns="79003" tIns="39502" rIns="79003" bIns="39502" rtlCol="0" anchor="ctr">
            <a:normAutofit/>
          </a:bodyPr>
          <a:lstStyle>
            <a:lvl1pPr algn="l" defTabSz="1058327" rtl="0" eaLnBrk="1" latinLnBrk="0" hangingPunct="1">
              <a:lnSpc>
                <a:spcPct val="90000"/>
              </a:lnSpc>
              <a:spcBef>
                <a:spcPct val="0"/>
              </a:spcBef>
              <a:buNone/>
              <a:defRPr sz="5093" kern="1200">
                <a:solidFill>
                  <a:schemeClr val="tx1"/>
                </a:solidFill>
                <a:latin typeface="+mj-lt"/>
                <a:ea typeface="+mj-ea"/>
                <a:cs typeface="+mj-cs"/>
              </a:defRPr>
            </a:lvl1pPr>
          </a:lstStyle>
          <a:p>
            <a:r>
              <a:rPr lang="en-US" altLang="zh-CN" sz="4000" dirty="0">
                <a:solidFill>
                  <a:srgbClr val="FF0000"/>
                </a:solidFill>
                <a:ea typeface="宋体" panose="02010600030101010101" pitchFamily="2" charset="-122"/>
              </a:rPr>
              <a:t>Use case diagram</a:t>
            </a:r>
          </a:p>
        </p:txBody>
      </p:sp>
      <p:sp>
        <p:nvSpPr>
          <p:cNvPr id="57" name="Oval 25"/>
          <p:cNvSpPr>
            <a:spLocks noChangeArrowheads="1"/>
          </p:cNvSpPr>
          <p:nvPr/>
        </p:nvSpPr>
        <p:spPr bwMode="auto">
          <a:xfrm>
            <a:off x="3382571" y="3859189"/>
            <a:ext cx="2042931" cy="429197"/>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Give feedback</a:t>
            </a:r>
          </a:p>
        </p:txBody>
      </p:sp>
      <p:cxnSp>
        <p:nvCxnSpPr>
          <p:cNvPr id="58" name="直接连接符 45"/>
          <p:cNvCxnSpPr>
            <a:cxnSpLocks noChangeShapeType="1"/>
            <a:stCxn id="71" idx="3"/>
            <a:endCxn id="57" idx="2"/>
          </p:cNvCxnSpPr>
          <p:nvPr/>
        </p:nvCxnSpPr>
        <p:spPr bwMode="auto">
          <a:xfrm>
            <a:off x="2506547" y="3120354"/>
            <a:ext cx="876024" cy="953433"/>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接连接符 45">
            <a:extLst>
              <a:ext uri="{FF2B5EF4-FFF2-40B4-BE49-F238E27FC236}">
                <a16:creationId xmlns:a16="http://schemas.microsoft.com/office/drawing/2014/main" id="{AC8EDBD0-58EE-763D-C511-29FD1F96D97E}"/>
              </a:ext>
            </a:extLst>
          </p:cNvPr>
          <p:cNvCxnSpPr>
            <a:cxnSpLocks noChangeShapeType="1"/>
            <a:stCxn id="57" idx="6"/>
            <a:endCxn id="30" idx="1"/>
          </p:cNvCxnSpPr>
          <p:nvPr/>
        </p:nvCxnSpPr>
        <p:spPr bwMode="auto">
          <a:xfrm flipV="1">
            <a:off x="5425501" y="2944051"/>
            <a:ext cx="734802" cy="1129737"/>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4" name="Oval 25"/>
          <p:cNvSpPr>
            <a:spLocks noChangeArrowheads="1"/>
          </p:cNvSpPr>
          <p:nvPr/>
        </p:nvSpPr>
        <p:spPr bwMode="auto">
          <a:xfrm>
            <a:off x="7909514" y="3625900"/>
            <a:ext cx="1960309" cy="551875"/>
          </a:xfrm>
          <a:prstGeom prst="ellipse">
            <a:avLst/>
          </a:prstGeom>
          <a:solidFill>
            <a:srgbClr val="33CCCC">
              <a:alpha val="14117"/>
            </a:srgbClr>
          </a:solidFill>
          <a:ln w="9525">
            <a:solidFill>
              <a:schemeClr val="tx1"/>
            </a:solidFill>
            <a:round/>
            <a:headEnd/>
            <a:tailEnd/>
          </a:ln>
        </p:spPr>
        <p:txBody>
          <a:bodyPr anchor="ctr">
            <a:no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 typeface="Arial" panose="020B0604020202020204" pitchFamily="34" charset="0"/>
              <a:buNone/>
              <a:defRPr/>
            </a:pPr>
            <a:r>
              <a:rPr lang="en-US" altLang="zh-CN" sz="1382" dirty="0">
                <a:latin typeface="Arial" panose="020B0604020202020204" pitchFamily="34" charset="0"/>
                <a:ea typeface="宋体" panose="02010600030101010101" pitchFamily="2" charset="-122"/>
              </a:rPr>
              <a:t>Give feedback</a:t>
            </a:r>
          </a:p>
        </p:txBody>
      </p:sp>
      <p:cxnSp>
        <p:nvCxnSpPr>
          <p:cNvPr id="86" name="直接连接符 45"/>
          <p:cNvCxnSpPr>
            <a:cxnSpLocks noChangeShapeType="1"/>
            <a:stCxn id="70" idx="3"/>
            <a:endCxn id="64" idx="2"/>
          </p:cNvCxnSpPr>
          <p:nvPr/>
        </p:nvCxnSpPr>
        <p:spPr bwMode="auto">
          <a:xfrm flipV="1">
            <a:off x="7179210" y="3901839"/>
            <a:ext cx="730304" cy="1509991"/>
          </a:xfrm>
          <a:prstGeom prst="line">
            <a:avLst/>
          </a:prstGeom>
          <a:noFill/>
          <a:ln w="9525"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TextBox 8"/>
          <p:cNvSpPr txBox="1"/>
          <p:nvPr/>
        </p:nvSpPr>
        <p:spPr>
          <a:xfrm>
            <a:off x="4416180" y="2352051"/>
            <a:ext cx="973343" cy="331629"/>
          </a:xfrm>
          <a:prstGeom prst="rect">
            <a:avLst/>
          </a:prstGeom>
          <a:noFill/>
        </p:spPr>
        <p:txBody>
          <a:bodyPr wrap="none" rtlCol="0">
            <a:spAutoFit/>
          </a:bodyPr>
          <a:lstStyle/>
          <a:p>
            <a:r>
              <a:rPr lang="en-US" altLang="zh-CN" sz="1555" dirty="0"/>
              <a:t>&lt;include&gt;</a:t>
            </a:r>
            <a:endParaRPr lang="zh-CN" altLang="en-US" sz="1555" dirty="0"/>
          </a:p>
        </p:txBody>
      </p:sp>
      <p:sp>
        <p:nvSpPr>
          <p:cNvPr id="87" name="Line 10"/>
          <p:cNvSpPr>
            <a:spLocks noChangeShapeType="1"/>
          </p:cNvSpPr>
          <p:nvPr/>
        </p:nvSpPr>
        <p:spPr bwMode="auto">
          <a:xfrm flipH="1" flipV="1">
            <a:off x="4367548" y="2302327"/>
            <a:ext cx="25397" cy="321581"/>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en-US" sz="2068"/>
          </a:p>
        </p:txBody>
      </p:sp>
    </p:spTree>
    <p:extLst>
      <p:ext uri="{BB962C8B-B14F-4D97-AF65-F5344CB8AC3E}">
        <p14:creationId xmlns:p14="http://schemas.microsoft.com/office/powerpoint/2010/main" val="3675282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736877"/>
          </a:xfrm>
        </p:spPr>
        <p:txBody>
          <a:bodyPr/>
          <a:lstStyle/>
          <a:p>
            <a:r>
              <a:rPr lang="en-US" dirty="0"/>
              <a:t>Task2: Explain SRS Template</a:t>
            </a:r>
          </a:p>
        </p:txBody>
      </p:sp>
      <p:sp>
        <p:nvSpPr>
          <p:cNvPr id="3" name="Content Placeholder 2"/>
          <p:cNvSpPr>
            <a:spLocks noGrp="1"/>
          </p:cNvSpPr>
          <p:nvPr>
            <p:ph idx="1"/>
          </p:nvPr>
        </p:nvSpPr>
        <p:spPr>
          <a:xfrm>
            <a:off x="754120" y="1285461"/>
            <a:ext cx="10817772" cy="4903304"/>
          </a:xfrm>
        </p:spPr>
        <p:txBody>
          <a:bodyPr>
            <a:normAutofit lnSpcReduction="10000"/>
          </a:bodyPr>
          <a:lstStyle/>
          <a:p>
            <a:r>
              <a:rPr lang="en-US" sz="3200" b="1" dirty="0"/>
              <a:t>Teacher explains SRS </a:t>
            </a:r>
            <a:r>
              <a:rPr lang="en-US" sz="3200" b="1" dirty="0">
                <a:solidFill>
                  <a:srgbClr val="FF0000"/>
                </a:solidFill>
              </a:rPr>
              <a:t>Sections 3 and 4.1</a:t>
            </a:r>
          </a:p>
          <a:p>
            <a:r>
              <a:rPr lang="en-US" altLang="zh-CN" sz="3200" dirty="0">
                <a:ea typeface="宋体" panose="02010600030101010101" pitchFamily="2" charset="-122"/>
              </a:rPr>
              <a:t>For each </a:t>
            </a:r>
            <a:r>
              <a:rPr lang="en-US" altLang="zh-CN" sz="3200" dirty="0">
                <a:solidFill>
                  <a:srgbClr val="FF0000"/>
                </a:solidFill>
                <a:ea typeface="宋体" panose="02010600030101010101" pitchFamily="2" charset="-122"/>
              </a:rPr>
              <a:t>use case</a:t>
            </a:r>
            <a:r>
              <a:rPr lang="en-US" altLang="zh-CN" sz="3200" dirty="0">
                <a:ea typeface="宋体" panose="02010600030101010101" pitchFamily="2" charset="-122"/>
              </a:rPr>
              <a:t> for an </a:t>
            </a:r>
            <a:r>
              <a:rPr lang="en-US" altLang="zh-CN" sz="3200" dirty="0">
                <a:solidFill>
                  <a:srgbClr val="FF0000"/>
                </a:solidFill>
                <a:ea typeface="宋体" panose="02010600030101010101" pitchFamily="2" charset="-122"/>
              </a:rPr>
              <a:t>actor</a:t>
            </a:r>
            <a:r>
              <a:rPr lang="en-US" altLang="zh-CN" sz="3200" dirty="0">
                <a:ea typeface="宋体" panose="02010600030101010101" pitchFamily="2" charset="-122"/>
              </a:rPr>
              <a:t>, there must be a </a:t>
            </a:r>
            <a:r>
              <a:rPr lang="en-US" altLang="zh-CN" sz="3200" dirty="0">
                <a:solidFill>
                  <a:srgbClr val="FF0000"/>
                </a:solidFill>
                <a:ea typeface="宋体" panose="02010600030101010101" pitchFamily="2" charset="-122"/>
              </a:rPr>
              <a:t>corresponding state transition </a:t>
            </a:r>
            <a:r>
              <a:rPr lang="en-US" altLang="zh-CN" sz="3200" dirty="0">
                <a:ea typeface="宋体" panose="02010600030101010101" pitchFamily="2" charset="-122"/>
              </a:rPr>
              <a:t>diagram in a subsection in Section 3 </a:t>
            </a:r>
          </a:p>
          <a:p>
            <a:pPr lvl="1"/>
            <a:r>
              <a:rPr lang="en-US" altLang="zh-CN" sz="2800" dirty="0">
                <a:ea typeface="宋体" panose="02010600030101010101" pitchFamily="2" charset="-122"/>
              </a:rPr>
              <a:t>Section </a:t>
            </a:r>
            <a:r>
              <a:rPr lang="en-US" altLang="zh-CN" sz="2800" dirty="0">
                <a:solidFill>
                  <a:schemeClr val="accent6"/>
                </a:solidFill>
                <a:ea typeface="宋体" panose="02010600030101010101" pitchFamily="2" charset="-122"/>
              </a:rPr>
              <a:t>3.1 </a:t>
            </a:r>
            <a:r>
              <a:rPr lang="en-US" altLang="zh-CN" sz="2800" dirty="0">
                <a:ea typeface="宋体" panose="02010600030101010101" pitchFamily="2" charset="-122"/>
              </a:rPr>
              <a:t>contains the state transition diagram for Use Case </a:t>
            </a:r>
            <a:r>
              <a:rPr lang="en-US" altLang="zh-CN" sz="2800" dirty="0">
                <a:solidFill>
                  <a:schemeClr val="accent6"/>
                </a:solidFill>
                <a:ea typeface="宋体" panose="02010600030101010101" pitchFamily="2" charset="-122"/>
              </a:rPr>
              <a:t>1</a:t>
            </a:r>
            <a:r>
              <a:rPr lang="en-US" altLang="zh-CN" sz="2800" dirty="0">
                <a:ea typeface="宋体" panose="02010600030101010101" pitchFamily="2" charset="-122"/>
              </a:rPr>
              <a:t>, Section </a:t>
            </a:r>
            <a:r>
              <a:rPr lang="en-US" altLang="zh-CN" sz="2800" dirty="0">
                <a:solidFill>
                  <a:schemeClr val="accent6"/>
                </a:solidFill>
                <a:ea typeface="宋体" panose="02010600030101010101" pitchFamily="2" charset="-122"/>
              </a:rPr>
              <a:t>3.2</a:t>
            </a:r>
            <a:r>
              <a:rPr lang="en-US" altLang="zh-CN" sz="2800" dirty="0">
                <a:ea typeface="宋体" panose="02010600030101010101" pitchFamily="2" charset="-122"/>
              </a:rPr>
              <a:t> contains the state transition diagram for Use Case </a:t>
            </a:r>
            <a:r>
              <a:rPr lang="en-US" altLang="zh-CN" sz="2800" dirty="0">
                <a:solidFill>
                  <a:schemeClr val="accent6"/>
                </a:solidFill>
                <a:ea typeface="宋体" panose="02010600030101010101" pitchFamily="2" charset="-122"/>
              </a:rPr>
              <a:t>2</a:t>
            </a:r>
            <a:r>
              <a:rPr lang="en-US" altLang="zh-CN" sz="2800" dirty="0">
                <a:ea typeface="宋体" panose="02010600030101010101" pitchFamily="2" charset="-122"/>
              </a:rPr>
              <a:t>, etc.</a:t>
            </a:r>
          </a:p>
          <a:p>
            <a:pPr lvl="1"/>
            <a:r>
              <a:rPr lang="en-US" altLang="zh-CN" sz="2800" dirty="0">
                <a:ea typeface="宋体" panose="02010600030101010101" pitchFamily="2" charset="-122"/>
              </a:rPr>
              <a:t>If a use case is connected to two different actor roles, you can either</a:t>
            </a:r>
          </a:p>
          <a:p>
            <a:pPr marL="1371600" lvl="2" indent="-457200">
              <a:buFont typeface="+mj-lt"/>
              <a:buAutoNum type="arabicPeriod"/>
            </a:pPr>
            <a:r>
              <a:rPr lang="en-US" altLang="zh-CN" sz="2400" dirty="0">
                <a:ea typeface="宋体" panose="02010600030101010101" pitchFamily="2" charset="-122"/>
              </a:rPr>
              <a:t>Draw two different state transition diagrams, or</a:t>
            </a:r>
          </a:p>
          <a:p>
            <a:pPr marL="1371600" lvl="2" indent="-457200">
              <a:buFont typeface="+mj-lt"/>
              <a:buAutoNum type="arabicPeriod"/>
            </a:pPr>
            <a:r>
              <a:rPr lang="en-US" altLang="zh-CN" sz="2400" dirty="0">
                <a:ea typeface="宋体" panose="02010600030101010101" pitchFamily="2" charset="-122"/>
              </a:rPr>
              <a:t>Draw one state transition diagram if the difference can be clearly seen in the diagram.</a:t>
            </a:r>
          </a:p>
          <a:p>
            <a:r>
              <a:rPr lang="en-US" sz="3200" dirty="0"/>
              <a:t>iSpace has updated version of </a:t>
            </a:r>
            <a:r>
              <a:rPr lang="en-US" sz="3200" dirty="0">
                <a:solidFill>
                  <a:srgbClr val="FF0000"/>
                </a:solidFill>
              </a:rPr>
              <a:t>Long Project Description v1.1</a:t>
            </a:r>
            <a:r>
              <a:rPr lang="en-US" sz="3200" dirty="0"/>
              <a:t>.</a:t>
            </a:r>
          </a:p>
          <a:p>
            <a:pPr lvl="1"/>
            <a:r>
              <a:rPr lang="en-US" sz="2800" dirty="0"/>
              <a:t>Updated parts are </a:t>
            </a:r>
            <a:r>
              <a:rPr lang="en-US" sz="2800" dirty="0">
                <a:highlight>
                  <a:srgbClr val="FFFF00"/>
                </a:highlight>
              </a:rPr>
              <a:t>highlighted in yellow</a:t>
            </a:r>
            <a:r>
              <a:rPr lang="en-US" sz="2800" dirty="0"/>
              <a:t>.</a:t>
            </a:r>
          </a:p>
          <a:p>
            <a:pPr marL="914400" lvl="1" indent="-457200">
              <a:buFont typeface="+mj-lt"/>
              <a:buAutoNum type="arabicPeriod"/>
            </a:pPr>
            <a:endParaRPr lang="en-US" altLang="zh-CN" sz="2800" dirty="0">
              <a:ea typeface="宋体" panose="02010600030101010101" pitchFamily="2" charset="-122"/>
            </a:endParaRPr>
          </a:p>
          <a:p>
            <a:pPr marL="914400" lvl="1" indent="-457200">
              <a:buFont typeface="+mj-lt"/>
              <a:buAutoNum type="arabicPeriod"/>
            </a:pPr>
            <a:endParaRPr lang="en-US" altLang="zh-CN" sz="2800" dirty="0">
              <a:ea typeface="宋体" panose="02010600030101010101" pitchFamily="2" charset="-122"/>
            </a:endParaRPr>
          </a:p>
          <a:p>
            <a:pPr marL="914400" lvl="1" indent="-457200">
              <a:buFont typeface="+mj-lt"/>
              <a:buAutoNum type="arabicPeriod"/>
            </a:pPr>
            <a:endParaRPr lang="en-US" altLang="zh-CN" sz="1200" dirty="0">
              <a:ea typeface="宋体" panose="02010600030101010101" pitchFamily="2" charset="-122"/>
            </a:endParaRPr>
          </a:p>
        </p:txBody>
      </p:sp>
    </p:spTree>
    <p:extLst>
      <p:ext uri="{BB962C8B-B14F-4D97-AF65-F5344CB8AC3E}">
        <p14:creationId xmlns:p14="http://schemas.microsoft.com/office/powerpoint/2010/main" val="3067869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920751"/>
          </a:xfrm>
        </p:spPr>
        <p:txBody>
          <a:bodyPr>
            <a:normAutofit/>
          </a:bodyPr>
          <a:lstStyle/>
          <a:p>
            <a:pPr>
              <a:spcBef>
                <a:spcPts val="600"/>
              </a:spcBef>
            </a:pPr>
            <a:r>
              <a:rPr lang="en-US" dirty="0"/>
              <a:t>Task 3A: Update SRS partial documents </a:t>
            </a:r>
          </a:p>
        </p:txBody>
      </p:sp>
      <p:sp>
        <p:nvSpPr>
          <p:cNvPr id="3" name="Content Placeholder 2"/>
          <p:cNvSpPr>
            <a:spLocks noGrp="1"/>
          </p:cNvSpPr>
          <p:nvPr>
            <p:ph idx="1"/>
          </p:nvPr>
        </p:nvSpPr>
        <p:spPr>
          <a:xfrm>
            <a:off x="838200" y="1400175"/>
            <a:ext cx="10515600" cy="4776788"/>
          </a:xfrm>
        </p:spPr>
        <p:txBody>
          <a:bodyPr>
            <a:normAutofit/>
          </a:bodyPr>
          <a:lstStyle/>
          <a:p>
            <a:pPr>
              <a:spcBef>
                <a:spcPts val="600"/>
              </a:spcBef>
            </a:pPr>
            <a:r>
              <a:rPr lang="en-US" sz="3200" dirty="0">
                <a:solidFill>
                  <a:srgbClr val="FF0000"/>
                </a:solidFill>
              </a:rPr>
              <a:t>Task 3A: Update </a:t>
            </a:r>
            <a:r>
              <a:rPr lang="en-US" sz="3200" dirty="0"/>
              <a:t>the</a:t>
            </a:r>
            <a:r>
              <a:rPr lang="en-US" sz="3200" dirty="0">
                <a:solidFill>
                  <a:srgbClr val="FF0000"/>
                </a:solidFill>
              </a:rPr>
              <a:t> </a:t>
            </a:r>
            <a:r>
              <a:rPr lang="en-US" sz="3200" dirty="0"/>
              <a:t>SRS partial documents according to feedback</a:t>
            </a:r>
          </a:p>
          <a:p>
            <a:pPr lvl="1">
              <a:spcBef>
                <a:spcPts val="600"/>
              </a:spcBef>
            </a:pPr>
            <a:r>
              <a:rPr lang="en-US" altLang="zh-CN" sz="2800" dirty="0">
                <a:ea typeface="宋体" panose="02010600030101010101" pitchFamily="2" charset="-122"/>
              </a:rPr>
              <a:t>Correct the text part according to the feedback given in this PPT and by the grader.</a:t>
            </a:r>
          </a:p>
          <a:p>
            <a:pPr lvl="1">
              <a:spcBef>
                <a:spcPts val="600"/>
              </a:spcBef>
            </a:pPr>
            <a:r>
              <a:rPr lang="en-US" altLang="zh-CN" sz="2800" dirty="0">
                <a:ea typeface="宋体" panose="02010600030101010101" pitchFamily="2" charset="-122"/>
              </a:rPr>
              <a:t>Update (or replace) the context model and use case diagram with the solution we gave you in the earlier slides.</a:t>
            </a:r>
          </a:p>
          <a:p>
            <a:pPr lvl="2">
              <a:spcBef>
                <a:spcPts val="600"/>
              </a:spcBef>
            </a:pPr>
            <a:r>
              <a:rPr lang="en-US" altLang="zh-CN" sz="2400" dirty="0">
                <a:ea typeface="宋体" panose="02010600030101010101" pitchFamily="2" charset="-122"/>
              </a:rPr>
              <a:t>Unless your diagrams are near perfect, we suggest you use the diagrams we give you. Otherwise, you will continue to have more points deducted in future labs for keep making the same errors.</a:t>
            </a:r>
          </a:p>
          <a:p>
            <a:pPr marL="0" indent="0">
              <a:buNone/>
            </a:pPr>
            <a:endParaRPr lang="en-US" sz="3200" dirty="0">
              <a:solidFill>
                <a:srgbClr val="FF0000"/>
              </a:solidFill>
            </a:endParaRPr>
          </a:p>
        </p:txBody>
      </p:sp>
    </p:spTree>
    <p:extLst>
      <p:ext uri="{BB962C8B-B14F-4D97-AF65-F5344CB8AC3E}">
        <p14:creationId xmlns:p14="http://schemas.microsoft.com/office/powerpoint/2010/main" val="41985805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920751"/>
          </a:xfrm>
        </p:spPr>
        <p:txBody>
          <a:bodyPr>
            <a:normAutofit/>
          </a:bodyPr>
          <a:lstStyle/>
          <a:p>
            <a:r>
              <a:rPr lang="en-US" dirty="0"/>
              <a:t>Task 3B and 3C: Students tasks</a:t>
            </a:r>
          </a:p>
        </p:txBody>
      </p:sp>
      <p:sp>
        <p:nvSpPr>
          <p:cNvPr id="3" name="Content Placeholder 2"/>
          <p:cNvSpPr>
            <a:spLocks noGrp="1"/>
          </p:cNvSpPr>
          <p:nvPr>
            <p:ph idx="1"/>
          </p:nvPr>
        </p:nvSpPr>
        <p:spPr>
          <a:xfrm>
            <a:off x="838200" y="1400175"/>
            <a:ext cx="10515600" cy="4776788"/>
          </a:xfrm>
        </p:spPr>
        <p:txBody>
          <a:bodyPr>
            <a:normAutofit/>
          </a:bodyPr>
          <a:lstStyle/>
          <a:p>
            <a:pPr>
              <a:spcBef>
                <a:spcPts val="600"/>
              </a:spcBef>
            </a:pPr>
            <a:r>
              <a:rPr lang="en-US" dirty="0">
                <a:solidFill>
                  <a:srgbClr val="FF0000"/>
                </a:solidFill>
              </a:rPr>
              <a:t>Task 3B: </a:t>
            </a:r>
            <a:r>
              <a:rPr lang="en-US" dirty="0"/>
              <a:t>Draw </a:t>
            </a:r>
            <a:r>
              <a:rPr lang="en-US" dirty="0">
                <a:solidFill>
                  <a:srgbClr val="FF0000"/>
                </a:solidFill>
              </a:rPr>
              <a:t>state transition diagrams </a:t>
            </a:r>
            <a:r>
              <a:rPr lang="en-US" dirty="0"/>
              <a:t>and </a:t>
            </a:r>
            <a:r>
              <a:rPr lang="en-US" dirty="0">
                <a:solidFill>
                  <a:srgbClr val="FF0000"/>
                </a:solidFill>
              </a:rPr>
              <a:t>user interfaces (UI) </a:t>
            </a:r>
            <a:r>
              <a:rPr lang="en-US" dirty="0"/>
              <a:t>for the specified use cases, plus the include use cases.</a:t>
            </a:r>
          </a:p>
          <a:p>
            <a:pPr>
              <a:spcBef>
                <a:spcPts val="600"/>
              </a:spcBef>
            </a:pPr>
            <a:r>
              <a:rPr lang="en-US" dirty="0">
                <a:solidFill>
                  <a:srgbClr val="FF0000"/>
                </a:solidFill>
              </a:rPr>
              <a:t>Task 3C: </a:t>
            </a:r>
            <a:r>
              <a:rPr lang="en-US" dirty="0"/>
              <a:t>Do the basic </a:t>
            </a:r>
            <a:r>
              <a:rPr lang="en-US" dirty="0">
                <a:solidFill>
                  <a:srgbClr val="FF0000"/>
                </a:solidFill>
              </a:rPr>
              <a:t>scenario</a:t>
            </a:r>
            <a:r>
              <a:rPr lang="en-US" dirty="0"/>
              <a:t> for specified use cases, plus the included use cases.</a:t>
            </a:r>
          </a:p>
          <a:p>
            <a:pPr>
              <a:spcBef>
                <a:spcPts val="600"/>
              </a:spcBef>
            </a:pPr>
            <a:endParaRPr lang="en-US" sz="800" dirty="0"/>
          </a:p>
          <a:p>
            <a:pPr>
              <a:spcBef>
                <a:spcPts val="600"/>
              </a:spcBef>
            </a:pPr>
            <a:r>
              <a:rPr lang="en-US" altLang="zh-CN" dirty="0">
                <a:solidFill>
                  <a:srgbClr val="FF0000"/>
                </a:solidFill>
                <a:ea typeface="宋体" panose="02010600030101010101" pitchFamily="2" charset="-122"/>
              </a:rPr>
              <a:t>This week</a:t>
            </a:r>
            <a:r>
              <a:rPr lang="en-US" altLang="zh-CN" dirty="0">
                <a:ea typeface="宋体" panose="02010600030101010101" pitchFamily="2" charset="-122"/>
              </a:rPr>
              <a:t>, you draw the diagrams for the </a:t>
            </a:r>
            <a:r>
              <a:rPr lang="en-US" altLang="zh-CN" dirty="0">
                <a:solidFill>
                  <a:srgbClr val="FF0000"/>
                </a:solidFill>
                <a:ea typeface="宋体" panose="02010600030101010101" pitchFamily="2" charset="-122"/>
              </a:rPr>
              <a:t>specified use cases </a:t>
            </a:r>
            <a:r>
              <a:rPr lang="en-US" altLang="zh-CN" dirty="0">
                <a:ea typeface="宋体" panose="02010600030101010101" pitchFamily="2" charset="-122"/>
              </a:rPr>
              <a:t>only; </a:t>
            </a:r>
            <a:r>
              <a:rPr lang="en-US" altLang="zh-CN" dirty="0">
                <a:solidFill>
                  <a:srgbClr val="FF0000"/>
                </a:solidFill>
                <a:ea typeface="宋体" panose="02010600030101010101" pitchFamily="2" charset="-122"/>
              </a:rPr>
              <a:t>next week </a:t>
            </a:r>
            <a:r>
              <a:rPr lang="en-US" altLang="zh-CN" dirty="0">
                <a:ea typeface="宋体" panose="02010600030101010101" pitchFamily="2" charset="-122"/>
              </a:rPr>
              <a:t>you will draw the diagrams for </a:t>
            </a:r>
            <a:r>
              <a:rPr lang="en-US" altLang="zh-CN" dirty="0">
                <a:solidFill>
                  <a:srgbClr val="FF0000"/>
                </a:solidFill>
                <a:ea typeface="宋体" panose="02010600030101010101" pitchFamily="2" charset="-122"/>
              </a:rPr>
              <a:t>all</a:t>
            </a:r>
            <a:r>
              <a:rPr lang="en-US" altLang="zh-CN" dirty="0">
                <a:ea typeface="宋体" panose="02010600030101010101" pitchFamily="2" charset="-122"/>
              </a:rPr>
              <a:t> the </a:t>
            </a:r>
            <a:r>
              <a:rPr lang="en-US" altLang="zh-CN" dirty="0">
                <a:solidFill>
                  <a:srgbClr val="FF0000"/>
                </a:solidFill>
                <a:ea typeface="宋体" panose="02010600030101010101" pitchFamily="2" charset="-122"/>
              </a:rPr>
              <a:t>use cases</a:t>
            </a:r>
            <a:r>
              <a:rPr lang="en-US" altLang="zh-CN" dirty="0">
                <a:ea typeface="宋体" panose="02010600030101010101" pitchFamily="2" charset="-122"/>
              </a:rPr>
              <a:t>. </a:t>
            </a:r>
            <a:endParaRPr lang="en-US" dirty="0"/>
          </a:p>
          <a:p>
            <a:pPr>
              <a:spcBef>
                <a:spcPts val="600"/>
              </a:spcBef>
            </a:pPr>
            <a:endParaRPr lang="en-US" dirty="0"/>
          </a:p>
          <a:p>
            <a:pPr>
              <a:spcBef>
                <a:spcPts val="600"/>
              </a:spcBef>
            </a:pPr>
            <a:endParaRPr lang="en-US" dirty="0">
              <a:solidFill>
                <a:srgbClr val="FF0000"/>
              </a:solidFill>
            </a:endParaRPr>
          </a:p>
          <a:p>
            <a:pPr marL="0" indent="0">
              <a:buNone/>
            </a:pPr>
            <a:endParaRPr lang="en-US" sz="3200" dirty="0">
              <a:solidFill>
                <a:srgbClr val="FF0000"/>
              </a:solidFill>
            </a:endParaRPr>
          </a:p>
        </p:txBody>
      </p:sp>
    </p:spTree>
    <p:extLst>
      <p:ext uri="{BB962C8B-B14F-4D97-AF65-F5344CB8AC3E}">
        <p14:creationId xmlns:p14="http://schemas.microsoft.com/office/powerpoint/2010/main" val="3255387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920751"/>
          </a:xfrm>
        </p:spPr>
        <p:txBody>
          <a:bodyPr>
            <a:normAutofit/>
          </a:bodyPr>
          <a:lstStyle/>
          <a:p>
            <a:r>
              <a:rPr lang="en-US" dirty="0">
                <a:solidFill>
                  <a:srgbClr val="FF0000"/>
                </a:solidFill>
              </a:rPr>
              <a:t>Task 3B: </a:t>
            </a:r>
            <a:r>
              <a:rPr lang="en-US" dirty="0"/>
              <a:t>State Diagrams and User Interfaces</a:t>
            </a:r>
            <a:endParaRPr lang="en-US" dirty="0">
              <a:solidFill>
                <a:srgbClr val="FF0000"/>
              </a:solidFill>
            </a:endParaRPr>
          </a:p>
        </p:txBody>
      </p:sp>
      <p:sp>
        <p:nvSpPr>
          <p:cNvPr id="3" name="Content Placeholder 2"/>
          <p:cNvSpPr>
            <a:spLocks noGrp="1"/>
          </p:cNvSpPr>
          <p:nvPr>
            <p:ph idx="1"/>
          </p:nvPr>
        </p:nvSpPr>
        <p:spPr>
          <a:xfrm>
            <a:off x="838200" y="1257300"/>
            <a:ext cx="10515600" cy="5221877"/>
          </a:xfrm>
        </p:spPr>
        <p:txBody>
          <a:bodyPr>
            <a:normAutofit/>
          </a:bodyPr>
          <a:lstStyle/>
          <a:p>
            <a:r>
              <a:rPr lang="en-US" dirty="0"/>
              <a:t>Section 3.1</a:t>
            </a:r>
          </a:p>
          <a:p>
            <a:pPr lvl="1"/>
            <a:r>
              <a:rPr lang="en-US" dirty="0"/>
              <a:t>Actor: Mentor, Coordinator</a:t>
            </a:r>
          </a:p>
          <a:p>
            <a:pPr lvl="1"/>
            <a:r>
              <a:rPr lang="en-US" dirty="0"/>
              <a:t>Use case: </a:t>
            </a:r>
            <a:r>
              <a:rPr lang="en-US" dirty="0">
                <a:solidFill>
                  <a:srgbClr val="FF0000"/>
                </a:solidFill>
              </a:rPr>
              <a:t>Search Student’s Info</a:t>
            </a:r>
          </a:p>
          <a:p>
            <a:pPr lvl="1"/>
            <a:r>
              <a:rPr lang="en-US" dirty="0"/>
              <a:t>Description: Search for student information according to student ID. The interview record and other info of this student are displayed.</a:t>
            </a:r>
          </a:p>
          <a:p>
            <a:r>
              <a:rPr lang="en-US" dirty="0"/>
              <a:t>Remarks: </a:t>
            </a:r>
          </a:p>
          <a:p>
            <a:pPr lvl="1"/>
            <a:r>
              <a:rPr lang="en-US" dirty="0"/>
              <a:t>3.1 is included in 3.2 Edit Interview Record.  (Must search for the student’s info before editing it.)  </a:t>
            </a:r>
            <a:r>
              <a:rPr lang="en-US" dirty="0">
                <a:solidFill>
                  <a:srgbClr val="FF0000"/>
                </a:solidFill>
              </a:rPr>
              <a:t>Combine</a:t>
            </a:r>
            <a:r>
              <a:rPr lang="en-US" dirty="0"/>
              <a:t> the </a:t>
            </a:r>
            <a:r>
              <a:rPr lang="en-US" dirty="0">
                <a:solidFill>
                  <a:srgbClr val="FF0000"/>
                </a:solidFill>
              </a:rPr>
              <a:t>transition diagrams </a:t>
            </a:r>
            <a:r>
              <a:rPr lang="en-US" dirty="0"/>
              <a:t>for </a:t>
            </a:r>
            <a:r>
              <a:rPr lang="en-US" dirty="0">
                <a:solidFill>
                  <a:srgbClr val="FF0000"/>
                </a:solidFill>
              </a:rPr>
              <a:t>3.1</a:t>
            </a:r>
            <a:r>
              <a:rPr lang="en-US" dirty="0"/>
              <a:t> in </a:t>
            </a:r>
            <a:r>
              <a:rPr lang="en-US" dirty="0">
                <a:solidFill>
                  <a:srgbClr val="FF0000"/>
                </a:solidFill>
              </a:rPr>
              <a:t>3.2</a:t>
            </a:r>
            <a:r>
              <a:rPr lang="en-US" dirty="0"/>
              <a:t> and put the </a:t>
            </a:r>
            <a:r>
              <a:rPr lang="en-US" dirty="0">
                <a:solidFill>
                  <a:srgbClr val="FF0000"/>
                </a:solidFill>
              </a:rPr>
              <a:t>combined diagram in 3.2.2</a:t>
            </a:r>
            <a:r>
              <a:rPr lang="en-US" dirty="0"/>
              <a:t>.  However, distinguish the actor as Mentor or Coordinator in the combined diagram.  Coordinator can view the Student’s info, but cannot edit it.  Mentor can do both.</a:t>
            </a:r>
          </a:p>
          <a:p>
            <a:pPr lvl="1"/>
            <a:r>
              <a:rPr lang="en-US" dirty="0"/>
              <a:t>In 3.1.2, put the remark, “Transition diagram is included in 3.2.2.”</a:t>
            </a:r>
          </a:p>
        </p:txBody>
      </p:sp>
    </p:spTree>
    <p:extLst>
      <p:ext uri="{BB962C8B-B14F-4D97-AF65-F5344CB8AC3E}">
        <p14:creationId xmlns:p14="http://schemas.microsoft.com/office/powerpoint/2010/main" val="201600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3A8C8-5E17-D122-019D-CF49EABFB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9EDBE-E8C1-A2AA-914D-EBF451A256C8}"/>
              </a:ext>
            </a:extLst>
          </p:cNvPr>
          <p:cNvSpPr>
            <a:spLocks noGrp="1"/>
          </p:cNvSpPr>
          <p:nvPr>
            <p:ph type="title"/>
          </p:nvPr>
        </p:nvSpPr>
        <p:spPr>
          <a:xfrm>
            <a:off x="838200" y="336549"/>
            <a:ext cx="10515600" cy="920751"/>
          </a:xfrm>
        </p:spPr>
        <p:txBody>
          <a:bodyPr>
            <a:normAutofit/>
          </a:bodyPr>
          <a:lstStyle/>
          <a:p>
            <a:r>
              <a:rPr lang="en-US" dirty="0">
                <a:solidFill>
                  <a:srgbClr val="FF0000"/>
                </a:solidFill>
              </a:rPr>
              <a:t>Task 3B: </a:t>
            </a:r>
            <a:r>
              <a:rPr lang="en-US" dirty="0"/>
              <a:t>State Diagrams and User Interfaces</a:t>
            </a:r>
            <a:endParaRPr lang="en-US" dirty="0">
              <a:solidFill>
                <a:srgbClr val="FF0000"/>
              </a:solidFill>
            </a:endParaRPr>
          </a:p>
        </p:txBody>
      </p:sp>
      <p:sp>
        <p:nvSpPr>
          <p:cNvPr id="3" name="Content Placeholder 2">
            <a:extLst>
              <a:ext uri="{FF2B5EF4-FFF2-40B4-BE49-F238E27FC236}">
                <a16:creationId xmlns:a16="http://schemas.microsoft.com/office/drawing/2014/main" id="{35B3B421-689E-02BF-820F-E15FD3335B54}"/>
              </a:ext>
            </a:extLst>
          </p:cNvPr>
          <p:cNvSpPr>
            <a:spLocks noGrp="1"/>
          </p:cNvSpPr>
          <p:nvPr>
            <p:ph idx="1"/>
          </p:nvPr>
        </p:nvSpPr>
        <p:spPr>
          <a:xfrm>
            <a:off x="838200" y="1257300"/>
            <a:ext cx="10515600" cy="5221877"/>
          </a:xfrm>
        </p:spPr>
        <p:txBody>
          <a:bodyPr>
            <a:normAutofit lnSpcReduction="10000"/>
          </a:bodyPr>
          <a:lstStyle/>
          <a:p>
            <a:r>
              <a:rPr lang="en-US" dirty="0"/>
              <a:t>Section 3.2	</a:t>
            </a:r>
          </a:p>
          <a:p>
            <a:pPr lvl="1"/>
            <a:r>
              <a:rPr lang="en-US" dirty="0"/>
              <a:t>Actor: Mentor</a:t>
            </a:r>
          </a:p>
          <a:p>
            <a:pPr lvl="1"/>
            <a:r>
              <a:rPr lang="en-US" dirty="0"/>
              <a:t>Use case: </a:t>
            </a:r>
            <a:r>
              <a:rPr lang="en-US" dirty="0">
                <a:solidFill>
                  <a:srgbClr val="FF0000"/>
                </a:solidFill>
              </a:rPr>
              <a:t>Edit Interview Record</a:t>
            </a:r>
          </a:p>
          <a:p>
            <a:pPr lvl="1"/>
            <a:r>
              <a:rPr lang="en-US" dirty="0"/>
              <a:t>Description: Search Student Info must be performed first.  (See 3.1).  The mentor can click Edit to add, modify or delete the interview record.  If the record exists, the mentor can be modified or deleted it.  If the record is empty, the mentor can enter a new record.  The mentor can then Save or Cancel the changes.</a:t>
            </a:r>
          </a:p>
          <a:p>
            <a:r>
              <a:rPr lang="en-US" dirty="0"/>
              <a:t>Remarks</a:t>
            </a:r>
            <a:r>
              <a:rPr lang="en-US" sz="3600" dirty="0"/>
              <a:t>: </a:t>
            </a:r>
          </a:p>
          <a:p>
            <a:pPr lvl="1"/>
            <a:r>
              <a:rPr lang="en-US" dirty="0"/>
              <a:t>Combine the transition diagram of 3.1 Search Student’s Info with the transition diagram for this use case.  However, make a distinction whether the user is Mentor or Coordinator.</a:t>
            </a:r>
          </a:p>
          <a:p>
            <a:pPr lvl="1"/>
            <a:r>
              <a:rPr lang="en-US" dirty="0"/>
              <a:t>Put the </a:t>
            </a:r>
            <a:r>
              <a:rPr lang="en-US" dirty="0">
                <a:solidFill>
                  <a:srgbClr val="FF0000"/>
                </a:solidFill>
              </a:rPr>
              <a:t>combined transition diagram </a:t>
            </a:r>
            <a:r>
              <a:rPr lang="en-US" dirty="0"/>
              <a:t>in </a:t>
            </a:r>
            <a:r>
              <a:rPr lang="en-US" dirty="0">
                <a:solidFill>
                  <a:srgbClr val="FF0000"/>
                </a:solidFill>
              </a:rPr>
              <a:t>3.2.2</a:t>
            </a:r>
            <a:r>
              <a:rPr lang="en-US" dirty="0"/>
              <a:t>; add the comment, “Combined transition diagram for Search Student’s Info (3.1) and Edit Interview Record (3.2).</a:t>
            </a:r>
          </a:p>
        </p:txBody>
      </p:sp>
    </p:spTree>
    <p:extLst>
      <p:ext uri="{BB962C8B-B14F-4D97-AF65-F5344CB8AC3E}">
        <p14:creationId xmlns:p14="http://schemas.microsoft.com/office/powerpoint/2010/main" val="749712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0910-0142-3BCC-4212-FE4F491B40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3D7B4-E4B6-C5F9-9579-610E85F91C09}"/>
              </a:ext>
            </a:extLst>
          </p:cNvPr>
          <p:cNvSpPr>
            <a:spLocks noGrp="1"/>
          </p:cNvSpPr>
          <p:nvPr>
            <p:ph type="title"/>
          </p:nvPr>
        </p:nvSpPr>
        <p:spPr>
          <a:xfrm>
            <a:off x="838200" y="336549"/>
            <a:ext cx="10515600" cy="920751"/>
          </a:xfrm>
        </p:spPr>
        <p:txBody>
          <a:bodyPr>
            <a:normAutofit/>
          </a:bodyPr>
          <a:lstStyle/>
          <a:p>
            <a:r>
              <a:rPr lang="en-US" dirty="0">
                <a:solidFill>
                  <a:srgbClr val="FF0000"/>
                </a:solidFill>
              </a:rPr>
              <a:t>Task 3B: </a:t>
            </a:r>
            <a:r>
              <a:rPr lang="en-US" dirty="0"/>
              <a:t>State Diagrams and User Interfaces</a:t>
            </a:r>
            <a:endParaRPr lang="en-US" dirty="0">
              <a:solidFill>
                <a:srgbClr val="FF0000"/>
              </a:solidFill>
            </a:endParaRPr>
          </a:p>
        </p:txBody>
      </p:sp>
      <p:sp>
        <p:nvSpPr>
          <p:cNvPr id="3" name="Content Placeholder 2">
            <a:extLst>
              <a:ext uri="{FF2B5EF4-FFF2-40B4-BE49-F238E27FC236}">
                <a16:creationId xmlns:a16="http://schemas.microsoft.com/office/drawing/2014/main" id="{BE9CB50D-1F40-BD75-F931-9EC910FFFE51}"/>
              </a:ext>
            </a:extLst>
          </p:cNvPr>
          <p:cNvSpPr>
            <a:spLocks noGrp="1"/>
          </p:cNvSpPr>
          <p:nvPr>
            <p:ph idx="1"/>
          </p:nvPr>
        </p:nvSpPr>
        <p:spPr>
          <a:xfrm>
            <a:off x="838200" y="1257300"/>
            <a:ext cx="10515600" cy="5221877"/>
          </a:xfrm>
        </p:spPr>
        <p:txBody>
          <a:bodyPr>
            <a:normAutofit/>
          </a:bodyPr>
          <a:lstStyle/>
          <a:p>
            <a:r>
              <a:rPr lang="en-US" dirty="0"/>
              <a:t>Section 3.2	</a:t>
            </a:r>
          </a:p>
          <a:p>
            <a:pPr lvl="1"/>
            <a:r>
              <a:rPr lang="en-US" dirty="0"/>
              <a:t>Actor: Mentor</a:t>
            </a:r>
          </a:p>
          <a:p>
            <a:pPr lvl="1"/>
            <a:r>
              <a:rPr lang="en-US" dirty="0"/>
              <a:t>Use case: </a:t>
            </a:r>
            <a:r>
              <a:rPr lang="en-US" dirty="0">
                <a:solidFill>
                  <a:srgbClr val="FF0000"/>
                </a:solidFill>
              </a:rPr>
              <a:t>Edit Interview Record</a:t>
            </a:r>
          </a:p>
          <a:p>
            <a:pPr lvl="1"/>
            <a:r>
              <a:rPr lang="en-US" dirty="0"/>
              <a:t>Description: The mentor is in a student’s info page.  (See 3.1, Search Student Info.)  The mentor can click Edit to add, modify or delete the interview record.  If the record exists, the mentor can be modified or deleted it.  If the record is empty, the mentor can enter a new record.  The mentor can then Save or Cancel the changes.</a:t>
            </a:r>
            <a:endParaRPr lang="en-US" sz="2800" dirty="0"/>
          </a:p>
          <a:p>
            <a:pPr lvl="1"/>
            <a:r>
              <a:rPr lang="en-US" dirty="0"/>
              <a:t>Combine the transition diagram of 3.1 (Search Student’s Info) for Mentor with 3.2 (Edit Interview Record).  Put the combined transition diagram in Section 3.2.2. Make a note this is the combined transition diagram of 3.1 and 3.2 for Mentor.</a:t>
            </a:r>
          </a:p>
          <a:p>
            <a:pPr marL="457200" lvl="1" indent="0">
              <a:buNone/>
            </a:pPr>
            <a:endParaRPr lang="en-US" sz="800" dirty="0"/>
          </a:p>
        </p:txBody>
      </p:sp>
    </p:spTree>
    <p:extLst>
      <p:ext uri="{BB962C8B-B14F-4D97-AF65-F5344CB8AC3E}">
        <p14:creationId xmlns:p14="http://schemas.microsoft.com/office/powerpoint/2010/main" val="99095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FF690-BFF6-981B-EDB0-656E2101EB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01BE93-16F2-2FB2-96DC-54DB7630B144}"/>
              </a:ext>
            </a:extLst>
          </p:cNvPr>
          <p:cNvSpPr>
            <a:spLocks noGrp="1"/>
          </p:cNvSpPr>
          <p:nvPr>
            <p:ph type="title"/>
          </p:nvPr>
        </p:nvSpPr>
        <p:spPr>
          <a:xfrm>
            <a:off x="838200" y="336549"/>
            <a:ext cx="10515600" cy="920751"/>
          </a:xfrm>
        </p:spPr>
        <p:txBody>
          <a:bodyPr>
            <a:normAutofit/>
          </a:bodyPr>
          <a:lstStyle/>
          <a:p>
            <a:r>
              <a:rPr lang="en-US" dirty="0">
                <a:solidFill>
                  <a:srgbClr val="FF0000"/>
                </a:solidFill>
              </a:rPr>
              <a:t>Task 3B: </a:t>
            </a:r>
            <a:r>
              <a:rPr lang="en-US" dirty="0"/>
              <a:t>State Diagrams and User Interfaces</a:t>
            </a:r>
          </a:p>
        </p:txBody>
      </p:sp>
      <p:sp>
        <p:nvSpPr>
          <p:cNvPr id="3" name="Content Placeholder 2">
            <a:extLst>
              <a:ext uri="{FF2B5EF4-FFF2-40B4-BE49-F238E27FC236}">
                <a16:creationId xmlns:a16="http://schemas.microsoft.com/office/drawing/2014/main" id="{8329275C-4811-648A-4A09-8DEFA9A52210}"/>
              </a:ext>
            </a:extLst>
          </p:cNvPr>
          <p:cNvSpPr>
            <a:spLocks noGrp="1"/>
          </p:cNvSpPr>
          <p:nvPr>
            <p:ph idx="1"/>
          </p:nvPr>
        </p:nvSpPr>
        <p:spPr>
          <a:xfrm>
            <a:off x="838200" y="1384663"/>
            <a:ext cx="10515600" cy="5094514"/>
          </a:xfrm>
        </p:spPr>
        <p:txBody>
          <a:bodyPr>
            <a:normAutofit/>
          </a:bodyPr>
          <a:lstStyle/>
          <a:p>
            <a:r>
              <a:rPr lang="en-US" dirty="0"/>
              <a:t>Section 3.3 </a:t>
            </a:r>
          </a:p>
          <a:p>
            <a:pPr lvl="1"/>
            <a:r>
              <a:rPr lang="en-US" dirty="0"/>
              <a:t>Actor: Faculty Consultant, Coordinator</a:t>
            </a:r>
          </a:p>
          <a:p>
            <a:pPr lvl="1"/>
            <a:r>
              <a:rPr lang="en-US" dirty="0"/>
              <a:t>Use case: </a:t>
            </a:r>
            <a:r>
              <a:rPr lang="en-US" dirty="0">
                <a:solidFill>
                  <a:srgbClr val="FF0000"/>
                </a:solidFill>
              </a:rPr>
              <a:t>Search Mentor Info</a:t>
            </a:r>
          </a:p>
          <a:p>
            <a:pPr lvl="1"/>
            <a:r>
              <a:rPr lang="en-US" dirty="0"/>
              <a:t>Description: Search for a mentor info, given a mentor’s name, email address or group ID. The search result includes the mentor’s name and ID of the group for which the mentor cares. The member list is displayed by clicking on the group ID. The record </a:t>
            </a:r>
            <a:r>
              <a:rPr lang="en-US"/>
              <a:t>of a </a:t>
            </a:r>
            <a:r>
              <a:rPr lang="en-US" dirty="0"/>
              <a:t>student is shown by selecting the name of the student in the member list.</a:t>
            </a:r>
          </a:p>
          <a:p>
            <a:pPr lvl="1"/>
            <a:r>
              <a:rPr lang="en-US" dirty="0"/>
              <a:t>Put this transition diagram in Section 3.3.2</a:t>
            </a:r>
          </a:p>
          <a:p>
            <a:pPr lvl="1"/>
            <a:r>
              <a:rPr lang="en-US" dirty="0"/>
              <a:t>Remark: you did the scenario for this use case in last week’s lab.</a:t>
            </a:r>
          </a:p>
          <a:p>
            <a:pPr lvl="1"/>
            <a:endParaRPr lang="en-US" sz="2800" dirty="0"/>
          </a:p>
          <a:p>
            <a:pPr marL="0" indent="0">
              <a:buNone/>
            </a:pPr>
            <a:endParaRPr lang="en-US" sz="3200" dirty="0"/>
          </a:p>
        </p:txBody>
      </p:sp>
    </p:spTree>
    <p:extLst>
      <p:ext uri="{BB962C8B-B14F-4D97-AF65-F5344CB8AC3E}">
        <p14:creationId xmlns:p14="http://schemas.microsoft.com/office/powerpoint/2010/main" val="3069138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920751"/>
          </a:xfrm>
        </p:spPr>
        <p:txBody>
          <a:bodyPr>
            <a:normAutofit/>
          </a:bodyPr>
          <a:lstStyle/>
          <a:p>
            <a:r>
              <a:rPr lang="en-US" dirty="0">
                <a:solidFill>
                  <a:srgbClr val="FF0000"/>
                </a:solidFill>
              </a:rPr>
              <a:t>Task 3B: </a:t>
            </a:r>
            <a:r>
              <a:rPr lang="en-US" dirty="0">
                <a:solidFill>
                  <a:prstClr val="black"/>
                </a:solidFill>
              </a:rPr>
              <a:t>State Diagrams and User Interfaces</a:t>
            </a:r>
            <a:endParaRPr lang="en-US" dirty="0"/>
          </a:p>
        </p:txBody>
      </p:sp>
      <p:sp>
        <p:nvSpPr>
          <p:cNvPr id="3" name="Content Placeholder 2"/>
          <p:cNvSpPr>
            <a:spLocks noGrp="1"/>
          </p:cNvSpPr>
          <p:nvPr>
            <p:ph idx="1"/>
          </p:nvPr>
        </p:nvSpPr>
        <p:spPr>
          <a:xfrm>
            <a:off x="838200" y="1400175"/>
            <a:ext cx="10515600" cy="4776788"/>
          </a:xfrm>
        </p:spPr>
        <p:txBody>
          <a:bodyPr>
            <a:normAutofit/>
          </a:bodyPr>
          <a:lstStyle/>
          <a:p>
            <a:r>
              <a:rPr lang="en-US" dirty="0"/>
              <a:t>Contrary to what is stated in the SRS template, put the </a:t>
            </a:r>
            <a:r>
              <a:rPr lang="en-US" dirty="0">
                <a:solidFill>
                  <a:srgbClr val="FF0000"/>
                </a:solidFill>
              </a:rPr>
              <a:t>state transition diagram </a:t>
            </a:r>
            <a:r>
              <a:rPr lang="en-US" dirty="0"/>
              <a:t>in</a:t>
            </a:r>
            <a:r>
              <a:rPr lang="en-US" dirty="0">
                <a:solidFill>
                  <a:srgbClr val="FF0000"/>
                </a:solidFill>
              </a:rPr>
              <a:t> Section 3.X.2</a:t>
            </a:r>
            <a:r>
              <a:rPr lang="en-US" dirty="0"/>
              <a:t>, </a:t>
            </a:r>
            <a:r>
              <a:rPr lang="en-US" dirty="0">
                <a:solidFill>
                  <a:srgbClr val="FF0000"/>
                </a:solidFill>
              </a:rPr>
              <a:t>not </a:t>
            </a:r>
            <a:r>
              <a:rPr lang="en-US" dirty="0"/>
              <a:t>in</a:t>
            </a:r>
            <a:r>
              <a:rPr lang="en-US" dirty="0">
                <a:solidFill>
                  <a:srgbClr val="FF0000"/>
                </a:solidFill>
              </a:rPr>
              <a:t> Appendix B</a:t>
            </a:r>
            <a:r>
              <a:rPr lang="en-US" dirty="0"/>
              <a:t>.</a:t>
            </a:r>
          </a:p>
          <a:p>
            <a:endParaRPr lang="en-US" sz="800" dirty="0"/>
          </a:p>
          <a:p>
            <a:r>
              <a:rPr lang="en-US" dirty="0"/>
              <a:t>User interface (UI)</a:t>
            </a:r>
          </a:p>
          <a:p>
            <a:pPr lvl="1"/>
            <a:r>
              <a:rPr lang="en-US" dirty="0"/>
              <a:t>For </a:t>
            </a:r>
            <a:r>
              <a:rPr lang="en-US" b="1" dirty="0">
                <a:solidFill>
                  <a:srgbClr val="FF0000"/>
                </a:solidFill>
              </a:rPr>
              <a:t>each state </a:t>
            </a:r>
            <a:r>
              <a:rPr lang="en-US" dirty="0"/>
              <a:t>in the </a:t>
            </a:r>
            <a:r>
              <a:rPr lang="en-US" dirty="0">
                <a:solidFill>
                  <a:srgbClr val="FF0000"/>
                </a:solidFill>
              </a:rPr>
              <a:t>state transition diagram</a:t>
            </a:r>
            <a:r>
              <a:rPr lang="en-US" dirty="0"/>
              <a:t>, there must be a </a:t>
            </a:r>
            <a:r>
              <a:rPr lang="en-US" b="1" dirty="0">
                <a:solidFill>
                  <a:srgbClr val="FF0000"/>
                </a:solidFill>
              </a:rPr>
              <a:t>corresponding UI</a:t>
            </a:r>
            <a:r>
              <a:rPr lang="en-US" dirty="0"/>
              <a:t> in the </a:t>
            </a:r>
            <a:r>
              <a:rPr lang="en-US" dirty="0">
                <a:solidFill>
                  <a:srgbClr val="FF0000"/>
                </a:solidFill>
              </a:rPr>
              <a:t>UI diagram</a:t>
            </a:r>
            <a:r>
              <a:rPr lang="en-US" dirty="0"/>
              <a:t>.</a:t>
            </a:r>
          </a:p>
          <a:p>
            <a:pPr lvl="1"/>
            <a:r>
              <a:rPr lang="en-US" dirty="0"/>
              <a:t>Please put the </a:t>
            </a:r>
            <a:r>
              <a:rPr lang="en-US" dirty="0">
                <a:solidFill>
                  <a:srgbClr val="FF0000"/>
                </a:solidFill>
              </a:rPr>
              <a:t>UI diagram </a:t>
            </a:r>
            <a:r>
              <a:rPr lang="en-US" dirty="0"/>
              <a:t>in a </a:t>
            </a:r>
            <a:r>
              <a:rPr lang="en-US" dirty="0">
                <a:solidFill>
                  <a:srgbClr val="FF0000"/>
                </a:solidFill>
              </a:rPr>
              <a:t>separate document </a:t>
            </a:r>
            <a:r>
              <a:rPr lang="en-US" dirty="0"/>
              <a:t>and mention that </a:t>
            </a:r>
            <a:r>
              <a:rPr lang="en-US" dirty="0">
                <a:solidFill>
                  <a:srgbClr val="FF0000"/>
                </a:solidFill>
              </a:rPr>
              <a:t>document’s name </a:t>
            </a:r>
            <a:r>
              <a:rPr lang="en-US" dirty="0"/>
              <a:t>in </a:t>
            </a:r>
            <a:r>
              <a:rPr lang="en-US" dirty="0">
                <a:solidFill>
                  <a:srgbClr val="FF0000"/>
                </a:solidFill>
              </a:rPr>
              <a:t>Section 4.1</a:t>
            </a:r>
            <a:r>
              <a:rPr lang="en-US" dirty="0"/>
              <a:t>.</a:t>
            </a:r>
          </a:p>
          <a:p>
            <a:pPr lvl="2"/>
            <a:r>
              <a:rPr lang="en-US" dirty="0"/>
              <a:t>The grader needs to open the UI diagram and the transition diagram simultaneously.</a:t>
            </a:r>
          </a:p>
          <a:p>
            <a:pPr lvl="1"/>
            <a:r>
              <a:rPr lang="en-US" altLang="zh-CN" dirty="0">
                <a:ea typeface="宋体" panose="02010600030101010101" pitchFamily="2" charset="-122"/>
              </a:rPr>
              <a:t>Each UI should have a number and label that are meaningful for referencing.  The</a:t>
            </a:r>
            <a:r>
              <a:rPr lang="en-US" altLang="zh-CN" dirty="0">
                <a:solidFill>
                  <a:srgbClr val="FF0000"/>
                </a:solidFill>
                <a:ea typeface="宋体" panose="02010600030101010101" pitchFamily="2" charset="-122"/>
              </a:rPr>
              <a:t> number </a:t>
            </a:r>
            <a:r>
              <a:rPr lang="en-US" altLang="zh-CN" dirty="0">
                <a:ea typeface="宋体" panose="02010600030101010101" pitchFamily="2" charset="-122"/>
              </a:rPr>
              <a:t>and </a:t>
            </a:r>
            <a:r>
              <a:rPr lang="en-US" altLang="zh-CN" dirty="0">
                <a:solidFill>
                  <a:srgbClr val="FF0000"/>
                </a:solidFill>
                <a:ea typeface="宋体" panose="02010600030101010101" pitchFamily="2" charset="-122"/>
              </a:rPr>
              <a:t>label</a:t>
            </a:r>
            <a:r>
              <a:rPr lang="en-US" altLang="zh-CN" dirty="0">
                <a:ea typeface="宋体" panose="02010600030101010101" pitchFamily="2" charset="-122"/>
              </a:rPr>
              <a:t> for the </a:t>
            </a:r>
            <a:r>
              <a:rPr lang="en-US" altLang="zh-CN" dirty="0">
                <a:solidFill>
                  <a:srgbClr val="FF0000"/>
                </a:solidFill>
                <a:ea typeface="宋体" panose="02010600030101010101" pitchFamily="2" charset="-122"/>
              </a:rPr>
              <a:t>UI</a:t>
            </a:r>
            <a:r>
              <a:rPr lang="en-US" altLang="zh-CN" dirty="0">
                <a:ea typeface="宋体" panose="02010600030101010101" pitchFamily="2" charset="-122"/>
              </a:rPr>
              <a:t> </a:t>
            </a:r>
            <a:r>
              <a:rPr lang="en-US" altLang="zh-CN" b="1" dirty="0">
                <a:solidFill>
                  <a:srgbClr val="FF0000"/>
                </a:solidFill>
                <a:ea typeface="宋体" panose="02010600030101010101" pitchFamily="2" charset="-122"/>
              </a:rPr>
              <a:t>must exactly</a:t>
            </a:r>
            <a:r>
              <a:rPr lang="en-US" altLang="zh-CN" dirty="0">
                <a:ea typeface="宋体" panose="02010600030101010101" pitchFamily="2" charset="-122"/>
              </a:rPr>
              <a:t> </a:t>
            </a:r>
            <a:r>
              <a:rPr lang="en-US" altLang="zh-CN" b="1" dirty="0">
                <a:solidFill>
                  <a:srgbClr val="FF0000"/>
                </a:solidFill>
                <a:ea typeface="宋体" panose="02010600030101010101" pitchFamily="2" charset="-122"/>
              </a:rPr>
              <a:t>match</a:t>
            </a:r>
            <a:r>
              <a:rPr lang="en-US" altLang="zh-CN" dirty="0">
                <a:ea typeface="宋体" panose="02010600030101010101" pitchFamily="2" charset="-122"/>
              </a:rPr>
              <a:t> those in the </a:t>
            </a:r>
            <a:r>
              <a:rPr lang="en-US" altLang="zh-CN" dirty="0">
                <a:solidFill>
                  <a:srgbClr val="FF0000"/>
                </a:solidFill>
                <a:ea typeface="宋体" panose="02010600030101010101" pitchFamily="2" charset="-122"/>
              </a:rPr>
              <a:t>corresponding</a:t>
            </a:r>
            <a:r>
              <a:rPr lang="en-US" altLang="zh-CN" dirty="0">
                <a:ea typeface="宋体" panose="02010600030101010101" pitchFamily="2" charset="-122"/>
              </a:rPr>
              <a:t> </a:t>
            </a:r>
            <a:r>
              <a:rPr lang="en-US" altLang="zh-CN" dirty="0">
                <a:solidFill>
                  <a:srgbClr val="FF0000"/>
                </a:solidFill>
                <a:ea typeface="宋体" panose="02010600030101010101" pitchFamily="2" charset="-122"/>
              </a:rPr>
              <a:t>state</a:t>
            </a:r>
            <a:r>
              <a:rPr lang="en-US" altLang="zh-CN" dirty="0">
                <a:ea typeface="宋体" panose="02010600030101010101" pitchFamily="2" charset="-122"/>
              </a:rPr>
              <a:t> in the </a:t>
            </a:r>
            <a:r>
              <a:rPr lang="en-US" altLang="zh-CN" dirty="0">
                <a:solidFill>
                  <a:srgbClr val="FF0000"/>
                </a:solidFill>
                <a:ea typeface="宋体" panose="02010600030101010101" pitchFamily="2" charset="-122"/>
              </a:rPr>
              <a:t>state transition diagram</a:t>
            </a:r>
            <a:r>
              <a:rPr lang="en-US" altLang="zh-CN" dirty="0">
                <a:ea typeface="宋体" panose="02010600030101010101" pitchFamily="2" charset="-122"/>
              </a:rPr>
              <a:t>.</a:t>
            </a:r>
          </a:p>
        </p:txBody>
      </p:sp>
    </p:spTree>
    <p:extLst>
      <p:ext uri="{BB962C8B-B14F-4D97-AF65-F5344CB8AC3E}">
        <p14:creationId xmlns:p14="http://schemas.microsoft.com/office/powerpoint/2010/main" val="1908581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C1338-7A1B-8AFE-B3FA-65901D81BB21}"/>
              </a:ext>
            </a:extLst>
          </p:cNvPr>
          <p:cNvSpPr>
            <a:spLocks noGrp="1"/>
          </p:cNvSpPr>
          <p:nvPr>
            <p:ph type="title"/>
          </p:nvPr>
        </p:nvSpPr>
        <p:spPr/>
        <p:txBody>
          <a:bodyPr/>
          <a:lstStyle/>
          <a:p>
            <a:r>
              <a:rPr lang="en-US" dirty="0"/>
              <a:t>Example from Lecture 4 class exercise</a:t>
            </a:r>
          </a:p>
        </p:txBody>
      </p:sp>
      <p:pic>
        <p:nvPicPr>
          <p:cNvPr id="5" name="Picture 4">
            <a:extLst>
              <a:ext uri="{FF2B5EF4-FFF2-40B4-BE49-F238E27FC236}">
                <a16:creationId xmlns:a16="http://schemas.microsoft.com/office/drawing/2014/main" id="{A9255CCC-43D2-1475-D413-C3D2319EAB9C}"/>
              </a:ext>
            </a:extLst>
          </p:cNvPr>
          <p:cNvPicPr>
            <a:picLocks noChangeAspect="1"/>
          </p:cNvPicPr>
          <p:nvPr/>
        </p:nvPicPr>
        <p:blipFill>
          <a:blip r:embed="rId2"/>
          <a:stretch>
            <a:fillRect/>
          </a:stretch>
        </p:blipFill>
        <p:spPr>
          <a:xfrm>
            <a:off x="5194299" y="1307613"/>
            <a:ext cx="6083377" cy="4889987"/>
          </a:xfrm>
          <a:prstGeom prst="rect">
            <a:avLst/>
          </a:prstGeom>
          <a:ln>
            <a:solidFill>
              <a:srgbClr val="FF0000"/>
            </a:solidFill>
          </a:ln>
        </p:spPr>
      </p:pic>
      <p:sp>
        <p:nvSpPr>
          <p:cNvPr id="7" name="TextBox 6">
            <a:extLst>
              <a:ext uri="{FF2B5EF4-FFF2-40B4-BE49-F238E27FC236}">
                <a16:creationId xmlns:a16="http://schemas.microsoft.com/office/drawing/2014/main" id="{C8BDE98E-D11E-0774-CB1E-6DF846ADF539}"/>
              </a:ext>
            </a:extLst>
          </p:cNvPr>
          <p:cNvSpPr txBox="1"/>
          <p:nvPr/>
        </p:nvSpPr>
        <p:spPr>
          <a:xfrm>
            <a:off x="1388262" y="4609867"/>
            <a:ext cx="1902460" cy="646331"/>
          </a:xfrm>
          <a:prstGeom prst="rect">
            <a:avLst/>
          </a:prstGeom>
          <a:solidFill>
            <a:schemeClr val="bg1">
              <a:lumMod val="85000"/>
            </a:schemeClr>
          </a:solidFill>
          <a:ln>
            <a:solidFill>
              <a:srgbClr val="FF0000"/>
            </a:solidFill>
          </a:ln>
        </p:spPr>
        <p:txBody>
          <a:bodyPr wrap="square" rtlCol="0">
            <a:spAutoFit/>
          </a:bodyPr>
          <a:lstStyle/>
          <a:p>
            <a:r>
              <a:rPr lang="en-US" dirty="0"/>
              <a:t>Number and label exactly match </a:t>
            </a:r>
          </a:p>
        </p:txBody>
      </p:sp>
      <p:cxnSp>
        <p:nvCxnSpPr>
          <p:cNvPr id="9" name="Straight Arrow Connector 8">
            <a:extLst>
              <a:ext uri="{FF2B5EF4-FFF2-40B4-BE49-F238E27FC236}">
                <a16:creationId xmlns:a16="http://schemas.microsoft.com/office/drawing/2014/main" id="{5F790507-F9E0-421B-1EBE-62A0F1EB27B8}"/>
              </a:ext>
            </a:extLst>
          </p:cNvPr>
          <p:cNvCxnSpPr>
            <a:cxnSpLocks/>
          </p:cNvCxnSpPr>
          <p:nvPr/>
        </p:nvCxnSpPr>
        <p:spPr>
          <a:xfrm flipV="1">
            <a:off x="3290722" y="2696865"/>
            <a:ext cx="2576678" cy="2003918"/>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A97DA47-9FEE-E5DD-8777-213CA6381DDA}"/>
              </a:ext>
            </a:extLst>
          </p:cNvPr>
          <p:cNvCxnSpPr>
            <a:cxnSpLocks/>
          </p:cNvCxnSpPr>
          <p:nvPr/>
        </p:nvCxnSpPr>
        <p:spPr>
          <a:xfrm>
            <a:off x="3189122" y="4884127"/>
            <a:ext cx="2906878" cy="901329"/>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66BE692-E32E-919E-21CD-1751389AC1D4}"/>
              </a:ext>
            </a:extLst>
          </p:cNvPr>
          <p:cNvSpPr txBox="1"/>
          <p:nvPr/>
        </p:nvSpPr>
        <p:spPr>
          <a:xfrm>
            <a:off x="1388262" y="3133200"/>
            <a:ext cx="2162810" cy="923330"/>
          </a:xfrm>
          <a:prstGeom prst="rect">
            <a:avLst/>
          </a:prstGeom>
          <a:solidFill>
            <a:schemeClr val="bg1">
              <a:lumMod val="85000"/>
            </a:schemeClr>
          </a:solidFill>
          <a:ln>
            <a:solidFill>
              <a:srgbClr val="FF0000"/>
            </a:solidFill>
          </a:ln>
        </p:spPr>
        <p:txBody>
          <a:bodyPr wrap="square" rtlCol="0">
            <a:spAutoFit/>
          </a:bodyPr>
          <a:lstStyle/>
          <a:p>
            <a:r>
              <a:rPr lang="en-US" dirty="0"/>
              <a:t>All controls (ID, Password and Login button) match</a:t>
            </a:r>
          </a:p>
        </p:txBody>
      </p:sp>
      <p:cxnSp>
        <p:nvCxnSpPr>
          <p:cNvPr id="24" name="Straight Arrow Connector 23">
            <a:extLst>
              <a:ext uri="{FF2B5EF4-FFF2-40B4-BE49-F238E27FC236}">
                <a16:creationId xmlns:a16="http://schemas.microsoft.com/office/drawing/2014/main" id="{6F95A89B-DA45-06A8-EB04-17870D801A99}"/>
              </a:ext>
            </a:extLst>
          </p:cNvPr>
          <p:cNvCxnSpPr>
            <a:cxnSpLocks/>
            <a:stCxn id="23" idx="3"/>
          </p:cNvCxnSpPr>
          <p:nvPr/>
        </p:nvCxnSpPr>
        <p:spPr>
          <a:xfrm flipV="1">
            <a:off x="3551072" y="1935480"/>
            <a:ext cx="1643227" cy="165938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E5A1A0E1-C822-8099-24E0-BADDD9D1783C}"/>
              </a:ext>
            </a:extLst>
          </p:cNvPr>
          <p:cNvCxnSpPr>
            <a:cxnSpLocks/>
            <a:stCxn id="23" idx="3"/>
          </p:cNvCxnSpPr>
          <p:nvPr/>
        </p:nvCxnSpPr>
        <p:spPr>
          <a:xfrm>
            <a:off x="3551072" y="3594865"/>
            <a:ext cx="2316328" cy="100761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13020081-968E-8A61-6772-1C99ACDA92AA}"/>
              </a:ext>
            </a:extLst>
          </p:cNvPr>
          <p:cNvSpPr txBox="1"/>
          <p:nvPr/>
        </p:nvSpPr>
        <p:spPr>
          <a:xfrm>
            <a:off x="284709" y="1632152"/>
            <a:ext cx="4127498" cy="646331"/>
          </a:xfrm>
          <a:prstGeom prst="rect">
            <a:avLst/>
          </a:prstGeom>
          <a:solidFill>
            <a:schemeClr val="bg1">
              <a:lumMod val="85000"/>
            </a:schemeClr>
          </a:solidFill>
        </p:spPr>
        <p:txBody>
          <a:bodyPr wrap="square" rtlCol="0">
            <a:spAutoFit/>
          </a:bodyPr>
          <a:lstStyle/>
          <a:p>
            <a:r>
              <a:rPr lang="en-US" dirty="0"/>
              <a:t>Each state in the transition diagram must </a:t>
            </a:r>
            <a:r>
              <a:rPr lang="en-US" b="1" dirty="0">
                <a:solidFill>
                  <a:srgbClr val="FF0000"/>
                </a:solidFill>
              </a:rPr>
              <a:t>exactly match </a:t>
            </a:r>
            <a:r>
              <a:rPr lang="en-US" dirty="0"/>
              <a:t>the corresponding UI.</a:t>
            </a:r>
          </a:p>
        </p:txBody>
      </p:sp>
    </p:spTree>
    <p:extLst>
      <p:ext uri="{BB962C8B-B14F-4D97-AF65-F5344CB8AC3E}">
        <p14:creationId xmlns:p14="http://schemas.microsoft.com/office/powerpoint/2010/main" val="1213707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920751"/>
          </a:xfrm>
        </p:spPr>
        <p:txBody>
          <a:bodyPr>
            <a:normAutofit/>
          </a:bodyPr>
          <a:lstStyle/>
          <a:p>
            <a:r>
              <a:rPr lang="en-US" dirty="0">
                <a:solidFill>
                  <a:srgbClr val="FF0000"/>
                </a:solidFill>
              </a:rPr>
              <a:t>Task 3C: </a:t>
            </a:r>
            <a:r>
              <a:rPr lang="en-US" dirty="0"/>
              <a:t>Basic Scenario</a:t>
            </a:r>
          </a:p>
        </p:txBody>
      </p:sp>
      <p:sp>
        <p:nvSpPr>
          <p:cNvPr id="3" name="Content Placeholder 2"/>
          <p:cNvSpPr>
            <a:spLocks noGrp="1"/>
          </p:cNvSpPr>
          <p:nvPr>
            <p:ph idx="1"/>
          </p:nvPr>
        </p:nvSpPr>
        <p:spPr>
          <a:xfrm>
            <a:off x="838200" y="1400175"/>
            <a:ext cx="10515600" cy="4776788"/>
          </a:xfrm>
        </p:spPr>
        <p:txBody>
          <a:bodyPr>
            <a:normAutofit/>
          </a:bodyPr>
          <a:lstStyle/>
          <a:p>
            <a:r>
              <a:rPr lang="en-US" dirty="0">
                <a:solidFill>
                  <a:srgbClr val="FF0000"/>
                </a:solidFill>
              </a:rPr>
              <a:t>Task 3C: </a:t>
            </a:r>
            <a:r>
              <a:rPr lang="en-US" dirty="0"/>
              <a:t>Do the basic </a:t>
            </a:r>
            <a:r>
              <a:rPr lang="en-US" dirty="0">
                <a:solidFill>
                  <a:srgbClr val="FF0000"/>
                </a:solidFill>
              </a:rPr>
              <a:t>scenario</a:t>
            </a:r>
            <a:r>
              <a:rPr lang="en-US" dirty="0"/>
              <a:t> for the specified use cases.</a:t>
            </a:r>
          </a:p>
          <a:p>
            <a:pPr lvl="1"/>
            <a:r>
              <a:rPr lang="en-US" dirty="0"/>
              <a:t>Please state the assumption of each scenario, i.e. what had already happened before the scenario. </a:t>
            </a:r>
          </a:p>
          <a:p>
            <a:pPr lvl="1"/>
            <a:r>
              <a:rPr lang="en-US" dirty="0"/>
              <a:t>You should </a:t>
            </a:r>
            <a:r>
              <a:rPr lang="en-US" dirty="0">
                <a:solidFill>
                  <a:srgbClr val="FF0000"/>
                </a:solidFill>
              </a:rPr>
              <a:t>do </a:t>
            </a:r>
            <a:r>
              <a:rPr lang="en-US" dirty="0"/>
              <a:t>the </a:t>
            </a:r>
            <a:r>
              <a:rPr lang="en-US" dirty="0">
                <a:solidFill>
                  <a:srgbClr val="FF0000"/>
                </a:solidFill>
              </a:rPr>
              <a:t>scenario</a:t>
            </a:r>
            <a:r>
              <a:rPr lang="en-US" dirty="0"/>
              <a:t> </a:t>
            </a:r>
            <a:r>
              <a:rPr lang="en-US" dirty="0">
                <a:solidFill>
                  <a:srgbClr val="FF0000"/>
                </a:solidFill>
              </a:rPr>
              <a:t>before</a:t>
            </a:r>
            <a:r>
              <a:rPr lang="en-US" dirty="0"/>
              <a:t> the </a:t>
            </a:r>
            <a:r>
              <a:rPr lang="en-US" dirty="0">
                <a:solidFill>
                  <a:srgbClr val="FF0000"/>
                </a:solidFill>
              </a:rPr>
              <a:t>transition diagram </a:t>
            </a:r>
            <a:r>
              <a:rPr lang="en-US" dirty="0"/>
              <a:t>because the scenario helps you to figure out the sequence of events for the transition diagram.</a:t>
            </a:r>
          </a:p>
          <a:p>
            <a:r>
              <a:rPr lang="en-US" altLang="zh-CN" dirty="0">
                <a:ea typeface="宋体" panose="02010600030101010101" pitchFamily="2" charset="-122"/>
              </a:rPr>
              <a:t>Put the scenario under the state transition diagram in Section 3.X.2.</a:t>
            </a:r>
          </a:p>
          <a:p>
            <a:pPr>
              <a:lnSpc>
                <a:spcPct val="120000"/>
              </a:lnSpc>
              <a:spcBef>
                <a:spcPts val="0"/>
              </a:spcBef>
              <a:defRPr/>
            </a:pPr>
            <a:r>
              <a:rPr lang="en-US" altLang="zh-CN" kern="0" dirty="0">
                <a:ea typeface="宋体" panose="02010600030101010101" pitchFamily="2" charset="-122"/>
              </a:rPr>
              <a:t>For 3.X.3 functional requirements,</a:t>
            </a:r>
          </a:p>
          <a:p>
            <a:pPr lvl="1">
              <a:lnSpc>
                <a:spcPct val="120000"/>
              </a:lnSpc>
              <a:spcBef>
                <a:spcPts val="0"/>
              </a:spcBef>
              <a:defRPr/>
            </a:pPr>
            <a:r>
              <a:rPr lang="en-US" altLang="zh-CN" kern="0" dirty="0">
                <a:ea typeface="宋体" panose="02010600030101010101" pitchFamily="2" charset="-122"/>
              </a:rPr>
              <a:t>Usually, the state transition diagrams and UI contain enough information.</a:t>
            </a:r>
          </a:p>
          <a:p>
            <a:pPr lvl="1">
              <a:lnSpc>
                <a:spcPct val="120000"/>
              </a:lnSpc>
              <a:spcBef>
                <a:spcPts val="0"/>
              </a:spcBef>
              <a:defRPr/>
            </a:pPr>
            <a:r>
              <a:rPr lang="en-US" altLang="zh-CN" kern="0" dirty="0">
                <a:ea typeface="宋体" panose="02010600030101010101" pitchFamily="2" charset="-122"/>
              </a:rPr>
              <a:t>So in 3.X.3, enter only the functional requirements that are </a:t>
            </a:r>
            <a:r>
              <a:rPr lang="en-US" altLang="zh-CN" kern="0" dirty="0">
                <a:solidFill>
                  <a:srgbClr val="FF0000"/>
                </a:solidFill>
                <a:ea typeface="宋体" panose="02010600030101010101" pitchFamily="2" charset="-122"/>
              </a:rPr>
              <a:t>not described in </a:t>
            </a:r>
            <a:r>
              <a:rPr lang="en-US" altLang="zh-CN" kern="0" dirty="0">
                <a:ea typeface="宋体" panose="02010600030101010101" pitchFamily="2" charset="-122"/>
              </a:rPr>
              <a:t>the</a:t>
            </a:r>
            <a:r>
              <a:rPr lang="en-US" altLang="zh-CN" kern="0" dirty="0">
                <a:solidFill>
                  <a:srgbClr val="FF0000"/>
                </a:solidFill>
                <a:ea typeface="宋体" panose="02010600030101010101" pitchFamily="2" charset="-122"/>
              </a:rPr>
              <a:t> transitional diagrams </a:t>
            </a:r>
            <a:r>
              <a:rPr lang="en-US" altLang="zh-CN" kern="0" dirty="0">
                <a:ea typeface="宋体" panose="02010600030101010101" pitchFamily="2" charset="-122"/>
              </a:rPr>
              <a:t>and </a:t>
            </a:r>
            <a:r>
              <a:rPr lang="en-US" altLang="zh-CN" kern="0" dirty="0">
                <a:solidFill>
                  <a:srgbClr val="FF0000"/>
                </a:solidFill>
                <a:ea typeface="宋体" panose="02010600030101010101" pitchFamily="2" charset="-122"/>
              </a:rPr>
              <a:t>UI.</a:t>
            </a:r>
            <a:endParaRPr lang="en-US" altLang="zh-CN" sz="2000" kern="0" dirty="0">
              <a:solidFill>
                <a:srgbClr val="FF0000"/>
              </a:solidFill>
              <a:ea typeface="宋体" panose="02010600030101010101" pitchFamily="2" charset="-122"/>
            </a:endParaRPr>
          </a:p>
          <a:p>
            <a:endParaRPr lang="en-US" altLang="zh-CN" dirty="0">
              <a:ea typeface="宋体" panose="02010600030101010101" pitchFamily="2" charset="-122"/>
            </a:endParaRPr>
          </a:p>
          <a:p>
            <a:endParaRPr lang="en-US" dirty="0"/>
          </a:p>
          <a:p>
            <a:endParaRPr lang="en-US" dirty="0"/>
          </a:p>
        </p:txBody>
      </p:sp>
    </p:spTree>
    <p:extLst>
      <p:ext uri="{BB962C8B-B14F-4D97-AF65-F5344CB8AC3E}">
        <p14:creationId xmlns:p14="http://schemas.microsoft.com/office/powerpoint/2010/main" val="36276787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549"/>
            <a:ext cx="10515600" cy="920751"/>
          </a:xfrm>
        </p:spPr>
        <p:txBody>
          <a:bodyPr/>
          <a:lstStyle/>
          <a:p>
            <a:r>
              <a:rPr lang="en-US" dirty="0"/>
              <a:t>Submission</a:t>
            </a:r>
          </a:p>
        </p:txBody>
      </p:sp>
      <p:sp>
        <p:nvSpPr>
          <p:cNvPr id="3" name="Content Placeholder 2"/>
          <p:cNvSpPr>
            <a:spLocks noGrp="1"/>
          </p:cNvSpPr>
          <p:nvPr>
            <p:ph idx="1"/>
          </p:nvPr>
        </p:nvSpPr>
        <p:spPr>
          <a:xfrm>
            <a:off x="838200" y="1400175"/>
            <a:ext cx="10515600" cy="4776788"/>
          </a:xfrm>
        </p:spPr>
        <p:txBody>
          <a:bodyPr>
            <a:normAutofit lnSpcReduction="10000"/>
          </a:bodyPr>
          <a:lstStyle/>
          <a:p>
            <a:pPr>
              <a:lnSpc>
                <a:spcPct val="120000"/>
              </a:lnSpc>
              <a:spcBef>
                <a:spcPct val="0"/>
              </a:spcBef>
            </a:pPr>
            <a:r>
              <a:rPr lang="en-US" altLang="zh-CN" sz="3200" dirty="0">
                <a:ea typeface="宋体" panose="02010600030101010101" pitchFamily="2" charset="-122"/>
              </a:rPr>
              <a:t>Each group submits the partial SRS (</a:t>
            </a:r>
            <a:r>
              <a:rPr lang="en-US" altLang="zh-CN" sz="3200" dirty="0">
                <a:solidFill>
                  <a:srgbClr val="FF0000"/>
                </a:solidFill>
                <a:ea typeface="宋体" panose="02010600030101010101" pitchFamily="2" charset="-122"/>
              </a:rPr>
              <a:t>two documents,</a:t>
            </a:r>
            <a:r>
              <a:rPr lang="en-US" altLang="zh-CN" sz="3200" dirty="0">
                <a:solidFill>
                  <a:srgbClr val="C00000"/>
                </a:solidFill>
                <a:ea typeface="宋体" panose="02010600030101010101" pitchFamily="2" charset="-122"/>
              </a:rPr>
              <a:t> </a:t>
            </a:r>
            <a:r>
              <a:rPr lang="en-US" altLang="zh-CN" sz="3200" dirty="0">
                <a:solidFill>
                  <a:srgbClr val="FF0000"/>
                </a:solidFill>
                <a:ea typeface="宋体" panose="02010600030101010101" pitchFamily="2" charset="-122"/>
              </a:rPr>
              <a:t>ONE</a:t>
            </a:r>
            <a:r>
              <a:rPr lang="en-US" altLang="zh-CN" sz="3200" dirty="0">
                <a:ea typeface="宋体" panose="02010600030101010101" pitchFamily="2" charset="-122"/>
              </a:rPr>
              <a:t> </a:t>
            </a:r>
            <a:r>
              <a:rPr lang="en-US" altLang="zh-CN" sz="3200" dirty="0">
                <a:solidFill>
                  <a:srgbClr val="FF0000"/>
                </a:solidFill>
                <a:ea typeface="宋体" panose="02010600030101010101" pitchFamily="2" charset="-122"/>
              </a:rPr>
              <a:t>copy</a:t>
            </a:r>
            <a:r>
              <a:rPr lang="en-US" altLang="zh-CN" sz="3200" dirty="0">
                <a:ea typeface="宋体" panose="02010600030101010101" pitchFamily="2" charset="-122"/>
              </a:rPr>
              <a:t>) to iSpace and </a:t>
            </a:r>
            <a:r>
              <a:rPr lang="en-US" altLang="zh-CN" sz="3200" dirty="0" err="1">
                <a:ea typeface="宋体" panose="02010600030101010101" pitchFamily="2" charset="-122"/>
              </a:rPr>
              <a:t>GitLab</a:t>
            </a:r>
            <a:endParaRPr lang="en-US" altLang="zh-CN" sz="3200" dirty="0">
              <a:ea typeface="宋体" panose="02010600030101010101" pitchFamily="2" charset="-122"/>
            </a:endParaRPr>
          </a:p>
          <a:p>
            <a:pPr lvl="1">
              <a:lnSpc>
                <a:spcPct val="120000"/>
              </a:lnSpc>
              <a:spcBef>
                <a:spcPct val="0"/>
              </a:spcBef>
            </a:pPr>
            <a:r>
              <a:rPr lang="en-US" sz="2800" dirty="0"/>
              <a:t>Deadline*: </a:t>
            </a:r>
            <a:r>
              <a:rPr lang="en-US" sz="2800" dirty="0">
                <a:solidFill>
                  <a:srgbClr val="FF0000"/>
                </a:solidFill>
              </a:rPr>
              <a:t>23:55 pm, Fri 20 March 2026.</a:t>
            </a:r>
            <a:endParaRPr lang="en-US" sz="2800" dirty="0"/>
          </a:p>
          <a:p>
            <a:pPr lvl="1"/>
            <a:r>
              <a:rPr lang="en-US" sz="2800" dirty="0"/>
              <a:t>On the cover page next to the student’s name, please indicate the contribution of each student: “FULL”, “FAIR”, “LITTLE” or “NONE”.</a:t>
            </a:r>
          </a:p>
          <a:p>
            <a:pPr marL="0" indent="0">
              <a:buNone/>
            </a:pPr>
            <a:endParaRPr lang="en-US" dirty="0">
              <a:solidFill>
                <a:srgbClr val="FF0000"/>
              </a:solidFill>
            </a:endParaRPr>
          </a:p>
          <a:p>
            <a:endParaRPr lang="en-US" dirty="0">
              <a:solidFill>
                <a:srgbClr val="FF0000"/>
              </a:solidFill>
            </a:endParaRPr>
          </a:p>
          <a:p>
            <a:pPr marL="0" indent="0">
              <a:buNone/>
            </a:pPr>
            <a:endParaRPr lang="en-US" dirty="0">
              <a:solidFill>
                <a:srgbClr val="FF0000"/>
              </a:solidFill>
            </a:endParaRPr>
          </a:p>
          <a:p>
            <a:pPr marL="0" indent="0">
              <a:buNone/>
            </a:pPr>
            <a:r>
              <a:rPr lang="en-US" sz="2000" dirty="0"/>
              <a:t>* There is a few minutes of grace period after the DDL in case any network or unusual problems occur.  But do respect the DDL because the length of the grace period is not guaranteed.</a:t>
            </a:r>
            <a:endParaRPr lang="en-US" sz="2000" dirty="0">
              <a:solidFill>
                <a:srgbClr val="FF0000"/>
              </a:solidFill>
            </a:endParaRPr>
          </a:p>
        </p:txBody>
      </p:sp>
    </p:spTree>
    <p:extLst>
      <p:ext uri="{BB962C8B-B14F-4D97-AF65-F5344CB8AC3E}">
        <p14:creationId xmlns:p14="http://schemas.microsoft.com/office/powerpoint/2010/main" val="12410718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3117</TotalTime>
  <Words>2697</Words>
  <Application>Microsoft Office PowerPoint</Application>
  <PresentationFormat>Widescreen</PresentationFormat>
  <Paragraphs>272</Paragraphs>
  <Slides>24</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24</vt:i4>
      </vt:variant>
    </vt:vector>
  </HeadingPairs>
  <TitlesOfParts>
    <vt:vector size="33" baseType="lpstr">
      <vt:lpstr>等线</vt:lpstr>
      <vt:lpstr>宋体</vt:lpstr>
      <vt:lpstr>宋体</vt:lpstr>
      <vt:lpstr>Arial</vt:lpstr>
      <vt:lpstr>Calibri</vt:lpstr>
      <vt:lpstr>Calibri Light</vt:lpstr>
      <vt:lpstr>Wingdings</vt:lpstr>
      <vt:lpstr>Office Theme</vt:lpstr>
      <vt:lpstr>1_Office Theme</vt:lpstr>
      <vt:lpstr>Lab 4 Tasks</vt:lpstr>
      <vt:lpstr>Main Tasks</vt:lpstr>
      <vt:lpstr>Feedback on Context Model</vt:lpstr>
      <vt:lpstr>Feedback on Use Case Diagram</vt:lpstr>
      <vt:lpstr>Feedback on Use Case Diagram</vt:lpstr>
      <vt:lpstr>Feedback on Use Case Diagram</vt:lpstr>
      <vt:lpstr>Feedback on Use Case Diagram</vt:lpstr>
      <vt:lpstr>Feedback on Use Case Diagram</vt:lpstr>
      <vt:lpstr>Feedback</vt:lpstr>
      <vt:lpstr>Feedback</vt:lpstr>
      <vt:lpstr>Context model</vt:lpstr>
      <vt:lpstr>PowerPoint Presentation</vt:lpstr>
      <vt:lpstr>PowerPoint Presentation</vt:lpstr>
      <vt:lpstr>Task2: Explain SRS Template</vt:lpstr>
      <vt:lpstr>Task 3A: Update SRS partial documents </vt:lpstr>
      <vt:lpstr>Task 3B and 3C: Students tasks</vt:lpstr>
      <vt:lpstr>Task 3B: State Diagrams and User Interfaces</vt:lpstr>
      <vt:lpstr>Task 3B: State Diagrams and User Interfaces</vt:lpstr>
      <vt:lpstr>Task 3B: State Diagrams and User Interfaces</vt:lpstr>
      <vt:lpstr>Task 3B: State Diagrams and User Interfaces</vt:lpstr>
      <vt:lpstr>Task 3B: State Diagrams and User Interfaces</vt:lpstr>
      <vt:lpstr>Example from Lecture 4 class exercise</vt:lpstr>
      <vt:lpstr>Task 3C: Basic Scenario</vt:lpstr>
      <vt:lpstr>Submission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3 Week 3</dc:title>
  <dc:creator>TEST</dc:creator>
  <cp:lastModifiedBy>j f</cp:lastModifiedBy>
  <cp:revision>311</cp:revision>
  <cp:lastPrinted>2022-03-18T03:13:27Z</cp:lastPrinted>
  <dcterms:created xsi:type="dcterms:W3CDTF">2022-03-01T07:50:56Z</dcterms:created>
  <dcterms:modified xsi:type="dcterms:W3CDTF">2026-03-18T15:01:28Z</dcterms:modified>
</cp:coreProperties>
</file>